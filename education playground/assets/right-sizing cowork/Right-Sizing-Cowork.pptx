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Goad" userId="c9c4c5eb-d39b-4e69-8784-18fa509a0560" providerId="ADAL" clId="{7EFFF368-2977-5218-BC82-9056FA6F1076}"/>
    <pc:docChg chg="modSld">
      <pc:chgData name="Michael Goad" userId="c9c4c5eb-d39b-4e69-8784-18fa509a0560" providerId="ADAL" clId="{7EFFF368-2977-5218-BC82-9056FA6F1076}" dt="2026-06-25T15:48:50.537" v="2" actId="20577"/>
      <pc:docMkLst>
        <pc:docMk/>
      </pc:docMkLst>
      <pc:sldChg chg="modSp mod">
        <pc:chgData name="Michael Goad" userId="c9c4c5eb-d39b-4e69-8784-18fa509a0560" providerId="ADAL" clId="{7EFFF368-2977-5218-BC82-9056FA6F1076}" dt="2026-06-25T15:48:50.537" v="2" actId="20577"/>
        <pc:sldMkLst>
          <pc:docMk/>
          <pc:sldMk cId="0" sldId="263"/>
        </pc:sldMkLst>
        <pc:spChg chg="mod">
          <ac:chgData name="Michael Goad" userId="c9c4c5eb-d39b-4e69-8784-18fa509a0560" providerId="ADAL" clId="{7EFFF368-2977-5218-BC82-9056FA6F1076}" dt="2026-06-25T15:48:50.537" v="2" actId="20577"/>
          <ac:spMkLst>
            <pc:docMk/>
            <pc:sldMk cId="0" sldId="263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4632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PERSPECTIVE  ·  NOT A SALES PITCH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Right-Sizing Microsoft Cowork</a:t>
            </a:r>
            <a:endParaRPr lang="en-US" sz="500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900">
                <a:solidFill>
                  <a:srgbClr val="3FA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scope agentic Copilot to the users who actually benefit, and stop sizing it by headcount.</a:t>
            </a:r>
            <a:endParaRPr lang="en-US" sz="1900"/>
          </a:p>
        </p:txBody>
      </p:sp>
      <p:sp>
        <p:nvSpPr>
          <p:cNvPr id="6" name="Shape 4"/>
          <p:cNvSpPr/>
          <p:nvPr/>
        </p:nvSpPr>
        <p:spPr>
          <a:xfrm>
            <a:off x="868680" y="5120640"/>
            <a:ext cx="310896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5257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9F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framework for deciding who gets Cowork vs. Copilot Premium</a:t>
            </a:r>
            <a:endParaRPr lang="en-US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B2E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question is built on the wrong math</a:t>
            </a:r>
            <a:endParaRPr lang="en-US" sz="300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502920"/>
            <a:ext cx="777240" cy="777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828800"/>
            <a:ext cx="53492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109728" cy="4206240"/>
          </a:xfrm>
          <a:prstGeom prst="rect">
            <a:avLst/>
          </a:prstGeom>
          <a:solidFill>
            <a:srgbClr val="5567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68680" y="2057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55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WRONG MATH</a:t>
            </a:r>
            <a:endParaRPr lang="en-US" sz="1300"/>
          </a:p>
        </p:txBody>
      </p:sp>
      <p:sp>
        <p:nvSpPr>
          <p:cNvPr id="8" name="Text 5"/>
          <p:cNvSpPr/>
          <p:nvPr/>
        </p:nvSpPr>
        <p:spPr>
          <a:xfrm>
            <a:off x="868680" y="23774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>
                <a:solidFill>
                  <a:srgbClr val="5567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5,000</a:t>
            </a:r>
            <a:endParaRPr lang="en-US" sz="6600"/>
          </a:p>
        </p:txBody>
      </p:sp>
      <p:sp>
        <p:nvSpPr>
          <p:cNvPr id="9" name="Text 6"/>
          <p:cNvSpPr/>
          <p:nvPr/>
        </p:nvSpPr>
        <p:spPr>
          <a:xfrm>
            <a:off x="868680" y="3337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55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  ×  a scary per-user number</a:t>
            </a:r>
            <a:endParaRPr lang="en-US" sz="1600"/>
          </a:p>
        </p:txBody>
      </p:sp>
      <p:sp>
        <p:nvSpPr>
          <p:cNvPr id="10" name="Text 7"/>
          <p:cNvSpPr/>
          <p:nvPr/>
        </p:nvSpPr>
        <p:spPr>
          <a:xfrm>
            <a:off x="868680" y="39319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everyone uses it the same way.</a:t>
            </a:r>
            <a:endParaRPr lang="en-US" sz="145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Cowork like a license to spray across the org.</a:t>
            </a:r>
            <a:endParaRPr lang="en-US" sz="145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an unbounded, anxiety-driven number.</a:t>
            </a:r>
            <a:endParaRPr lang="en-US" sz="1450"/>
          </a:p>
        </p:txBody>
      </p:sp>
      <p:sp>
        <p:nvSpPr>
          <p:cNvPr id="11" name="Shape 8"/>
          <p:cNvSpPr/>
          <p:nvPr/>
        </p:nvSpPr>
        <p:spPr>
          <a:xfrm>
            <a:off x="6263640" y="1828800"/>
            <a:ext cx="53492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263640" y="1828800"/>
            <a:ext cx="109728" cy="420624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583680" y="2057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MATH</a:t>
            </a:r>
            <a:endParaRPr lang="en-US" sz="1300"/>
          </a:p>
        </p:txBody>
      </p:sp>
      <p:sp>
        <p:nvSpPr>
          <p:cNvPr id="14" name="Text 11"/>
          <p:cNvSpPr/>
          <p:nvPr/>
        </p:nvSpPr>
        <p:spPr>
          <a:xfrm>
            <a:off x="6583680" y="23774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~5-15%</a:t>
            </a:r>
            <a:endParaRPr lang="en-US" sz="6600"/>
          </a:p>
        </p:txBody>
      </p:sp>
      <p:sp>
        <p:nvSpPr>
          <p:cNvPr id="15" name="Text 12"/>
          <p:cNvSpPr/>
          <p:nvPr/>
        </p:nvSpPr>
        <p:spPr>
          <a:xfrm>
            <a:off x="6583680" y="3337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users whose work is genuinely project-shaped</a:t>
            </a:r>
            <a:endParaRPr lang="en-US" sz="1600"/>
          </a:p>
        </p:txBody>
      </p:sp>
      <p:sp>
        <p:nvSpPr>
          <p:cNvPr id="16" name="Text 13"/>
          <p:cNvSpPr/>
          <p:nvPr/>
        </p:nvSpPr>
        <p:spPr>
          <a:xfrm>
            <a:off x="6583680" y="39319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by work shape, not by headcount.</a:t>
            </a:r>
            <a:endParaRPr lang="en-US" sz="145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rest Copilot Premium, which already covers them.</a:t>
            </a:r>
            <a:endParaRPr lang="en-US" sz="145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the spend is bounded and defensible.</a:t>
            </a:r>
            <a:endParaRPr lang="en-US" sz="145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5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Right-Sizing Cowork  ·  Field perspective</a:t>
            </a:r>
            <a:endParaRPr lang="en-US" sz="900"/>
          </a:p>
        </p:txBody>
      </p:sp>
      <p:sp>
        <p:nvSpPr>
          <p:cNvPr id="18" name="Text 1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5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TEST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B2E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question separates Premium from Cowork</a:t>
            </a:r>
            <a:endParaRPr lang="en-US" sz="300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502920"/>
            <a:ext cx="777240" cy="777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83080"/>
            <a:ext cx="11064240" cy="1234440"/>
          </a:xfrm>
          <a:prstGeom prst="rect">
            <a:avLst/>
          </a:prstGeom>
          <a:solidFill>
            <a:srgbClr val="0B2E39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14400" y="1783080"/>
            <a:ext cx="10332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10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this person repeatedly do work that is </a:t>
            </a:r>
            <a:r>
              <a:rPr lang="en-US" sz="2100" b="1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multi-step, spans multiple sources, and ends in a structured deliverable</a:t>
            </a:r>
            <a:r>
              <a:rPr lang="en-US" sz="210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they currently assemble by hand?</a:t>
            </a:r>
            <a:endParaRPr lang="en-US" sz="2100"/>
          </a:p>
        </p:txBody>
      </p:sp>
      <p:sp>
        <p:nvSpPr>
          <p:cNvPr id="7" name="Shape 4"/>
          <p:cNvSpPr/>
          <p:nvPr/>
        </p:nvSpPr>
        <p:spPr>
          <a:xfrm>
            <a:off x="548640" y="3337560"/>
            <a:ext cx="534924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3337560"/>
            <a:ext cx="5349240" cy="640080"/>
          </a:xfrm>
          <a:prstGeom prst="rect">
            <a:avLst/>
          </a:prstGeom>
          <a:solidFill>
            <a:srgbClr val="5567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" y="33375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 →  COPILOT PREMIUM</a:t>
            </a:r>
            <a:endParaRPr lang="en-US" sz="1600"/>
          </a:p>
        </p:txBody>
      </p:sp>
      <p:sp>
        <p:nvSpPr>
          <p:cNvPr id="10" name="Text 7"/>
          <p:cNvSpPr/>
          <p:nvPr/>
        </p:nvSpPr>
        <p:spPr>
          <a:xfrm>
            <a:off x="868680" y="4160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In-the-moment assistance:</a:t>
            </a:r>
            <a:endParaRPr lang="en-US" sz="1400"/>
          </a:p>
        </p:txBody>
      </p:sp>
      <p:sp>
        <p:nvSpPr>
          <p:cNvPr id="11" name="Text 8"/>
          <p:cNvSpPr/>
          <p:nvPr/>
        </p:nvSpPr>
        <p:spPr>
          <a:xfrm>
            <a:off x="868680" y="452628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this thread</a:t>
            </a:r>
            <a:endParaRPr lang="en-US" sz="1400"/>
          </a:p>
          <a:p>
            <a:pPr marL="342900" indent="-3429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this reply</a:t>
            </a:r>
            <a:endParaRPr lang="en-US" sz="1400"/>
          </a:p>
          <a:p>
            <a:pPr marL="342900" indent="-3429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me up before the meeting</a:t>
            </a:r>
            <a:endParaRPr lang="en-US" sz="1400"/>
          </a:p>
          <a:p>
            <a:pPr marL="342900" indent="-3429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up this doc</a:t>
            </a:r>
            <a:endParaRPr lang="en-US" sz="1400"/>
          </a:p>
        </p:txBody>
      </p:sp>
      <p:sp>
        <p:nvSpPr>
          <p:cNvPr id="12" name="Text 9"/>
          <p:cNvSpPr/>
          <p:nvPr/>
        </p:nvSpPr>
        <p:spPr>
          <a:xfrm>
            <a:off x="868680" y="5715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55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already covers them. Cowork would mostly idle.</a:t>
            </a:r>
            <a:endParaRPr lang="en-US" sz="1250"/>
          </a:p>
        </p:txBody>
      </p:sp>
      <p:sp>
        <p:nvSpPr>
          <p:cNvPr id="13" name="Shape 10"/>
          <p:cNvSpPr/>
          <p:nvPr/>
        </p:nvSpPr>
        <p:spPr>
          <a:xfrm>
            <a:off x="6263640" y="3337560"/>
            <a:ext cx="534924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263640" y="3337560"/>
            <a:ext cx="5349240" cy="64008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92240" y="33375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 →  COWORK</a:t>
            </a:r>
            <a:endParaRPr lang="en-US" sz="1600"/>
          </a:p>
        </p:txBody>
      </p:sp>
      <p:sp>
        <p:nvSpPr>
          <p:cNvPr id="16" name="Text 13"/>
          <p:cNvSpPr/>
          <p:nvPr/>
        </p:nvSpPr>
        <p:spPr>
          <a:xfrm>
            <a:off x="6583680" y="4160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Project-shaped work:</a:t>
            </a:r>
            <a:endParaRPr lang="en-US" sz="1400"/>
          </a:p>
        </p:txBody>
      </p:sp>
      <p:sp>
        <p:nvSpPr>
          <p:cNvPr id="17" name="Text 14"/>
          <p:cNvSpPr/>
          <p:nvPr/>
        </p:nvSpPr>
        <p:spPr>
          <a:xfrm>
            <a:off x="6583680" y="452628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 off something that pulls from five places</a:t>
            </a:r>
            <a:endParaRPr lang="en-US" sz="1400"/>
          </a:p>
          <a:p>
            <a:pPr marL="342900" indent="-3429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report, deck, model, or package</a:t>
            </a:r>
            <a:endParaRPr lang="en-US" sz="1400"/>
          </a:p>
          <a:p>
            <a:pPr marL="342900" indent="-3429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longer and does its own stitching</a:t>
            </a:r>
            <a:endParaRPr lang="en-US" sz="1400"/>
          </a:p>
          <a:p>
            <a:pPr marL="342900" indent="-3429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hours of manual assembly</a:t>
            </a:r>
            <a:endParaRPr lang="en-US" sz="1400"/>
          </a:p>
        </p:txBody>
      </p:sp>
      <p:sp>
        <p:nvSpPr>
          <p:cNvPr id="18" name="Text 15"/>
          <p:cNvSpPr/>
          <p:nvPr/>
        </p:nvSpPr>
        <p:spPr>
          <a:xfrm>
            <a:off x="6583680" y="5715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off because it replaces expensive human hours.</a:t>
            </a:r>
            <a:endParaRPr lang="en-US" sz="1250"/>
          </a:p>
        </p:txBody>
      </p:sp>
      <p:sp>
        <p:nvSpPr>
          <p:cNvPr id="19" name="Text 1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5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Right-Sizing Cowork  ·  Field perspective</a:t>
            </a:r>
            <a:endParaRPr lang="en-US" sz="900"/>
          </a:p>
        </p:txBody>
      </p:sp>
      <p:sp>
        <p:nvSpPr>
          <p:cNvPr id="20" name="Text 1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5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B2E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tiers, and the top one stays small</a:t>
            </a:r>
            <a:endParaRPr lang="en-US" sz="300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502920"/>
            <a:ext cx="777240" cy="777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828800"/>
            <a:ext cx="4572000" cy="1188720"/>
          </a:xfrm>
          <a:prstGeom prst="rect">
            <a:avLst/>
          </a:prstGeom>
          <a:solidFill>
            <a:srgbClr val="0E7C86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199339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BUILDERS</a:t>
            </a:r>
            <a:endParaRPr lang="en-US" sz="2200"/>
          </a:p>
        </p:txBody>
      </p:sp>
      <p:sp>
        <p:nvSpPr>
          <p:cNvPr id="7" name="Text 4"/>
          <p:cNvSpPr/>
          <p:nvPr/>
        </p:nvSpPr>
        <p:spPr>
          <a:xfrm>
            <a:off x="822960" y="248716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Project-shaped, multi-source, deliverable-producing work.</a:t>
            </a:r>
            <a:endParaRPr lang="en-US" sz="1300"/>
          </a:p>
        </p:txBody>
      </p:sp>
      <p:sp>
        <p:nvSpPr>
          <p:cNvPr id="8" name="Text 5"/>
          <p:cNvSpPr/>
          <p:nvPr/>
        </p:nvSpPr>
        <p:spPr>
          <a:xfrm>
            <a:off x="5303520" y="2240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>
                <a:solidFill>
                  <a:srgbClr val="55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tier</a:t>
            </a:r>
            <a:endParaRPr lang="en-US" sz="1400"/>
          </a:p>
        </p:txBody>
      </p:sp>
      <p:sp>
        <p:nvSpPr>
          <p:cNvPr id="9" name="Shape 6"/>
          <p:cNvSpPr/>
          <p:nvPr/>
        </p:nvSpPr>
        <p:spPr>
          <a:xfrm>
            <a:off x="548640" y="3200400"/>
            <a:ext cx="7772400" cy="1188720"/>
          </a:xfrm>
          <a:prstGeom prst="rect">
            <a:avLst/>
          </a:prstGeom>
          <a:solidFill>
            <a:srgbClr val="3FA7AE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22960" y="3364992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ASSISTED</a:t>
            </a:r>
            <a:endParaRPr lang="en-US" sz="2200"/>
          </a:p>
        </p:txBody>
      </p:sp>
      <p:sp>
        <p:nvSpPr>
          <p:cNvPr id="11" name="Text 8"/>
          <p:cNvSpPr/>
          <p:nvPr/>
        </p:nvSpPr>
        <p:spPr>
          <a:xfrm>
            <a:off x="822960" y="385876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In-the-flow help: drafting, summarizing, catching up.</a:t>
            </a:r>
            <a:endParaRPr lang="en-US" sz="1300"/>
          </a:p>
        </p:txBody>
      </p:sp>
      <p:sp>
        <p:nvSpPr>
          <p:cNvPr id="12" name="Text 9"/>
          <p:cNvSpPr/>
          <p:nvPr/>
        </p:nvSpPr>
        <p:spPr>
          <a:xfrm>
            <a:off x="8503920" y="3611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>
                <a:solidFill>
                  <a:srgbClr val="55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broad middle</a:t>
            </a:r>
            <a:endParaRPr lang="en-US" sz="1400"/>
          </a:p>
        </p:txBody>
      </p:sp>
      <p:sp>
        <p:nvSpPr>
          <p:cNvPr id="13" name="Shape 10"/>
          <p:cNvSpPr/>
          <p:nvPr/>
        </p:nvSpPr>
        <p:spPr>
          <a:xfrm>
            <a:off x="548640" y="4572000"/>
            <a:ext cx="11064240" cy="1188720"/>
          </a:xfrm>
          <a:prstGeom prst="rect">
            <a:avLst/>
          </a:prstGeom>
          <a:solidFill>
            <a:srgbClr val="0B2E39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22960" y="473659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CONSUMERS</a:t>
            </a:r>
            <a:endParaRPr lang="en-US" sz="2200"/>
          </a:p>
        </p:txBody>
      </p:sp>
      <p:sp>
        <p:nvSpPr>
          <p:cNvPr id="15" name="Text 12"/>
          <p:cNvSpPr/>
          <p:nvPr/>
        </p:nvSpPr>
        <p:spPr>
          <a:xfrm>
            <a:off x="822960" y="523036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Frontline and task workers with light, occasional needs.</a:t>
            </a:r>
            <a:endParaRPr lang="en-US" sz="1300"/>
          </a:p>
        </p:txBody>
      </p:sp>
      <p:sp>
        <p:nvSpPr>
          <p:cNvPr id="16" name="Text 13"/>
          <p:cNvSpPr/>
          <p:nvPr/>
        </p:nvSpPr>
        <p:spPr>
          <a:xfrm>
            <a:off x="8138160" y="47365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i="1">
                <a:solidFill>
                  <a:srgbClr val="CFE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else</a:t>
            </a:r>
            <a:endParaRPr lang="en-US" sz="1400"/>
          </a:p>
        </p:txBody>
      </p:sp>
      <p:sp>
        <p:nvSpPr>
          <p:cNvPr id="17" name="Text 14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 from the top down. The Builders tier should feel uncomfortably small at first. That is correct.</a:t>
            </a:r>
            <a:endParaRPr lang="en-US" sz="1350"/>
          </a:p>
        </p:txBody>
      </p:sp>
      <p:sp>
        <p:nvSpPr>
          <p:cNvPr id="18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5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Right-Sizing Cowork  ·  Field perspective</a:t>
            </a:r>
            <a:endParaRPr lang="en-US" sz="900"/>
          </a:p>
        </p:txBody>
      </p:sp>
      <p:sp>
        <p:nvSpPr>
          <p:cNvPr id="19" name="Text 1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5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PERSONAS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B2E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These are work patterns, not job titles</a:t>
            </a:r>
            <a:endParaRPr lang="en-US" sz="300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502920"/>
            <a:ext cx="777240" cy="777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83080"/>
            <a:ext cx="3593592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3593592" cy="82296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2039112"/>
            <a:ext cx="3136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b="1">
                <a:solidFill>
                  <a:srgbClr val="0B2E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Analysts &amp; researchers</a:t>
            </a:r>
            <a:endParaRPr lang="en-US" sz="1700"/>
          </a:p>
        </p:txBody>
      </p:sp>
      <p:sp>
        <p:nvSpPr>
          <p:cNvPr id="8" name="Text 5"/>
          <p:cNvSpPr/>
          <p:nvPr/>
        </p:nvSpPr>
        <p:spPr>
          <a:xfrm>
            <a:off x="777240" y="2743200"/>
            <a:ext cx="3136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Clinical, financial, market. Synthesize many sources into one report on a cycle.</a:t>
            </a:r>
            <a:endParaRPr lang="en-US" sz="1250"/>
          </a:p>
        </p:txBody>
      </p:sp>
      <p:sp>
        <p:nvSpPr>
          <p:cNvPr id="9" name="Shape 6"/>
          <p:cNvSpPr/>
          <p:nvPr/>
        </p:nvSpPr>
        <p:spPr>
          <a:xfrm>
            <a:off x="4288536" y="1783080"/>
            <a:ext cx="3593592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288536" y="1783080"/>
            <a:ext cx="3593592" cy="82296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17136" y="2039112"/>
            <a:ext cx="3136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b="1">
                <a:solidFill>
                  <a:srgbClr val="0B2E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FP&amp;A &amp; finance</a:t>
            </a:r>
            <a:endParaRPr lang="en-US" sz="1700"/>
          </a:p>
        </p:txBody>
      </p:sp>
      <p:sp>
        <p:nvSpPr>
          <p:cNvPr id="12" name="Text 9"/>
          <p:cNvSpPr/>
          <p:nvPr/>
        </p:nvSpPr>
        <p:spPr>
          <a:xfrm>
            <a:off x="4517136" y="2743200"/>
            <a:ext cx="3136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reporting, reconciliation, and variance narratives every month.</a:t>
            </a:r>
            <a:endParaRPr lang="en-US" sz="1250"/>
          </a:p>
        </p:txBody>
      </p:sp>
      <p:sp>
        <p:nvSpPr>
          <p:cNvPr id="13" name="Shape 10"/>
          <p:cNvSpPr/>
          <p:nvPr/>
        </p:nvSpPr>
        <p:spPr>
          <a:xfrm>
            <a:off x="8028432" y="1783080"/>
            <a:ext cx="3593592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028432" y="1783080"/>
            <a:ext cx="3593592" cy="82296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257032" y="2039112"/>
            <a:ext cx="3136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b="1">
                <a:solidFill>
                  <a:srgbClr val="0B2E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 &amp; ops managers</a:t>
            </a:r>
            <a:endParaRPr lang="en-US" sz="1700"/>
          </a:p>
        </p:txBody>
      </p:sp>
      <p:sp>
        <p:nvSpPr>
          <p:cNvPr id="16" name="Text 13"/>
          <p:cNvSpPr/>
          <p:nvPr/>
        </p:nvSpPr>
        <p:spPr>
          <a:xfrm>
            <a:off x="8257032" y="2743200"/>
            <a:ext cx="3136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across systems; produce maintained status and tracking docs.</a:t>
            </a:r>
            <a:endParaRPr lang="en-US" sz="1250"/>
          </a:p>
        </p:txBody>
      </p:sp>
      <p:sp>
        <p:nvSpPr>
          <p:cNvPr id="17" name="Shape 14"/>
          <p:cNvSpPr/>
          <p:nvPr/>
        </p:nvSpPr>
        <p:spPr>
          <a:xfrm>
            <a:off x="548640" y="3959352"/>
            <a:ext cx="3593592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48640" y="3959352"/>
            <a:ext cx="3593592" cy="82296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77240" y="4215384"/>
            <a:ext cx="3136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b="1">
                <a:solidFill>
                  <a:srgbClr val="0B2E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Consultants &amp; pre-sales</a:t>
            </a:r>
            <a:endParaRPr lang="en-US" sz="1700"/>
          </a:p>
        </p:txBody>
      </p:sp>
      <p:sp>
        <p:nvSpPr>
          <p:cNvPr id="20" name="Text 17"/>
          <p:cNvSpPr/>
          <p:nvPr/>
        </p:nvSpPr>
        <p:spPr>
          <a:xfrm>
            <a:off x="777240" y="4919472"/>
            <a:ext cx="3136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proposals, briefs, and decks from scattered inputs.</a:t>
            </a:r>
            <a:endParaRPr lang="en-US" sz="1250"/>
          </a:p>
        </p:txBody>
      </p:sp>
      <p:sp>
        <p:nvSpPr>
          <p:cNvPr id="21" name="Shape 18"/>
          <p:cNvSpPr/>
          <p:nvPr/>
        </p:nvSpPr>
        <p:spPr>
          <a:xfrm>
            <a:off x="4288536" y="3959352"/>
            <a:ext cx="3593592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288536" y="3959352"/>
            <a:ext cx="3593592" cy="82296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517136" y="4215384"/>
            <a:ext cx="3136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b="1">
                <a:solidFill>
                  <a:srgbClr val="0B2E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Legal &amp; compliance</a:t>
            </a:r>
            <a:endParaRPr lang="en-US" sz="1700"/>
          </a:p>
        </p:txBody>
      </p:sp>
      <p:sp>
        <p:nvSpPr>
          <p:cNvPr id="24" name="Text 21"/>
          <p:cNvSpPr/>
          <p:nvPr/>
        </p:nvSpPr>
        <p:spPr>
          <a:xfrm>
            <a:off x="4517136" y="4919472"/>
            <a:ext cx="3136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Multi-document review and summarization at real volume.</a:t>
            </a:r>
            <a:endParaRPr lang="en-US" sz="1250"/>
          </a:p>
        </p:txBody>
      </p:sp>
      <p:sp>
        <p:nvSpPr>
          <p:cNvPr id="25" name="Shape 22"/>
          <p:cNvSpPr/>
          <p:nvPr/>
        </p:nvSpPr>
        <p:spPr>
          <a:xfrm>
            <a:off x="8028432" y="3959352"/>
            <a:ext cx="3593592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8028432" y="3959352"/>
            <a:ext cx="3593592" cy="82296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257032" y="4215384"/>
            <a:ext cx="3136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b="1">
                <a:solidFill>
                  <a:srgbClr val="0B2E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Chiefs of staff / exec support</a:t>
            </a:r>
            <a:endParaRPr lang="en-US" sz="1700"/>
          </a:p>
        </p:txBody>
      </p:sp>
      <p:sp>
        <p:nvSpPr>
          <p:cNvPr id="28" name="Text 25"/>
          <p:cNvSpPr/>
          <p:nvPr/>
        </p:nvSpPr>
        <p:spPr>
          <a:xfrm>
            <a:off x="8257032" y="4919472"/>
            <a:ext cx="3136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briefing and prep packages from many feeds.</a:t>
            </a:r>
            <a:endParaRPr lang="en-US" sz="1250"/>
          </a:p>
        </p:txBody>
      </p:sp>
      <p:sp>
        <p:nvSpPr>
          <p:cNvPr id="29" name="Text 26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i="1">
                <a:solidFill>
                  <a:srgbClr val="55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health system, the dense pockets are research &amp; analytics, revenue cycle / finance, compliance &amp; contracting, and the PMO. Not the clinicians and frontline staff.</a:t>
            </a:r>
            <a:endParaRPr lang="en-US" sz="1300"/>
          </a:p>
        </p:txBody>
      </p:sp>
      <p:sp>
        <p:nvSpPr>
          <p:cNvPr id="30" name="Text 2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5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Right-Sizing Cowork  ·  Field perspective</a:t>
            </a:r>
            <a:endParaRPr lang="en-US" sz="900"/>
          </a:p>
        </p:txBody>
      </p:sp>
      <p:sp>
        <p:nvSpPr>
          <p:cNvPr id="31" name="Text 28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5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OUT LOUD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B2E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does NOT need Cowork</a:t>
            </a:r>
            <a:endParaRPr lang="en-US" sz="300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502920"/>
            <a:ext cx="777240" cy="777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828800"/>
            <a:ext cx="11064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109728" cy="841248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1828800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B2E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Frontline &amp; task workers</a:t>
            </a:r>
            <a:endParaRPr lang="en-US" sz="1700"/>
          </a:p>
        </p:txBody>
      </p:sp>
      <p:sp>
        <p:nvSpPr>
          <p:cNvPr id="8" name="Text 5"/>
          <p:cNvSpPr/>
          <p:nvPr/>
        </p:nvSpPr>
        <p:spPr>
          <a:xfrm>
            <a:off x="5303520" y="1828800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day isn't project-shaped. No deliverable to assemble.</a:t>
            </a:r>
            <a:endParaRPr lang="en-US" sz="1400"/>
          </a:p>
        </p:txBody>
      </p:sp>
      <p:sp>
        <p:nvSpPr>
          <p:cNvPr id="9" name="Shape 6"/>
          <p:cNvSpPr/>
          <p:nvPr/>
        </p:nvSpPr>
        <p:spPr>
          <a:xfrm>
            <a:off x="548640" y="2798064"/>
            <a:ext cx="11064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48640" y="2798064"/>
            <a:ext cx="109728" cy="841248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14400" y="2798064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B2E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In-the-moment Copilot users</a:t>
            </a:r>
            <a:endParaRPr lang="en-US" sz="1700"/>
          </a:p>
        </p:txBody>
      </p:sp>
      <p:sp>
        <p:nvSpPr>
          <p:cNvPr id="12" name="Text 9"/>
          <p:cNvSpPr/>
          <p:nvPr/>
        </p:nvSpPr>
        <p:spPr>
          <a:xfrm>
            <a:off x="5303520" y="2798064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"Help me with this thing right now" is exactly what Premium does.</a:t>
            </a:r>
            <a:endParaRPr lang="en-US" sz="1400"/>
          </a:p>
        </p:txBody>
      </p:sp>
      <p:sp>
        <p:nvSpPr>
          <p:cNvPr id="13" name="Shape 10"/>
          <p:cNvSpPr/>
          <p:nvPr/>
        </p:nvSpPr>
        <p:spPr>
          <a:xfrm>
            <a:off x="548640" y="3767328"/>
            <a:ext cx="11064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48640" y="3767328"/>
            <a:ext cx="109728" cy="841248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14400" y="3767328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B2E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 email / meeting / doc users</a:t>
            </a:r>
            <a:endParaRPr lang="en-US" sz="1700"/>
          </a:p>
        </p:txBody>
      </p:sp>
      <p:sp>
        <p:nvSpPr>
          <p:cNvPr id="16" name="Text 13"/>
          <p:cNvSpPr/>
          <p:nvPr/>
        </p:nvSpPr>
        <p:spPr>
          <a:xfrm>
            <a:off x="5303520" y="3767328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Occasional needs don't justify an agentic seat.</a:t>
            </a:r>
            <a:endParaRPr lang="en-US" sz="1400"/>
          </a:p>
        </p:txBody>
      </p:sp>
      <p:sp>
        <p:nvSpPr>
          <p:cNvPr id="17" name="Shape 14"/>
          <p:cNvSpPr/>
          <p:nvPr/>
        </p:nvSpPr>
        <p:spPr>
          <a:xfrm>
            <a:off x="548640" y="4736592"/>
            <a:ext cx="11064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48640" y="4736592"/>
            <a:ext cx="109728" cy="841248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14400" y="4736592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B2E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 with a domain agent already</a:t>
            </a:r>
            <a:endParaRPr lang="en-US" sz="1700"/>
          </a:p>
        </p:txBody>
      </p:sp>
      <p:sp>
        <p:nvSpPr>
          <p:cNvPr id="20" name="Text 17"/>
          <p:cNvSpPr/>
          <p:nvPr/>
        </p:nvSpPr>
        <p:spPr>
          <a:xfrm>
            <a:off x="5303520" y="4736592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with coding agents, etc. Already covered elsewhere.</a:t>
            </a:r>
            <a:endParaRPr lang="en-US" sz="1400"/>
          </a:p>
        </p:txBody>
      </p:sp>
      <p:sp>
        <p:nvSpPr>
          <p:cNvPr id="21" name="Shape 18"/>
          <p:cNvSpPr/>
          <p:nvPr/>
        </p:nvSpPr>
        <p:spPr>
          <a:xfrm>
            <a:off x="548640" y="5724144"/>
            <a:ext cx="11064240" cy="566928"/>
          </a:xfrm>
          <a:prstGeom prst="rect">
            <a:avLst/>
          </a:prstGeom>
          <a:solidFill>
            <a:srgbClr val="0B2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22960" y="57241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Telling a customer who shouldn't get it is the most credible thing you can do. It's the opposite of a sales motion.</a:t>
            </a:r>
            <a:endParaRPr lang="en-US" sz="1350"/>
          </a:p>
        </p:txBody>
      </p:sp>
      <p:sp>
        <p:nvSpPr>
          <p:cNvPr id="23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5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Right-Sizing Cowork  ·  Field perspective</a:t>
            </a:r>
            <a:endParaRPr lang="en-US" sz="900"/>
          </a:p>
        </p:txBody>
      </p:sp>
      <p:sp>
        <p:nvSpPr>
          <p:cNvPr id="24" name="Text 2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5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B2E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an organization actually picks (not a vibe)</a:t>
            </a:r>
            <a:endParaRPr lang="en-US" sz="300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502920"/>
            <a:ext cx="777240" cy="777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83080"/>
            <a:ext cx="35935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77240" y="2011680"/>
            <a:ext cx="566928" cy="566928"/>
          </a:xfrm>
          <a:prstGeom prst="ellipse">
            <a:avLst/>
          </a:prstGeom>
          <a:solidFill>
            <a:srgbClr val="0B2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2039112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2679192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550" b="1">
                <a:solidFill>
                  <a:srgbClr val="0B2E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the population first</a:t>
            </a:r>
            <a:endParaRPr lang="en-US" sz="1550"/>
          </a:p>
        </p:txBody>
      </p:sp>
      <p:sp>
        <p:nvSpPr>
          <p:cNvPr id="10" name="Text 6"/>
          <p:cNvSpPr/>
          <p:nvPr/>
        </p:nvSpPr>
        <p:spPr>
          <a:xfrm>
            <a:off x="777240" y="310896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Consumers, Assisted, Builders. The Builders tier should feel small.</a:t>
            </a:r>
            <a:endParaRPr lang="en-US" sz="1200"/>
          </a:p>
        </p:txBody>
      </p:sp>
      <p:sp>
        <p:nvSpPr>
          <p:cNvPr id="11" name="Shape 7"/>
          <p:cNvSpPr/>
          <p:nvPr/>
        </p:nvSpPr>
        <p:spPr>
          <a:xfrm>
            <a:off x="4288536" y="1783080"/>
            <a:ext cx="35935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517136" y="2011680"/>
            <a:ext cx="566928" cy="566928"/>
          </a:xfrm>
          <a:prstGeom prst="ellipse">
            <a:avLst/>
          </a:prstGeom>
          <a:solidFill>
            <a:srgbClr val="0B2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517136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2039112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17136" y="2679192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550" b="1">
                <a:solidFill>
                  <a:srgbClr val="0B2E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signals, not nominations</a:t>
            </a:r>
            <a:endParaRPr lang="en-US" sz="1550"/>
          </a:p>
        </p:txBody>
      </p:sp>
      <p:sp>
        <p:nvSpPr>
          <p:cNvPr id="16" name="Text 11"/>
          <p:cNvSpPr/>
          <p:nvPr/>
        </p:nvSpPr>
        <p:spPr>
          <a:xfrm>
            <a:off x="4517136" y="310896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burns Premium heavily, runs long prompts, owns recurring deliverables.</a:t>
            </a:r>
            <a:endParaRPr lang="en-US" sz="1200"/>
          </a:p>
        </p:txBody>
      </p:sp>
      <p:sp>
        <p:nvSpPr>
          <p:cNvPr id="17" name="Shape 12"/>
          <p:cNvSpPr/>
          <p:nvPr/>
        </p:nvSpPr>
        <p:spPr>
          <a:xfrm>
            <a:off x="8028432" y="1783080"/>
            <a:ext cx="35935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8257032" y="2011680"/>
            <a:ext cx="566928" cy="566928"/>
          </a:xfrm>
          <a:prstGeom prst="ellipse">
            <a:avLst/>
          </a:prstGeom>
          <a:solidFill>
            <a:srgbClr val="0B2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8257032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44784" y="2039112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57032" y="2679192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550" b="1">
                <a:solidFill>
                  <a:srgbClr val="0B2E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a cohort, not a rollout</a:t>
            </a:r>
            <a:endParaRPr lang="en-US" sz="1550"/>
          </a:p>
        </p:txBody>
      </p:sp>
      <p:sp>
        <p:nvSpPr>
          <p:cNvPr id="22" name="Text 16"/>
          <p:cNvSpPr/>
          <p:nvPr/>
        </p:nvSpPr>
        <p:spPr>
          <a:xfrm>
            <a:off x="8257032" y="310896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50-150 of the clearest Builders and measure real outcomes.</a:t>
            </a:r>
            <a:endParaRPr lang="en-US" sz="1200"/>
          </a:p>
        </p:txBody>
      </p:sp>
      <p:sp>
        <p:nvSpPr>
          <p:cNvPr id="23" name="Shape 17"/>
          <p:cNvSpPr/>
          <p:nvPr/>
        </p:nvSpPr>
        <p:spPr>
          <a:xfrm>
            <a:off x="548640" y="3813048"/>
            <a:ext cx="35935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777240" y="4041648"/>
            <a:ext cx="566928" cy="566928"/>
          </a:xfrm>
          <a:prstGeom prst="ellipse">
            <a:avLst/>
          </a:prstGeom>
          <a:solidFill>
            <a:srgbClr val="0B2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777240" y="4041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992" y="4069080"/>
            <a:ext cx="502920" cy="5029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77240" y="470916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550" b="1">
                <a:solidFill>
                  <a:srgbClr val="0B2E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a payback threshold up front</a:t>
            </a:r>
            <a:endParaRPr lang="en-US" sz="1550"/>
          </a:p>
        </p:txBody>
      </p:sp>
      <p:sp>
        <p:nvSpPr>
          <p:cNvPr id="28" name="Text 21"/>
          <p:cNvSpPr/>
          <p:nvPr/>
        </p:nvSpPr>
        <p:spPr>
          <a:xfrm>
            <a:off x="777240" y="5138928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what "worth it" means: hours saved or deliverables automated.</a:t>
            </a:r>
            <a:endParaRPr lang="en-US" sz="1200"/>
          </a:p>
        </p:txBody>
      </p:sp>
      <p:sp>
        <p:nvSpPr>
          <p:cNvPr id="29" name="Shape 22"/>
          <p:cNvSpPr/>
          <p:nvPr/>
        </p:nvSpPr>
        <p:spPr>
          <a:xfrm>
            <a:off x="4288536" y="3813048"/>
            <a:ext cx="35935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4517136" y="4041648"/>
            <a:ext cx="566928" cy="566928"/>
          </a:xfrm>
          <a:prstGeom prst="ellipse">
            <a:avLst/>
          </a:prstGeom>
          <a:solidFill>
            <a:srgbClr val="0B2E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4"/>
          <p:cNvSpPr/>
          <p:nvPr/>
        </p:nvSpPr>
        <p:spPr>
          <a:xfrm>
            <a:off x="4517136" y="4041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4888" y="4069080"/>
            <a:ext cx="502920" cy="5029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517136" y="470916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550" b="1">
                <a:solidFill>
                  <a:srgbClr val="0B2E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 by work shape</a:t>
            </a:r>
            <a:endParaRPr lang="en-US" sz="1550"/>
          </a:p>
        </p:txBody>
      </p:sp>
      <p:sp>
        <p:nvSpPr>
          <p:cNvPr id="34" name="Text 26"/>
          <p:cNvSpPr/>
          <p:nvPr/>
        </p:nvSpPr>
        <p:spPr>
          <a:xfrm>
            <a:off x="4517136" y="5138928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>
                <a:solidFill>
                  <a:srgbClr val="16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next pocket of Builders, not "the rest of the department."</a:t>
            </a:r>
            <a:endParaRPr lang="en-US" sz="1200"/>
          </a:p>
        </p:txBody>
      </p:sp>
      <p:sp>
        <p:nvSpPr>
          <p:cNvPr id="35" name="Shape 27"/>
          <p:cNvSpPr/>
          <p:nvPr/>
        </p:nvSpPr>
        <p:spPr>
          <a:xfrm>
            <a:off x="8028432" y="3813048"/>
            <a:ext cx="3593592" cy="1828800"/>
          </a:xfrm>
          <a:prstGeom prst="rect">
            <a:avLst/>
          </a:prstGeom>
          <a:solidFill>
            <a:srgbClr val="0B2E39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8"/>
          <p:cNvSpPr/>
          <p:nvPr/>
        </p:nvSpPr>
        <p:spPr>
          <a:xfrm>
            <a:off x="8028432" y="3813048"/>
            <a:ext cx="3593592" cy="82296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29"/>
          <p:cNvSpPr/>
          <p:nvPr/>
        </p:nvSpPr>
        <p:spPr>
          <a:xfrm>
            <a:off x="8257032" y="4069080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100"/>
          </a:p>
        </p:txBody>
      </p:sp>
      <p:sp>
        <p:nvSpPr>
          <p:cNvPr id="38" name="Text 30"/>
          <p:cNvSpPr/>
          <p:nvPr/>
        </p:nvSpPr>
        <p:spPr>
          <a:xfrm>
            <a:off x="8257032" y="4361688"/>
            <a:ext cx="31363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“5,000 seats, fingers crossed” into “we earned our way up from 100, and every added seat passed a bar.”</a:t>
            </a:r>
            <a:endParaRPr lang="en-US" sz="1300"/>
          </a:p>
        </p:txBody>
      </p:sp>
      <p:sp>
        <p:nvSpPr>
          <p:cNvPr id="39" name="Text 3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5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Right-Sizing Cowork  ·  Field perspective</a:t>
            </a:r>
            <a:endParaRPr lang="en-US" sz="900"/>
          </a:p>
        </p:txBody>
      </p:sp>
      <p:sp>
        <p:nvSpPr>
          <p:cNvPr id="40" name="Text 3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5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E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" y="1143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LAND IT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868680" y="169164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“Don't give this to 5,000 people. </a:t>
            </a:r>
            <a:r>
              <a:rPr lang="en-US" sz="3000" b="1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the few hundred it's actually for</a:t>
            </a:r>
            <a:r>
              <a:rPr lang="en-US" sz="3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and why the rest of your users are already covered by what you have.”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868680" y="4297680"/>
            <a:ext cx="3383280" cy="1417320"/>
          </a:xfrm>
          <a:prstGeom prst="rect">
            <a:avLst/>
          </a:prstGeom>
          <a:solidFill>
            <a:srgbClr val="1240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4297680"/>
            <a:ext cx="3383280" cy="7315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" y="44988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Size by work shape</a:t>
            </a:r>
            <a:endParaRPr lang="en-US" sz="1700"/>
          </a:p>
        </p:txBody>
      </p:sp>
      <p:sp>
        <p:nvSpPr>
          <p:cNvPr id="8" name="Text 6"/>
          <p:cNvSpPr/>
          <p:nvPr/>
        </p:nvSpPr>
        <p:spPr>
          <a:xfrm>
            <a:off x="1097280" y="5029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FA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headcount, not title.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4526280" y="4297680"/>
            <a:ext cx="3383280" cy="1417320"/>
          </a:xfrm>
          <a:prstGeom prst="rect">
            <a:avLst/>
          </a:prstGeom>
          <a:solidFill>
            <a:srgbClr val="1240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26280" y="4297680"/>
            <a:ext cx="3383280" cy="7315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44988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covers most</a:t>
            </a:r>
            <a:endParaRPr lang="en-US" sz="1700"/>
          </a:p>
        </p:txBody>
      </p:sp>
      <p:sp>
        <p:nvSpPr>
          <p:cNvPr id="12" name="Text 10"/>
          <p:cNvSpPr/>
          <p:nvPr/>
        </p:nvSpPr>
        <p:spPr>
          <a:xfrm>
            <a:off x="4754880" y="5029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FA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 is for the Builders.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8183880" y="4297680"/>
            <a:ext cx="3383280" cy="1417320"/>
          </a:xfrm>
          <a:prstGeom prst="rect">
            <a:avLst/>
          </a:prstGeom>
          <a:solidFill>
            <a:srgbClr val="1240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183880" y="4297680"/>
            <a:ext cx="3383280" cy="7315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412480" y="44988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Earn the seats</a:t>
            </a:r>
            <a:endParaRPr lang="en-US" sz="1700"/>
          </a:p>
        </p:txBody>
      </p:sp>
      <p:sp>
        <p:nvSpPr>
          <p:cNvPr id="16" name="Text 14"/>
          <p:cNvSpPr/>
          <p:nvPr/>
        </p:nvSpPr>
        <p:spPr>
          <a:xfrm>
            <a:off x="8412480" y="5029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FA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Cohort, measure, expand.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86868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8FB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perspective for the Corewell conversation  ·  June 2026</a:t>
            </a:r>
            <a:endParaRPr 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795</Words>
  <Application>Microsoft Macintosh PowerPoint</Application>
  <PresentationFormat>Widescreen</PresentationFormat>
  <Paragraphs>121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Right-Sizing Microsoft Cowork</dc:title>
  <dc:subject>PptxGenJS Presentation</dc:subject>
  <dc:creator>Michael Goad</dc:creator>
  <cp:lastModifiedBy>Michael Goad</cp:lastModifiedBy>
  <cp:revision>1</cp:revision>
  <dcterms:created xsi:type="dcterms:W3CDTF">2026-06-25T15:47:05Z</dcterms:created>
  <dcterms:modified xsi:type="dcterms:W3CDTF">2026-06-25T16:04:10Z</dcterms:modified>
</cp:coreProperties>
</file>