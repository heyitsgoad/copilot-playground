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Two things to set up front. First, this is a short, practical session, about 30 minutes, then open Q&amp;A. Second, it maps directly to the printed playbook you already have, so nothing here is homework you need to capture, it is all in the guide. The way I've organized today is in three tiers that build on each other: Tier 1 is the foundations, just using Copilot and prompting well. Tier 2 is where we add real leverage with the Researcher and Analyst agents. Tier 3 is where you make it your own by building agents like a Chief of Staff. You do not have to reach Tier 3 to get value, even Tier 1 pays for itself. Transition: before the tiers, the one habit I want every leader to leave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important mindset shift, so I put it up front. If you take nothing else from today, take this: ask Copilot first. Not as a last resort when you're stuck, but as your first move, before you open a search engine, before you stare at a blank page, before you dig through a week of email. The leaders who get real value from Copilot are not the most technical, they are simply the ones who build the reflex to ask. Everything in the three tiers that follow is just getting better and better at asking. And to be clear, asking first does not mean trusting blindly, you still apply your judgment on what comes back. Transition: here is how the rest of the session is organized.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map for the whole session. Tier 1, foundations: find it, trust it, and learn the one prompting habit that makes everything better. Most people never leave Tier 1 and still save hours a week. Tier 2, deeper value: the Researcher and Analyst agents that do heavy thinking, plus prompts that give you a second set of eyes. Tier 3, make it yours: personalize Copilot and build a Chief of Staff so it comes to you with what needs attention. Point back to the playbook: everything I show maps to a section in the guide you already have, so watch and steal, don't scramble to take notes. Transition: let's start at the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 1 section transition. Pause, reset the room's attention, and remind them each tier builds on the last before moving into the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line: Copilot does the catch-up, you make the calls. The distinction that matters for Premium is on this slide, it works from your real work inside your security boundary, not the open web. That is the difference between a tool that sounds smart and one that actually knows what is going on in your world. These four cards are the whole promise: it knows your work, works where you work, sounds like you, and stays private. Transition: and that last one, privacy, is the first question every leader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so nobody is nervous to try it: this runs inside your tenant, it is not training public models, and it can only see what the signed-in person already has permission to see. When you open Copilot signed in with your work account, the green shield confirms enterprise data protection is on. For the regulated-industry detail on web search and what a BAA covers, that is in the playbook's resource library and I can walk your IT and security team through it. Transition: so where do you actually find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take one practical thing from this slide: pin the Copilot icon so it is one click away, and open the app at m365.cloud.microsoft. That is the everything box. Then bookmark the Prompt Gallery so you are never staring at a blank prompt. All four of these doors open the same assistant. Transition: now let's actually use it, starting with a win you can get in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to go live. Open the Copilot app and run one of these with a real name, either from someone in the room or from my world if they'd rather watch. The point to land: you don't schedule time to learn this, you give it one job between meetings and it pays you back immediately. Catch up on a thread, triage the last 24 hours, or prep your next meeting. Transition: those work even better once you know the one prompting habit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framework: Goal, Context, Source, Format. You are already fluent in this, it is exactly how you brief a sharp assistant. You would never tell a person 'write something about the vendor meeting' and expect a good result. The strong example at the bottom shows all four parts, color coded. Same model, the only variable is the prompt. This is the highest-leverage twenty seconds of effort in the whole tool. Optionally run the weak version and this version live so they see the difference. Transition: now let's see it tuned to each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Rather than a features tour, this is the executive use case per app with a prompt to steal under each. Outlook clears the inbox and drafts in your tone. Word turns your own files into a board update. Excel gives answers without a single formula. PowerPoint turns a document into a first-draft deck. Teams means you never walk in behind. And Copilot Chat reasons across all of it at once. The underlined app names link to the matching prompt pack in my GitHub playground, so anyone reading the shared file can go deeper. Pick one or two to run live depending on time. Transition: one more Tier 1 move, and it is the highest-value one, using Copilot as a second set of eyes.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capstone of Tier 1, and the slide that proves better prompts beat better tools. Everything here is still just a prompt to Copilot, no agent, no setup, so anyone in the room can use it this afternoon. Contextual Filter reads a document as your CFO or general counsel and surfaces only what that lens cares about, great before a room where you'll be challenged. Devil's Advocate will actually disagree with you, ask for the three ways this fails and the fixes. Far better to hear the hard questions here in private than from your board in public. Voice Distiller captures how you write so drafts sound like you. Each title links to the prompt in my GitHub playground, so the shared file becomes a launchpad. Transition: that completes Tier 1, all of it just prompting. Now Tier 2, where we step up to purpose-built agents that go beyond a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 2 section transition. Pause, reset the room's attention, and remind them each tier builds on the last before moving into the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difference in one line: a normal prompt gives you an answer, Researcher and Analyst do the work behind the answer. Researcher is your strategy analyst that blends your own documents with the web and cites its sources. Analyst is a data scientist on demand that writes and runs its own code over your raw spreadsheets. For a leadership team, this is the jump from 'it drafts my email' to 'it does my prep.' Both are premium reasoning agents inside Microsoft 365 Copilot. Transition: here's what a real Researcher run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it real for this room. Run Researcher live on a strategic question this team is actually weighing, swap the bracketed placeholder for their real topic. It pulls from your own materials and the open web, reasons through it, and returns a structured, cited briefing in minutes, the work that used to take an analyst a week. Then point Analyst at a real workbook and let it find where the numbers diverge. Two things to say out loud: nothing leaves your tenant, and every claim is cited so you can verify before you act. Transition: that's Tier 2. Tier 3 is where you make Copilot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 3 section transition. Pause, reset the room's attention, and remind them each tier builds on the last before moving into the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fifteen minutes that changes everything after it. Give Copilot a short profile, let Memory hold your context, build one standing agent, and schedule a morning brief. The mindset shift: you stop going to Copilot, and it starts coming to you with what needs your attention before you open the laptop. The Chief of Staff agent in your playbook walks through this in about fifteen minutes with templates. Transition: here are the agents worth building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overthink which agent to build first. Start with Chief of Staff, it comes with templates and takes about fifteen minutes. The others follow the same pattern. The scaling insight: when a prompt earns its keep, turn it into an agent, and now the whole team gets that quality, not just you. All four names link straight to the build guide in my GitHub playground, so this shared slide is everything a leader needs to start. That is Tier 3. Transition: before we wrap, two things that keep this real, expectations and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expectations prevent week-two disappointment. It drafts, you decide, and your name still goes on it. Check the facts that matter. And remember it is improving fast, so anything that felt limited a few months ago is worth another look. This candor is what earns trust in the room. Transition: so how do you make this a habit instead of a one-time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leave-behind plan, and it maps to the 'first 30 days' page in your playbook. Do not try to learn forty features this week. One win a day, one focus a week. Fifteen minutes beats a marathon, because the habit is what compounds. And if you delegate through an assistant, bring them in on day one, share your personalization profile, and let them run the daily prep. Transition: three things to take back, and how to get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three takeaways in one breath, and lead with the habit: ask Copilot first, every day, and the rest takes care of itself. Then better prompts, then stay in the driver's seat. Remind them everything today lives in the playbook they already have and links straight to my GitHub playground, so there is nothing to chase down. Then the offer: I run a live 45-minute working session with your team where each leader leaves with their first real win. Open it up: what would you point Copilot at first? Take questions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5" Type="http://schemas.openxmlformats.org/officeDocument/2006/relationships/hyperlink" Target="https://m365.cloud.microsoft" TargetMode="External"/><Relationship Id="rId6" Type="http://schemas.openxmlformats.org/officeDocument/2006/relationships/hyperlink" Target="https://adoption.microsoft.com/en-us/copilot/prompt-gallery/"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heyitsgoad/copilot-playground/blob/main/prompt%20playground/copilot%20in%20outlook%20prompt%20pack.md" TargetMode="External"/><Relationship Id="rId5" Type="http://schemas.openxmlformats.org/officeDocument/2006/relationships/hyperlink" Target="https://github.com/heyitsgoad/copilot-playground/blob/main/education%20playground/claude%20in%20copilot%20with%20agent%20mode%20for%20excel.md" TargetMode="External"/><Relationship Id="rId8" Type="http://schemas.openxmlformats.org/officeDocument/2006/relationships/hyperlink" Target="https://github.com/heyitsgoad/copilot-playground/blob/main/prompt%20playground/meeting%20notes%20to%20action%20items.md" TargetMode="External"/><Relationship Id="rId10" Type="http://schemas.openxmlformats.org/officeDocument/2006/relationships/hyperlink" Target="https://adoption.microsoft.com/en-us/copilot/prompt-gallery/" TargetMode="External"/><Relationship Id="rId1"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6" Type="http://schemas.openxmlformats.org/officeDocument/2006/relationships/image" Target="../media/image-10-4.png"/><Relationship Id="rId7" Type="http://schemas.openxmlformats.org/officeDocument/2006/relationships/image" Target="../media/image-10-5.png"/><Relationship Id="rId9" Type="http://schemas.openxmlformats.org/officeDocument/2006/relationships/image" Target="../media/image-10-6.png"/><Relationship Id="rId11" Type="http://schemas.openxmlformats.org/officeDocument/2006/relationships/slideLayout" Target="../slideLayouts/slideLayout1.xml"/><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heyitsgoad/copilot-playground/blob/main/prompt%20playground/contextual%20filter%2C%20gain%20a%20new%20perspective%20prompt.md" TargetMode="External"/><Relationship Id="rId4" Type="http://schemas.openxmlformats.org/officeDocument/2006/relationships/hyperlink" Target="https://github.com/heyitsgoad/copilot-playground/blob/main/prompt%20playground/devils%20advocate%20skeptical%20stakeholder.md" TargetMode="External"/><Relationship Id="rId6" Type="http://schemas.openxmlformats.org/officeDocument/2006/relationships/hyperlink" Target="https://github.com/heyitsgoad/copilot-playground/blob/main/prompt%20playground/leadership%20style%20and%20voice%20distiller.md" TargetMode="External"/><Relationship Id="rId7" Type="http://schemas.openxmlformats.org/officeDocument/2006/relationships/hyperlink" Target="https://github.com/heyitsgoad/copilot-playground/blob/main/prompt%20playground/10%20executive%20prompts.md" TargetMode="External"/><Relationship Id="rId1" Type="http://schemas.openxmlformats.org/officeDocument/2006/relationships/image" Target="../media/image-11-1.png"/><Relationship Id="rId3" Type="http://schemas.openxmlformats.org/officeDocument/2006/relationships/image" Target="../media/image-11-2.png"/><Relationship Id="rId5" Type="http://schemas.openxmlformats.org/officeDocument/2006/relationships/image" Target="../media/image-11-3.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github.com/heyitsgoad/copilot-playground/blob/main/prompt%20playground/copilot%20personalization.md" TargetMode="External"/><Relationship Id="rId4" Type="http://schemas.openxmlformats.org/officeDocument/2006/relationships/hyperlink" Target="https://github.com/heyitsgoad/copilot-playground/blob/main/prompt%20playground/copilot%20memory.md" TargetMode="External"/><Relationship Id="rId6" Type="http://schemas.openxmlformats.org/officeDocument/2006/relationships/hyperlink" Target="https://github.com/heyitsgoad/copilot-playground/blob/main/agent%20playground/chief%20of%20staff.md" TargetMode="External"/><Relationship Id="rId8" Type="http://schemas.openxmlformats.org/officeDocument/2006/relationships/hyperlink" Target="https://github.com/heyitsgoad/copilot-playground/blob/main/prompt%20playground/start%20my%20day.md" TargetMode="External"/><Relationship Id="rId1" Type="http://schemas.openxmlformats.org/officeDocument/2006/relationships/image" Target="../media/image-16-1.png"/><Relationship Id="rId3" Type="http://schemas.openxmlformats.org/officeDocument/2006/relationships/image" Target="../media/image-16-2.png"/><Relationship Id="rId5" Type="http://schemas.openxmlformats.org/officeDocument/2006/relationships/image" Target="../media/image-16-3.png"/><Relationship Id="rId7" Type="http://schemas.openxmlformats.org/officeDocument/2006/relationships/image" Target="../media/image-16-4.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github.com/heyitsgoad/copilot-playground/blob/main/agent%20playground/chief%20of%20staff.md" TargetMode="External"/><Relationship Id="rId4" Type="http://schemas.openxmlformats.org/officeDocument/2006/relationships/hyperlink" Target="https://github.com/heyitsgoad/copilot-playground/blob/main/agent%20playground/bossbuddy.md" TargetMode="External"/><Relationship Id="rId6" Type="http://schemas.openxmlformats.org/officeDocument/2006/relationships/hyperlink" Target="https://github.com/heyitsgoad/copilot-playground/blob/main/agent%20playground/taskmaster.md" TargetMode="External"/><Relationship Id="rId8" Type="http://schemas.openxmlformats.org/officeDocument/2006/relationships/hyperlink" Target="https://github.com/heyitsgoad/copilot-playground/blob/main/agent%20playground/impact%20check.md" TargetMode="External"/><Relationship Id="rId1" Type="http://schemas.openxmlformats.org/officeDocument/2006/relationships/image" Target="../media/image-17-1.png"/><Relationship Id="rId3" Type="http://schemas.openxmlformats.org/officeDocument/2006/relationships/image" Target="../media/image-17-2.png"/><Relationship Id="rId5" Type="http://schemas.openxmlformats.org/officeDocument/2006/relationships/image" Target="../media/image-17-3.png"/><Relationship Id="rId7" Type="http://schemas.openxmlformats.org/officeDocument/2006/relationships/image" Target="../media/image-17-4.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mailto:michaelgoad@microsoft.com" TargetMode="External"/><Relationship Id="rId3" Type="http://schemas.openxmlformats.org/officeDocument/2006/relationships/hyperlink" Target="https://github.com/heyitsgoad/copilot-playground" TargetMode="External"/><Relationship Id="rId1" Type="http://schemas.openxmlformats.org/officeDocument/2006/relationships/image" Target="../media/image-20-1.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437"/>
        </a:solidFill>
      </p:bgPr>
    </p:bg>
    <p:spTree>
      <p:nvGrpSpPr>
        <p:cNvPr id="1" name=""/>
        <p:cNvGrpSpPr/>
        <p:nvPr/>
      </p:nvGrpSpPr>
      <p:grpSpPr>
        <a:xfrm>
          <a:off x="0" y="0"/>
          <a:ext cx="0" cy="0"/>
          <a:chOff x="0" y="0"/>
          <a:chExt cx="0" cy="0"/>
        </a:xfrm>
      </p:grpSpPr>
      <p:sp>
        <p:nvSpPr>
          <p:cNvPr id="2" name="Shape 0"/>
          <p:cNvSpPr/>
          <p:nvPr/>
        </p:nvSpPr>
        <p:spPr>
          <a:xfrm>
            <a:off x="8778240" y="-2194560"/>
            <a:ext cx="5943600" cy="5943600"/>
          </a:xfrm>
          <a:prstGeom prst="ellipse">
            <a:avLst/>
          </a:prstGeom>
          <a:solidFill>
            <a:srgbClr val="2D6CDF">
              <a:alpha val="14000"/>
            </a:srgbClr>
          </a:solidFill>
          <a:ln/>
        </p:spPr>
      </p:sp>
      <p:sp>
        <p:nvSpPr>
          <p:cNvPr id="3" name="Shape 1"/>
          <p:cNvSpPr/>
          <p:nvPr/>
        </p:nvSpPr>
        <p:spPr>
          <a:xfrm>
            <a:off x="10241280" y="3291840"/>
            <a:ext cx="4754880" cy="4754880"/>
          </a:xfrm>
          <a:prstGeom prst="ellipse">
            <a:avLst/>
          </a:prstGeom>
          <a:solidFill>
            <a:srgbClr val="7C5CFC">
              <a:alpha val="12000"/>
            </a:srgbClr>
          </a:solidFill>
          <a:ln/>
        </p:spPr>
      </p:sp>
      <p:sp>
        <p:nvSpPr>
          <p:cNvPr id="4" name="Shape 2"/>
          <p:cNvSpPr/>
          <p:nvPr/>
        </p:nvSpPr>
        <p:spPr>
          <a:xfrm>
            <a:off x="0" y="0"/>
            <a:ext cx="146304" cy="6858000"/>
          </a:xfrm>
          <a:prstGeom prst="rect">
            <a:avLst/>
          </a:prstGeom>
          <a:solidFill>
            <a:srgbClr val="12B5BC"/>
          </a:solidFill>
          <a:ln/>
        </p:spPr>
      </p:sp>
      <p:sp>
        <p:nvSpPr>
          <p:cNvPr id="5" name="Text 3"/>
          <p:cNvSpPr/>
          <p:nvPr/>
        </p:nvSpPr>
        <p:spPr>
          <a:xfrm>
            <a:off x="822960" y="914400"/>
            <a:ext cx="9144000" cy="274320"/>
          </a:xfrm>
          <a:prstGeom prst="rect">
            <a:avLst/>
          </a:prstGeom>
          <a:noFill/>
          <a:ln/>
        </p:spPr>
        <p:txBody>
          <a:bodyPr wrap="square" lIns="0" tIns="0" rIns="0" bIns="0" rtlCol="0" anchor="ctr"/>
          <a:lstStyle/>
          <a:p>
            <a:pPr algn="l" indent="0" marL="0">
              <a:buNone/>
            </a:pPr>
            <a:r>
              <a:rPr lang="en-US" sz="1200" b="1" spc="300" kern="0" dirty="0">
                <a:solidFill>
                  <a:srgbClr val="6FE3E6"/>
                </a:solidFill>
                <a:latin typeface="Aptos" pitchFamily="34" charset="0"/>
                <a:ea typeface="Aptos" pitchFamily="34" charset="-122"/>
                <a:cs typeface="Aptos" pitchFamily="34" charset="-120"/>
              </a:rPr>
              <a:t>EXECUTIVE WORKING SESSION · 30 MINUTES</a:t>
            </a:r>
            <a:endParaRPr lang="en-US" sz="1200" dirty="0"/>
          </a:p>
        </p:txBody>
      </p:sp>
      <p:sp>
        <p:nvSpPr>
          <p:cNvPr id="6" name="Text 4"/>
          <p:cNvSpPr/>
          <p:nvPr/>
        </p:nvSpPr>
        <p:spPr>
          <a:xfrm>
            <a:off x="786384" y="1280160"/>
            <a:ext cx="10607040" cy="1828800"/>
          </a:xfrm>
          <a:prstGeom prst="rect">
            <a:avLst/>
          </a:prstGeom>
          <a:noFill/>
          <a:ln/>
        </p:spPr>
        <p:txBody>
          <a:bodyPr wrap="square" lIns="0" tIns="0" rIns="0" bIns="0" rtlCol="0" anchor="t"/>
          <a:lstStyle/>
          <a:p>
            <a:pPr algn="l" indent="0" marL="0">
              <a:lnSpc>
                <a:spcPct val="102000"/>
              </a:lnSpc>
              <a:buNone/>
            </a:pPr>
            <a:r>
              <a:rPr lang="en-US" sz="4400" b="1" dirty="0">
                <a:solidFill>
                  <a:srgbClr val="FFFFFF"/>
                </a:solidFill>
                <a:latin typeface="Aptos" pitchFamily="34" charset="0"/>
                <a:ea typeface="Aptos" pitchFamily="34" charset="-122"/>
                <a:cs typeface="Aptos" pitchFamily="34" charset="-120"/>
              </a:rPr>
              <a:t>Getting Started with</a:t>
            </a:r>
            <a:endParaRPr lang="en-US" sz="4400" dirty="0"/>
          </a:p>
          <a:p>
            <a:pPr algn="l" indent="0" marL="0">
              <a:lnSpc>
                <a:spcPct val="102000"/>
              </a:lnSpc>
              <a:buNone/>
            </a:pPr>
            <a:r>
              <a:rPr lang="en-US" sz="4400" b="1" dirty="0">
                <a:solidFill>
                  <a:srgbClr val="FFFFFF"/>
                </a:solidFill>
                <a:latin typeface="Aptos" pitchFamily="34" charset="0"/>
                <a:ea typeface="Aptos" pitchFamily="34" charset="-122"/>
                <a:cs typeface="Aptos" pitchFamily="34" charset="-120"/>
              </a:rPr>
              <a:t>Microsoft 365 Copilot Premium</a:t>
            </a:r>
            <a:endParaRPr lang="en-US" sz="4400" dirty="0"/>
          </a:p>
        </p:txBody>
      </p:sp>
      <p:sp>
        <p:nvSpPr>
          <p:cNvPr id="7" name="Text 5"/>
          <p:cNvSpPr/>
          <p:nvPr/>
        </p:nvSpPr>
        <p:spPr>
          <a:xfrm>
            <a:off x="822960" y="3246120"/>
            <a:ext cx="9692640" cy="457200"/>
          </a:xfrm>
          <a:prstGeom prst="rect">
            <a:avLst/>
          </a:prstGeom>
          <a:noFill/>
          <a:ln/>
        </p:spPr>
        <p:txBody>
          <a:bodyPr wrap="square" lIns="0" tIns="0" rIns="0" bIns="0" rtlCol="0" anchor="ctr"/>
          <a:lstStyle/>
          <a:p>
            <a:pPr algn="l" indent="0" marL="0">
              <a:buNone/>
            </a:pPr>
            <a:r>
              <a:rPr lang="en-US" sz="1800" i="1" dirty="0">
                <a:solidFill>
                  <a:srgbClr val="AEB7DA"/>
                </a:solidFill>
                <a:latin typeface="Aptos" pitchFamily="34" charset="0"/>
                <a:ea typeface="Aptos" pitchFamily="34" charset="-122"/>
                <a:cs typeface="Aptos" pitchFamily="34" charset="-120"/>
              </a:rPr>
              <a:t>Copilot does the catch-up. You make the calls.</a:t>
            </a:r>
            <a:endParaRPr lang="en-US" sz="1800" dirty="0"/>
          </a:p>
        </p:txBody>
      </p:sp>
      <p:sp>
        <p:nvSpPr>
          <p:cNvPr id="8" name="Shape 6"/>
          <p:cNvSpPr/>
          <p:nvPr/>
        </p:nvSpPr>
        <p:spPr>
          <a:xfrm>
            <a:off x="822960" y="3977640"/>
            <a:ext cx="3200400" cy="566928"/>
          </a:xfrm>
          <a:prstGeom prst="roundRect">
            <a:avLst>
              <a:gd name="adj" fmla="val 50000"/>
            </a:avLst>
          </a:prstGeom>
          <a:solidFill>
            <a:srgbClr val="111C44"/>
          </a:solidFill>
          <a:ln w="12700">
            <a:solidFill>
              <a:srgbClr val="26326A"/>
            </a:solidFill>
            <a:prstDash val="solid"/>
          </a:ln>
        </p:spPr>
      </p:sp>
      <p:sp>
        <p:nvSpPr>
          <p:cNvPr id="9" name="Shape 7"/>
          <p:cNvSpPr/>
          <p:nvPr/>
        </p:nvSpPr>
        <p:spPr>
          <a:xfrm>
            <a:off x="969264" y="4105656"/>
            <a:ext cx="310896" cy="310896"/>
          </a:xfrm>
          <a:prstGeom prst="ellipse">
            <a:avLst/>
          </a:prstGeom>
          <a:solidFill>
            <a:srgbClr val="2D6CDF"/>
          </a:solidFill>
          <a:ln/>
        </p:spPr>
      </p:sp>
      <p:sp>
        <p:nvSpPr>
          <p:cNvPr id="10" name="Text 8"/>
          <p:cNvSpPr/>
          <p:nvPr/>
        </p:nvSpPr>
        <p:spPr>
          <a:xfrm>
            <a:off x="969264" y="4105656"/>
            <a:ext cx="310896" cy="310896"/>
          </a:xfrm>
          <a:prstGeom prst="rect">
            <a:avLst/>
          </a:prstGeom>
          <a:noFill/>
          <a:ln/>
        </p:spPr>
        <p:txBody>
          <a:bodyPr wrap="square" lIns="0" tIns="0" rIns="0" bIns="0" rtlCol="0" anchor="ctr"/>
          <a:lstStyle/>
          <a:p>
            <a:pPr algn="ctr" indent="0" marL="0">
              <a:buNone/>
            </a:pPr>
            <a:r>
              <a:rPr lang="en-US" sz="1300" b="1" dirty="0">
                <a:solidFill>
                  <a:srgbClr val="0B1437"/>
                </a:solidFill>
                <a:latin typeface="Aptos" pitchFamily="34" charset="0"/>
                <a:ea typeface="Aptos" pitchFamily="34" charset="-122"/>
                <a:cs typeface="Aptos" pitchFamily="34" charset="-120"/>
              </a:rPr>
              <a:t>1</a:t>
            </a:r>
            <a:endParaRPr lang="en-US" sz="1300" dirty="0"/>
          </a:p>
        </p:txBody>
      </p:sp>
      <p:sp>
        <p:nvSpPr>
          <p:cNvPr id="11" name="Text 9"/>
          <p:cNvSpPr/>
          <p:nvPr/>
        </p:nvSpPr>
        <p:spPr>
          <a:xfrm>
            <a:off x="1389888" y="3977640"/>
            <a:ext cx="2560320" cy="566928"/>
          </a:xfrm>
          <a:prstGeom prst="rect">
            <a:avLst/>
          </a:prstGeom>
          <a:noFill/>
          <a:ln/>
        </p:spPr>
        <p:txBody>
          <a:bodyPr wrap="square" lIns="0" tIns="0" rIns="0" bIns="0" rtlCol="0" anchor="ctr"/>
          <a:lstStyle/>
          <a:p>
            <a:pPr indent="0" marL="0">
              <a:buNone/>
            </a:pPr>
            <a:r>
              <a:rPr lang="en-US" sz="1250" b="1" dirty="0">
                <a:solidFill>
                  <a:srgbClr val="FFFFFF"/>
                </a:solidFill>
                <a:latin typeface="Aptos" pitchFamily="34" charset="0"/>
                <a:ea typeface="Aptos" pitchFamily="34" charset="-122"/>
                <a:cs typeface="Aptos" pitchFamily="34" charset="-120"/>
              </a:rPr>
              <a:t>Tier 1 · Foundations</a:t>
            </a:r>
            <a:endParaRPr lang="en-US" sz="1250" dirty="0"/>
          </a:p>
        </p:txBody>
      </p:sp>
      <p:sp>
        <p:nvSpPr>
          <p:cNvPr id="12" name="Shape 10"/>
          <p:cNvSpPr/>
          <p:nvPr/>
        </p:nvSpPr>
        <p:spPr>
          <a:xfrm>
            <a:off x="4197096" y="3977640"/>
            <a:ext cx="3200400" cy="566928"/>
          </a:xfrm>
          <a:prstGeom prst="roundRect">
            <a:avLst>
              <a:gd name="adj" fmla="val 50000"/>
            </a:avLst>
          </a:prstGeom>
          <a:solidFill>
            <a:srgbClr val="111C44"/>
          </a:solidFill>
          <a:ln w="12700">
            <a:solidFill>
              <a:srgbClr val="26326A"/>
            </a:solidFill>
            <a:prstDash val="solid"/>
          </a:ln>
        </p:spPr>
      </p:sp>
      <p:sp>
        <p:nvSpPr>
          <p:cNvPr id="13" name="Shape 11"/>
          <p:cNvSpPr/>
          <p:nvPr/>
        </p:nvSpPr>
        <p:spPr>
          <a:xfrm>
            <a:off x="4343400" y="4105656"/>
            <a:ext cx="310896" cy="310896"/>
          </a:xfrm>
          <a:prstGeom prst="ellipse">
            <a:avLst/>
          </a:prstGeom>
          <a:solidFill>
            <a:srgbClr val="7C5CFC"/>
          </a:solidFill>
          <a:ln/>
        </p:spPr>
      </p:sp>
      <p:sp>
        <p:nvSpPr>
          <p:cNvPr id="14" name="Text 12"/>
          <p:cNvSpPr/>
          <p:nvPr/>
        </p:nvSpPr>
        <p:spPr>
          <a:xfrm>
            <a:off x="4343400" y="4105656"/>
            <a:ext cx="310896" cy="310896"/>
          </a:xfrm>
          <a:prstGeom prst="rect">
            <a:avLst/>
          </a:prstGeom>
          <a:noFill/>
          <a:ln/>
        </p:spPr>
        <p:txBody>
          <a:bodyPr wrap="square" lIns="0" tIns="0" rIns="0" bIns="0" rtlCol="0" anchor="ctr"/>
          <a:lstStyle/>
          <a:p>
            <a:pPr algn="ctr" indent="0" marL="0">
              <a:buNone/>
            </a:pPr>
            <a:r>
              <a:rPr lang="en-US" sz="1300" b="1" dirty="0">
                <a:solidFill>
                  <a:srgbClr val="0B1437"/>
                </a:solidFill>
                <a:latin typeface="Aptos" pitchFamily="34" charset="0"/>
                <a:ea typeface="Aptos" pitchFamily="34" charset="-122"/>
                <a:cs typeface="Aptos" pitchFamily="34" charset="-120"/>
              </a:rPr>
              <a:t>2</a:t>
            </a:r>
            <a:endParaRPr lang="en-US" sz="1300" dirty="0"/>
          </a:p>
        </p:txBody>
      </p:sp>
      <p:sp>
        <p:nvSpPr>
          <p:cNvPr id="15" name="Text 13"/>
          <p:cNvSpPr/>
          <p:nvPr/>
        </p:nvSpPr>
        <p:spPr>
          <a:xfrm>
            <a:off x="4764024" y="3977640"/>
            <a:ext cx="2560320" cy="566928"/>
          </a:xfrm>
          <a:prstGeom prst="rect">
            <a:avLst/>
          </a:prstGeom>
          <a:noFill/>
          <a:ln/>
        </p:spPr>
        <p:txBody>
          <a:bodyPr wrap="square" lIns="0" tIns="0" rIns="0" bIns="0" rtlCol="0" anchor="ctr"/>
          <a:lstStyle/>
          <a:p>
            <a:pPr indent="0" marL="0">
              <a:buNone/>
            </a:pPr>
            <a:r>
              <a:rPr lang="en-US" sz="1250" b="1" dirty="0">
                <a:solidFill>
                  <a:srgbClr val="FFFFFF"/>
                </a:solidFill>
                <a:latin typeface="Aptos" pitchFamily="34" charset="0"/>
                <a:ea typeface="Aptos" pitchFamily="34" charset="-122"/>
                <a:cs typeface="Aptos" pitchFamily="34" charset="-120"/>
              </a:rPr>
              <a:t>Tier 2 · Deeper value</a:t>
            </a:r>
            <a:endParaRPr lang="en-US" sz="1250" dirty="0"/>
          </a:p>
        </p:txBody>
      </p:sp>
      <p:sp>
        <p:nvSpPr>
          <p:cNvPr id="16" name="Shape 14"/>
          <p:cNvSpPr/>
          <p:nvPr/>
        </p:nvSpPr>
        <p:spPr>
          <a:xfrm>
            <a:off x="7571232" y="3977640"/>
            <a:ext cx="3200400" cy="566928"/>
          </a:xfrm>
          <a:prstGeom prst="roundRect">
            <a:avLst>
              <a:gd name="adj" fmla="val 50000"/>
            </a:avLst>
          </a:prstGeom>
          <a:solidFill>
            <a:srgbClr val="111C44"/>
          </a:solidFill>
          <a:ln w="12700">
            <a:solidFill>
              <a:srgbClr val="26326A"/>
            </a:solidFill>
            <a:prstDash val="solid"/>
          </a:ln>
        </p:spPr>
      </p:sp>
      <p:sp>
        <p:nvSpPr>
          <p:cNvPr id="17" name="Shape 15"/>
          <p:cNvSpPr/>
          <p:nvPr/>
        </p:nvSpPr>
        <p:spPr>
          <a:xfrm>
            <a:off x="7717536" y="4105656"/>
            <a:ext cx="310896" cy="310896"/>
          </a:xfrm>
          <a:prstGeom prst="ellipse">
            <a:avLst/>
          </a:prstGeom>
          <a:solidFill>
            <a:srgbClr val="F0A500"/>
          </a:solidFill>
          <a:ln/>
        </p:spPr>
      </p:sp>
      <p:sp>
        <p:nvSpPr>
          <p:cNvPr id="18" name="Text 16"/>
          <p:cNvSpPr/>
          <p:nvPr/>
        </p:nvSpPr>
        <p:spPr>
          <a:xfrm>
            <a:off x="7717536" y="4105656"/>
            <a:ext cx="310896" cy="310896"/>
          </a:xfrm>
          <a:prstGeom prst="rect">
            <a:avLst/>
          </a:prstGeom>
          <a:noFill/>
          <a:ln/>
        </p:spPr>
        <p:txBody>
          <a:bodyPr wrap="square" lIns="0" tIns="0" rIns="0" bIns="0" rtlCol="0" anchor="ctr"/>
          <a:lstStyle/>
          <a:p>
            <a:pPr algn="ctr" indent="0" marL="0">
              <a:buNone/>
            </a:pPr>
            <a:r>
              <a:rPr lang="en-US" sz="1300" b="1" dirty="0">
                <a:solidFill>
                  <a:srgbClr val="0B1437"/>
                </a:solidFill>
                <a:latin typeface="Aptos" pitchFamily="34" charset="0"/>
                <a:ea typeface="Aptos" pitchFamily="34" charset="-122"/>
                <a:cs typeface="Aptos" pitchFamily="34" charset="-120"/>
              </a:rPr>
              <a:t>3</a:t>
            </a:r>
            <a:endParaRPr lang="en-US" sz="1300" dirty="0"/>
          </a:p>
        </p:txBody>
      </p:sp>
      <p:sp>
        <p:nvSpPr>
          <p:cNvPr id="19" name="Text 17"/>
          <p:cNvSpPr/>
          <p:nvPr/>
        </p:nvSpPr>
        <p:spPr>
          <a:xfrm>
            <a:off x="8138160" y="3977640"/>
            <a:ext cx="2560320" cy="566928"/>
          </a:xfrm>
          <a:prstGeom prst="rect">
            <a:avLst/>
          </a:prstGeom>
          <a:noFill/>
          <a:ln/>
        </p:spPr>
        <p:txBody>
          <a:bodyPr wrap="square" lIns="0" tIns="0" rIns="0" bIns="0" rtlCol="0" anchor="ctr"/>
          <a:lstStyle/>
          <a:p>
            <a:pPr indent="0" marL="0">
              <a:buNone/>
            </a:pPr>
            <a:r>
              <a:rPr lang="en-US" sz="1250" b="1" dirty="0">
                <a:solidFill>
                  <a:srgbClr val="FFFFFF"/>
                </a:solidFill>
                <a:latin typeface="Aptos" pitchFamily="34" charset="0"/>
                <a:ea typeface="Aptos" pitchFamily="34" charset="-122"/>
                <a:cs typeface="Aptos" pitchFamily="34" charset="-120"/>
              </a:rPr>
              <a:t>Tier 3 · Build your own</a:t>
            </a:r>
            <a:endParaRPr lang="en-US" sz="1250" dirty="0"/>
          </a:p>
        </p:txBody>
      </p:sp>
      <p:sp>
        <p:nvSpPr>
          <p:cNvPr id="20" name="Shape 18"/>
          <p:cNvSpPr/>
          <p:nvPr/>
        </p:nvSpPr>
        <p:spPr>
          <a:xfrm>
            <a:off x="822960" y="5257800"/>
            <a:ext cx="3840480" cy="25603"/>
          </a:xfrm>
          <a:prstGeom prst="rect">
            <a:avLst/>
          </a:prstGeom>
          <a:solidFill>
            <a:srgbClr val="26326A"/>
          </a:solidFill>
          <a:ln/>
        </p:spPr>
      </p:sp>
      <p:sp>
        <p:nvSpPr>
          <p:cNvPr id="21" name="Text 19"/>
          <p:cNvSpPr/>
          <p:nvPr/>
        </p:nvSpPr>
        <p:spPr>
          <a:xfrm>
            <a:off x="822960" y="5394960"/>
            <a:ext cx="7315200" cy="310896"/>
          </a:xfrm>
          <a:prstGeom prst="rect">
            <a:avLst/>
          </a:prstGeom>
          <a:noFill/>
          <a:ln/>
        </p:spPr>
        <p:txBody>
          <a:bodyPr wrap="square" lIns="0" tIns="0" rIns="0" bIns="0" rtlCol="0" anchor="ctr"/>
          <a:lstStyle/>
          <a:p>
            <a:pPr indent="0" marL="0">
              <a:buNone/>
            </a:pPr>
            <a:r>
              <a:rPr lang="en-US" sz="1600" b="1" dirty="0">
                <a:solidFill>
                  <a:srgbClr val="FFFFFF"/>
                </a:solidFill>
                <a:latin typeface="Aptos" pitchFamily="34" charset="0"/>
                <a:ea typeface="Aptos" pitchFamily="34" charset="-122"/>
                <a:cs typeface="Aptos" pitchFamily="34" charset="-120"/>
              </a:rPr>
              <a:t>Michael Goad</a:t>
            </a:r>
            <a:endParaRPr lang="en-US" sz="1600" dirty="0"/>
          </a:p>
        </p:txBody>
      </p:sp>
      <p:sp>
        <p:nvSpPr>
          <p:cNvPr id="22" name="Text 20"/>
          <p:cNvSpPr/>
          <p:nvPr/>
        </p:nvSpPr>
        <p:spPr>
          <a:xfrm>
            <a:off x="822960" y="5705856"/>
            <a:ext cx="10058400" cy="292608"/>
          </a:xfrm>
          <a:prstGeom prst="rect">
            <a:avLst/>
          </a:prstGeom>
          <a:noFill/>
          <a:ln/>
        </p:spPr>
        <p:txBody>
          <a:bodyPr wrap="square" lIns="0" tIns="0" rIns="0" bIns="0" rtlCol="0" anchor="ctr"/>
          <a:lstStyle/>
          <a:p>
            <a:pPr indent="0" marL="0">
              <a:buNone/>
            </a:pPr>
            <a:r>
              <a:rPr lang="en-US" sz="1250" dirty="0">
                <a:solidFill>
                  <a:srgbClr val="8A93B8"/>
                </a:solidFill>
                <a:latin typeface="Aptos" pitchFamily="34" charset="0"/>
                <a:ea typeface="Aptos" pitchFamily="34" charset="-122"/>
                <a:cs typeface="Aptos" pitchFamily="34" charset="-120"/>
              </a:rPr>
              <a:t>Copilot Solution Engineer, Microsoft   ·   A brief, tiered walk-through, then Q&amp;A</a:t>
            </a:r>
            <a:endParaRPr lang="en-US" sz="1250" dirty="0"/>
          </a:p>
        </p:txBody>
      </p:sp>
      <p:sp>
        <p:nvSpPr>
          <p:cNvPr id="23" name="Text 21"/>
          <p:cNvSpPr/>
          <p:nvPr/>
        </p:nvSpPr>
        <p:spPr>
          <a:xfrm>
            <a:off x="822960" y="6053328"/>
            <a:ext cx="10058400" cy="274320"/>
          </a:xfrm>
          <a:prstGeom prst="rect">
            <a:avLst/>
          </a:prstGeom>
          <a:noFill/>
          <a:ln/>
        </p:spPr>
        <p:txBody>
          <a:bodyPr wrap="square" lIns="0" tIns="0" rIns="0" bIns="0" rtlCol="0" anchor="ctr"/>
          <a:lstStyle/>
          <a:p>
            <a:pPr indent="0" marL="0">
              <a:buNone/>
            </a:pPr>
            <a:r>
              <a:rPr lang="en-US" sz="1100" i="1" dirty="0">
                <a:solidFill>
                  <a:srgbClr val="8A93B8"/>
                </a:solidFill>
                <a:latin typeface="Aptos" pitchFamily="34" charset="0"/>
                <a:ea typeface="Aptos" pitchFamily="34" charset="-122"/>
                <a:cs typeface="Aptos" pitchFamily="34" charset="-120"/>
              </a:rPr>
              <a:t>Companion to your Executive Playbook</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437"/>
        </a:solidFill>
      </p:bgPr>
    </p:bg>
    <p:spTree>
      <p:nvGrpSpPr>
        <p:cNvPr id="1" name=""/>
        <p:cNvGrpSpPr/>
        <p:nvPr/>
      </p:nvGrpSpPr>
      <p:grpSpPr>
        <a:xfrm>
          <a:off x="0" y="0"/>
          <a:ext cx="0" cy="0"/>
          <a:chOff x="0" y="0"/>
          <a:chExt cx="0" cy="0"/>
        </a:xfrm>
      </p:grpSpPr>
      <p:sp>
        <p:nvSpPr>
          <p:cNvPr id="2" name="Shape 0"/>
          <p:cNvSpPr/>
          <p:nvPr/>
        </p:nvSpPr>
        <p:spPr>
          <a:xfrm>
            <a:off x="8778240" y="-2194560"/>
            <a:ext cx="5943600" cy="5943600"/>
          </a:xfrm>
          <a:prstGeom prst="ellipse">
            <a:avLst/>
          </a:prstGeom>
          <a:solidFill>
            <a:srgbClr val="2D6CDF">
              <a:alpha val="14000"/>
            </a:srgbClr>
          </a:solidFill>
          <a:ln/>
        </p:spPr>
      </p:sp>
      <p:sp>
        <p:nvSpPr>
          <p:cNvPr id="3" name="Shape 1"/>
          <p:cNvSpPr/>
          <p:nvPr/>
        </p:nvSpPr>
        <p:spPr>
          <a:xfrm>
            <a:off x="10241280" y="3291840"/>
            <a:ext cx="4754880" cy="4754880"/>
          </a:xfrm>
          <a:prstGeom prst="ellipse">
            <a:avLst/>
          </a:prstGeom>
          <a:solidFill>
            <a:srgbClr val="7C5CFC">
              <a:alpha val="12000"/>
            </a:srgbClr>
          </a:solidFill>
          <a:ln/>
        </p:spPr>
      </p:sp>
      <p:sp>
        <p:nvSpPr>
          <p:cNvPr id="4" name="Shape 2"/>
          <p:cNvSpPr/>
          <p:nvPr/>
        </p:nvSpPr>
        <p:spPr>
          <a:xfrm>
            <a:off x="0" y="0"/>
            <a:ext cx="146304" cy="6858000"/>
          </a:xfrm>
          <a:prstGeom prst="rect">
            <a:avLst/>
          </a:prstGeom>
          <a:solidFill>
            <a:srgbClr val="F0A500"/>
          </a:solidFill>
          <a:ln/>
        </p:spPr>
      </p:sp>
      <p:sp>
        <p:nvSpPr>
          <p:cNvPr id="5" name="Text 3"/>
          <p:cNvSpPr/>
          <p:nvPr/>
        </p:nvSpPr>
        <p:spPr>
          <a:xfrm>
            <a:off x="822960" y="932688"/>
            <a:ext cx="10058400" cy="274320"/>
          </a:xfrm>
          <a:prstGeom prst="rect">
            <a:avLst/>
          </a:prstGeom>
          <a:noFill/>
          <a:ln/>
        </p:spPr>
        <p:txBody>
          <a:bodyPr wrap="square" lIns="0" tIns="0" rIns="0" bIns="0" rtlCol="0" anchor="ctr"/>
          <a:lstStyle/>
          <a:p>
            <a:pPr algn="l" indent="0" marL="0">
              <a:buNone/>
            </a:pPr>
            <a:r>
              <a:rPr lang="en-US" sz="1200" b="1" spc="300" kern="0" dirty="0">
                <a:solidFill>
                  <a:srgbClr val="FFCB6B"/>
                </a:solidFill>
                <a:latin typeface="Aptos" pitchFamily="34" charset="0"/>
                <a:ea typeface="Aptos" pitchFamily="34" charset="-122"/>
                <a:cs typeface="Aptos" pitchFamily="34" charset="-120"/>
              </a:rPr>
              <a:t>THE ONE HABIT THAT CHANGES EVERYTHING</a:t>
            </a:r>
            <a:endParaRPr lang="en-US" sz="1200" dirty="0"/>
          </a:p>
        </p:txBody>
      </p:sp>
      <p:sp>
        <p:nvSpPr>
          <p:cNvPr id="6" name="Text 4"/>
          <p:cNvSpPr/>
          <p:nvPr/>
        </p:nvSpPr>
        <p:spPr>
          <a:xfrm>
            <a:off x="786384" y="1325880"/>
            <a:ext cx="10607040" cy="1051560"/>
          </a:xfrm>
          <a:prstGeom prst="rect">
            <a:avLst/>
          </a:prstGeom>
          <a:noFill/>
          <a:ln/>
        </p:spPr>
        <p:txBody>
          <a:bodyPr wrap="square" lIns="0" tIns="0" rIns="0" bIns="0" rtlCol="0" anchor="t"/>
          <a:lstStyle/>
          <a:p>
            <a:pPr indent="0" marL="0">
              <a:buNone/>
            </a:pPr>
            <a:r>
              <a:rPr lang="en-US" sz="5400" b="1" dirty="0">
                <a:solidFill>
                  <a:srgbClr val="FFFFFF"/>
                </a:solidFill>
                <a:latin typeface="Aptos" pitchFamily="34" charset="0"/>
                <a:ea typeface="Aptos" pitchFamily="34" charset="-122"/>
                <a:cs typeface="Aptos" pitchFamily="34" charset="-120"/>
              </a:rPr>
              <a:t>Ask Copilot first.</a:t>
            </a:r>
            <a:endParaRPr lang="en-US" sz="5400" dirty="0"/>
          </a:p>
        </p:txBody>
      </p:sp>
      <p:sp>
        <p:nvSpPr>
          <p:cNvPr id="7" name="Text 5"/>
          <p:cNvSpPr/>
          <p:nvPr/>
        </p:nvSpPr>
        <p:spPr>
          <a:xfrm>
            <a:off x="822960" y="2542032"/>
            <a:ext cx="9966960" cy="1005840"/>
          </a:xfrm>
          <a:prstGeom prst="rect">
            <a:avLst/>
          </a:prstGeom>
          <a:noFill/>
          <a:ln/>
        </p:spPr>
        <p:txBody>
          <a:bodyPr wrap="square" lIns="0" tIns="0" rIns="0" bIns="0" rtlCol="0" anchor="t"/>
          <a:lstStyle/>
          <a:p>
            <a:pPr indent="0" marL="0">
              <a:lnSpc>
                <a:spcPct val="120000"/>
              </a:lnSpc>
              <a:buNone/>
            </a:pPr>
            <a:r>
              <a:rPr lang="en-US" sz="1700" dirty="0">
                <a:solidFill>
                  <a:srgbClr val="AEB7DA"/>
                </a:solidFill>
                <a:latin typeface="Aptos" pitchFamily="34" charset="0"/>
                <a:ea typeface="Aptos" pitchFamily="34" charset="-122"/>
                <a:cs typeface="Aptos" pitchFamily="34" charset="-120"/>
              </a:rPr>
              <a:t>Whenever you have a question, a blank page, or something to catch up on, there is a good chance Copilot can help. Make it your first move, not your last resort. The leaders who get the most from it are simply the ones who think to ask.</a:t>
            </a:r>
            <a:endParaRPr lang="en-US" sz="1700" dirty="0"/>
          </a:p>
        </p:txBody>
      </p:sp>
      <p:sp>
        <p:nvSpPr>
          <p:cNvPr id="8" name="Shape 6"/>
          <p:cNvSpPr/>
          <p:nvPr/>
        </p:nvSpPr>
        <p:spPr>
          <a:xfrm>
            <a:off x="822960" y="3840480"/>
            <a:ext cx="3401568" cy="1371600"/>
          </a:xfrm>
          <a:prstGeom prst="roundRect">
            <a:avLst>
              <a:gd name="adj" fmla="val 6667"/>
            </a:avLst>
          </a:prstGeom>
          <a:solidFill>
            <a:srgbClr val="111C44"/>
          </a:solidFill>
          <a:ln w="12700">
            <a:solidFill>
              <a:srgbClr val="26326A"/>
            </a:solidFill>
            <a:prstDash val="solid"/>
          </a:ln>
        </p:spPr>
      </p:sp>
      <p:sp>
        <p:nvSpPr>
          <p:cNvPr id="9" name="Shape 7"/>
          <p:cNvSpPr/>
          <p:nvPr/>
        </p:nvSpPr>
        <p:spPr>
          <a:xfrm>
            <a:off x="1078992" y="4078224"/>
            <a:ext cx="548640" cy="548640"/>
          </a:xfrm>
          <a:prstGeom prst="ellipse">
            <a:avLst/>
          </a:prstGeom>
          <a:solidFill>
            <a:srgbClr val="16214F"/>
          </a:solidFill>
          <a:ln/>
          <a:effectLst>
            <a:outerShdw sx="100000" sy="100000" kx="0" ky="0" algn="bl" rotWithShape="0" blurRad="114300" dist="38100" dir="5400000">
              <a:srgbClr val="0B1437">
                <a:alpha val="10000"/>
              </a:srgbClr>
            </a:outerShdw>
          </a:effectLst>
        </p:spPr>
      </p:sp>
      <p:pic>
        <p:nvPicPr>
          <p:cNvPr id="10" name="Image 0" descr="preencoded.png">    </p:cNvPr>
          <p:cNvPicPr>
            <a:picLocks noChangeAspect="1"/>
          </p:cNvPicPr>
          <p:nvPr/>
        </p:nvPicPr>
        <p:blipFill>
          <a:blip r:embed="rId1"/>
          <a:stretch>
            <a:fillRect/>
          </a:stretch>
        </p:blipFill>
        <p:spPr>
          <a:xfrm>
            <a:off x="1243584" y="4242816"/>
            <a:ext cx="219456" cy="219456"/>
          </a:xfrm>
          <a:prstGeom prst="rect">
            <a:avLst/>
          </a:prstGeom>
        </p:spPr>
      </p:pic>
      <p:sp>
        <p:nvSpPr>
          <p:cNvPr id="11" name="Text 8"/>
          <p:cNvSpPr/>
          <p:nvPr/>
        </p:nvSpPr>
        <p:spPr>
          <a:xfrm>
            <a:off x="1078992" y="4681728"/>
            <a:ext cx="2944368" cy="292608"/>
          </a:xfrm>
          <a:prstGeom prst="rect">
            <a:avLst/>
          </a:prstGeom>
          <a:noFill/>
          <a:ln/>
        </p:spPr>
        <p:txBody>
          <a:bodyPr wrap="square" lIns="0" tIns="0" rIns="0" bIns="0" rtlCol="0" anchor="ctr"/>
          <a:lstStyle/>
          <a:p>
            <a:pPr indent="0" marL="0">
              <a:buNone/>
            </a:pPr>
            <a:r>
              <a:rPr lang="en-US" sz="1350" b="1" dirty="0">
                <a:solidFill>
                  <a:srgbClr val="FFFFFF"/>
                </a:solidFill>
                <a:latin typeface="Aptos" pitchFamily="34" charset="0"/>
                <a:ea typeface="Aptos" pitchFamily="34" charset="-122"/>
                <a:cs typeface="Aptos" pitchFamily="34" charset="-120"/>
              </a:rPr>
              <a:t>Before you search the web</a:t>
            </a:r>
            <a:endParaRPr lang="en-US" sz="1350" dirty="0"/>
          </a:p>
        </p:txBody>
      </p:sp>
      <p:sp>
        <p:nvSpPr>
          <p:cNvPr id="12" name="Text 9"/>
          <p:cNvSpPr/>
          <p:nvPr/>
        </p:nvSpPr>
        <p:spPr>
          <a:xfrm>
            <a:off x="1078992" y="4956048"/>
            <a:ext cx="2944368" cy="219456"/>
          </a:xfrm>
          <a:prstGeom prst="rect">
            <a:avLst/>
          </a:prstGeom>
          <a:noFill/>
          <a:ln/>
        </p:spPr>
        <p:txBody>
          <a:bodyPr wrap="square" lIns="0" tIns="0" rIns="0" bIns="0" rtlCol="0" anchor="ctr"/>
          <a:lstStyle/>
          <a:p>
            <a:pPr indent="0" marL="0">
              <a:buNone/>
            </a:pPr>
            <a:r>
              <a:rPr lang="en-US" sz="1100" dirty="0">
                <a:solidFill>
                  <a:srgbClr val="AEB7DA"/>
                </a:solidFill>
                <a:latin typeface="Aptos" pitchFamily="34" charset="0"/>
                <a:ea typeface="Aptos" pitchFamily="34" charset="-122"/>
                <a:cs typeface="Aptos" pitchFamily="34" charset="-120"/>
              </a:rPr>
              <a:t>Ask Copilot, grounded in your work.</a:t>
            </a:r>
            <a:endParaRPr lang="en-US" sz="1100" dirty="0"/>
          </a:p>
        </p:txBody>
      </p:sp>
      <p:sp>
        <p:nvSpPr>
          <p:cNvPr id="13" name="Shape 10"/>
          <p:cNvSpPr/>
          <p:nvPr/>
        </p:nvSpPr>
        <p:spPr>
          <a:xfrm>
            <a:off x="4398264" y="3840480"/>
            <a:ext cx="3401568" cy="1371600"/>
          </a:xfrm>
          <a:prstGeom prst="roundRect">
            <a:avLst>
              <a:gd name="adj" fmla="val 6667"/>
            </a:avLst>
          </a:prstGeom>
          <a:solidFill>
            <a:srgbClr val="111C44"/>
          </a:solidFill>
          <a:ln w="12700">
            <a:solidFill>
              <a:srgbClr val="26326A"/>
            </a:solidFill>
            <a:prstDash val="solid"/>
          </a:ln>
        </p:spPr>
      </p:sp>
      <p:sp>
        <p:nvSpPr>
          <p:cNvPr id="14" name="Shape 11"/>
          <p:cNvSpPr/>
          <p:nvPr/>
        </p:nvSpPr>
        <p:spPr>
          <a:xfrm>
            <a:off x="4654296" y="4078224"/>
            <a:ext cx="548640" cy="548640"/>
          </a:xfrm>
          <a:prstGeom prst="ellipse">
            <a:avLst/>
          </a:prstGeom>
          <a:solidFill>
            <a:srgbClr val="16214F"/>
          </a:solidFill>
          <a:ln/>
          <a:effectLst>
            <a:outerShdw sx="100000" sy="100000" kx="0" ky="0" algn="bl" rotWithShape="0" blurRad="114300" dist="38100" dir="5400000">
              <a:srgbClr val="0B1437">
                <a:alpha val="10000"/>
              </a:srgbClr>
            </a:outerShdw>
          </a:effectLst>
        </p:spPr>
      </p:sp>
      <p:pic>
        <p:nvPicPr>
          <p:cNvPr id="15" name="Image 1" descr="preencoded.png">    </p:cNvPr>
          <p:cNvPicPr>
            <a:picLocks noChangeAspect="1"/>
          </p:cNvPicPr>
          <p:nvPr/>
        </p:nvPicPr>
        <p:blipFill>
          <a:blip r:embed="rId2"/>
          <a:stretch>
            <a:fillRect/>
          </a:stretch>
        </p:blipFill>
        <p:spPr>
          <a:xfrm>
            <a:off x="4818888" y="4242816"/>
            <a:ext cx="219456" cy="219456"/>
          </a:xfrm>
          <a:prstGeom prst="rect">
            <a:avLst/>
          </a:prstGeom>
        </p:spPr>
      </p:pic>
      <p:sp>
        <p:nvSpPr>
          <p:cNvPr id="16" name="Text 12"/>
          <p:cNvSpPr/>
          <p:nvPr/>
        </p:nvSpPr>
        <p:spPr>
          <a:xfrm>
            <a:off x="4654296" y="4681728"/>
            <a:ext cx="2944368" cy="292608"/>
          </a:xfrm>
          <a:prstGeom prst="rect">
            <a:avLst/>
          </a:prstGeom>
          <a:noFill/>
          <a:ln/>
        </p:spPr>
        <p:txBody>
          <a:bodyPr wrap="square" lIns="0" tIns="0" rIns="0" bIns="0" rtlCol="0" anchor="ctr"/>
          <a:lstStyle/>
          <a:p>
            <a:pPr indent="0" marL="0">
              <a:buNone/>
            </a:pPr>
            <a:r>
              <a:rPr lang="en-US" sz="1350" b="1" dirty="0">
                <a:solidFill>
                  <a:srgbClr val="FFFFFF"/>
                </a:solidFill>
                <a:latin typeface="Aptos" pitchFamily="34" charset="0"/>
                <a:ea typeface="Aptos" pitchFamily="34" charset="-122"/>
                <a:cs typeface="Aptos" pitchFamily="34" charset="-120"/>
              </a:rPr>
              <a:t>Before you write from scratch</a:t>
            </a:r>
            <a:endParaRPr lang="en-US" sz="1350" dirty="0"/>
          </a:p>
        </p:txBody>
      </p:sp>
      <p:sp>
        <p:nvSpPr>
          <p:cNvPr id="17" name="Text 13"/>
          <p:cNvSpPr/>
          <p:nvPr/>
        </p:nvSpPr>
        <p:spPr>
          <a:xfrm>
            <a:off x="4654296" y="4956048"/>
            <a:ext cx="2944368" cy="219456"/>
          </a:xfrm>
          <a:prstGeom prst="rect">
            <a:avLst/>
          </a:prstGeom>
          <a:noFill/>
          <a:ln/>
        </p:spPr>
        <p:txBody>
          <a:bodyPr wrap="square" lIns="0" tIns="0" rIns="0" bIns="0" rtlCol="0" anchor="ctr"/>
          <a:lstStyle/>
          <a:p>
            <a:pPr indent="0" marL="0">
              <a:buNone/>
            </a:pPr>
            <a:r>
              <a:rPr lang="en-US" sz="1100" dirty="0">
                <a:solidFill>
                  <a:srgbClr val="AEB7DA"/>
                </a:solidFill>
                <a:latin typeface="Aptos" pitchFamily="34" charset="0"/>
                <a:ea typeface="Aptos" pitchFamily="34" charset="-122"/>
                <a:cs typeface="Aptos" pitchFamily="34" charset="-120"/>
              </a:rPr>
              <a:t>Have it draft the first version.</a:t>
            </a:r>
            <a:endParaRPr lang="en-US" sz="1100" dirty="0"/>
          </a:p>
        </p:txBody>
      </p:sp>
      <p:sp>
        <p:nvSpPr>
          <p:cNvPr id="18" name="Shape 14"/>
          <p:cNvSpPr/>
          <p:nvPr/>
        </p:nvSpPr>
        <p:spPr>
          <a:xfrm>
            <a:off x="7973568" y="3840480"/>
            <a:ext cx="3401568" cy="1371600"/>
          </a:xfrm>
          <a:prstGeom prst="roundRect">
            <a:avLst>
              <a:gd name="adj" fmla="val 6667"/>
            </a:avLst>
          </a:prstGeom>
          <a:solidFill>
            <a:srgbClr val="111C44"/>
          </a:solidFill>
          <a:ln w="12700">
            <a:solidFill>
              <a:srgbClr val="26326A"/>
            </a:solidFill>
            <a:prstDash val="solid"/>
          </a:ln>
        </p:spPr>
      </p:sp>
      <p:sp>
        <p:nvSpPr>
          <p:cNvPr id="19" name="Shape 15"/>
          <p:cNvSpPr/>
          <p:nvPr/>
        </p:nvSpPr>
        <p:spPr>
          <a:xfrm>
            <a:off x="8229600" y="4078224"/>
            <a:ext cx="548640" cy="548640"/>
          </a:xfrm>
          <a:prstGeom prst="ellipse">
            <a:avLst/>
          </a:prstGeom>
          <a:solidFill>
            <a:srgbClr val="16214F"/>
          </a:solidFill>
          <a:ln/>
          <a:effectLst>
            <a:outerShdw sx="100000" sy="100000" kx="0" ky="0" algn="bl" rotWithShape="0" blurRad="114300" dist="38100" dir="5400000">
              <a:srgbClr val="0B1437">
                <a:alpha val="10000"/>
              </a:srgbClr>
            </a:outerShdw>
          </a:effectLst>
        </p:spPr>
      </p:sp>
      <p:pic>
        <p:nvPicPr>
          <p:cNvPr id="20" name="Image 2" descr="preencoded.png">    </p:cNvPr>
          <p:cNvPicPr>
            <a:picLocks noChangeAspect="1"/>
          </p:cNvPicPr>
          <p:nvPr/>
        </p:nvPicPr>
        <p:blipFill>
          <a:blip r:embed="rId3"/>
          <a:stretch>
            <a:fillRect/>
          </a:stretch>
        </p:blipFill>
        <p:spPr>
          <a:xfrm>
            <a:off x="8394192" y="4242816"/>
            <a:ext cx="219456" cy="219456"/>
          </a:xfrm>
          <a:prstGeom prst="rect">
            <a:avLst/>
          </a:prstGeom>
        </p:spPr>
      </p:pic>
      <p:sp>
        <p:nvSpPr>
          <p:cNvPr id="21" name="Text 16"/>
          <p:cNvSpPr/>
          <p:nvPr/>
        </p:nvSpPr>
        <p:spPr>
          <a:xfrm>
            <a:off x="8229600" y="4681728"/>
            <a:ext cx="2944368" cy="292608"/>
          </a:xfrm>
          <a:prstGeom prst="rect">
            <a:avLst/>
          </a:prstGeom>
          <a:noFill/>
          <a:ln/>
        </p:spPr>
        <p:txBody>
          <a:bodyPr wrap="square" lIns="0" tIns="0" rIns="0" bIns="0" rtlCol="0" anchor="ctr"/>
          <a:lstStyle/>
          <a:p>
            <a:pPr indent="0" marL="0">
              <a:buNone/>
            </a:pPr>
            <a:r>
              <a:rPr lang="en-US" sz="1350" b="1" dirty="0">
                <a:solidFill>
                  <a:srgbClr val="FFFFFF"/>
                </a:solidFill>
                <a:latin typeface="Aptos" pitchFamily="34" charset="0"/>
                <a:ea typeface="Aptos" pitchFamily="34" charset="-122"/>
                <a:cs typeface="Aptos" pitchFamily="34" charset="-120"/>
              </a:rPr>
              <a:t>Before you dig through email</a:t>
            </a:r>
            <a:endParaRPr lang="en-US" sz="1350" dirty="0"/>
          </a:p>
        </p:txBody>
      </p:sp>
      <p:sp>
        <p:nvSpPr>
          <p:cNvPr id="22" name="Text 17"/>
          <p:cNvSpPr/>
          <p:nvPr/>
        </p:nvSpPr>
        <p:spPr>
          <a:xfrm>
            <a:off x="8229600" y="4956048"/>
            <a:ext cx="2944368" cy="219456"/>
          </a:xfrm>
          <a:prstGeom prst="rect">
            <a:avLst/>
          </a:prstGeom>
          <a:noFill/>
          <a:ln/>
        </p:spPr>
        <p:txBody>
          <a:bodyPr wrap="square" lIns="0" tIns="0" rIns="0" bIns="0" rtlCol="0" anchor="ctr"/>
          <a:lstStyle/>
          <a:p>
            <a:pPr indent="0" marL="0">
              <a:buNone/>
            </a:pPr>
            <a:r>
              <a:rPr lang="en-US" sz="1100" dirty="0">
                <a:solidFill>
                  <a:srgbClr val="AEB7DA"/>
                </a:solidFill>
                <a:latin typeface="Aptos" pitchFamily="34" charset="0"/>
                <a:ea typeface="Aptos" pitchFamily="34" charset="-122"/>
                <a:cs typeface="Aptos" pitchFamily="34" charset="-120"/>
              </a:rPr>
              <a:t>Ask what you missed and what needs you.</a:t>
            </a:r>
            <a:endParaRPr lang="en-US" sz="1100" dirty="0"/>
          </a:p>
        </p:txBody>
      </p:sp>
      <p:sp>
        <p:nvSpPr>
          <p:cNvPr id="23" name="Shape 18"/>
          <p:cNvSpPr/>
          <p:nvPr/>
        </p:nvSpPr>
        <p:spPr>
          <a:xfrm>
            <a:off x="822960" y="5468112"/>
            <a:ext cx="10515600" cy="603504"/>
          </a:xfrm>
          <a:prstGeom prst="roundRect">
            <a:avLst>
              <a:gd name="adj" fmla="val 50000"/>
            </a:avLst>
          </a:prstGeom>
          <a:solidFill>
            <a:srgbClr val="111C44"/>
          </a:solidFill>
          <a:ln w="12700">
            <a:solidFill>
              <a:srgbClr val="26326A"/>
            </a:solidFill>
            <a:prstDash val="solid"/>
          </a:ln>
        </p:spPr>
      </p:sp>
      <p:sp>
        <p:nvSpPr>
          <p:cNvPr id="24" name="Text 19"/>
          <p:cNvSpPr/>
          <p:nvPr/>
        </p:nvSpPr>
        <p:spPr>
          <a:xfrm>
            <a:off x="1097280" y="5468112"/>
            <a:ext cx="10058400" cy="603504"/>
          </a:xfrm>
          <a:prstGeom prst="rect">
            <a:avLst/>
          </a:prstGeom>
          <a:noFill/>
          <a:ln/>
        </p:spPr>
        <p:txBody>
          <a:bodyPr wrap="square" lIns="0" tIns="0" rIns="0" bIns="0" rtlCol="0" anchor="ctr"/>
          <a:lstStyle/>
          <a:p>
            <a:pPr algn="l" indent="0" marL="0">
              <a:buNone/>
            </a:pPr>
            <a:r>
              <a:rPr lang="en-US" sz="1400" b="1" dirty="0">
                <a:solidFill>
                  <a:srgbClr val="FFCB6B"/>
                </a:solidFill>
                <a:latin typeface="Consolas" pitchFamily="34" charset="0"/>
                <a:ea typeface="Consolas" pitchFamily="34" charset="-122"/>
                <a:cs typeface="Consolas" pitchFamily="34" charset="-120"/>
              </a:rPr>
              <a:t>›_  </a:t>
            </a:r>
            <a:pPr algn="l" indent="0" marL="0">
              <a:buNone/>
            </a:pPr>
            <a:r>
              <a:rPr lang="en-US" sz="1400" i="1" dirty="0">
                <a:solidFill>
                  <a:srgbClr val="9AA6D6"/>
                </a:solidFill>
                <a:latin typeface="Consolas" pitchFamily="34" charset="0"/>
                <a:ea typeface="Consolas" pitchFamily="34" charset="-122"/>
                <a:cs typeface="Consolas" pitchFamily="34" charset="-120"/>
              </a:rPr>
              <a:t>When in doubt, ask Copilot first, then apply your judgment.</a:t>
            </a:r>
            <a:endParaRPr lang="en-US" sz="1400" dirty="0"/>
          </a:p>
        </p:txBody>
      </p:sp>
      <p:sp>
        <p:nvSpPr>
          <p:cNvPr id="25" name="Text 20"/>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Microsoft 365 Copilot Premium  ·  Executive Working Session</a:t>
            </a:r>
            <a:endParaRPr lang="en-US" sz="900" dirty="0"/>
          </a:p>
        </p:txBody>
      </p:sp>
      <p:sp>
        <p:nvSpPr>
          <p:cNvPr id="26" name="Text 21"/>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E"/>
        </a:solidFill>
      </p:bgPr>
    </p:bg>
    <p:spTree>
      <p:nvGrpSpPr>
        <p:cNvPr id="1" name=""/>
        <p:cNvGrpSpPr/>
        <p:nvPr/>
      </p:nvGrpSpPr>
      <p:grpSpPr>
        <a:xfrm>
          <a:off x="0" y="0"/>
          <a:ext cx="0" cy="0"/>
          <a:chOff x="0" y="0"/>
          <a:chExt cx="0" cy="0"/>
        </a:xfrm>
      </p:grpSpPr>
      <p:sp>
        <p:nvSpPr>
          <p:cNvPr id="2" name="Text 0"/>
          <p:cNvSpPr/>
          <p:nvPr/>
        </p:nvSpPr>
        <p:spPr>
          <a:xfrm>
            <a:off x="822960" y="566928"/>
            <a:ext cx="8229600" cy="274320"/>
          </a:xfrm>
          <a:prstGeom prst="rect">
            <a:avLst/>
          </a:prstGeom>
          <a:noFill/>
          <a:ln/>
        </p:spPr>
        <p:txBody>
          <a:bodyPr wrap="square" lIns="0" tIns="0" rIns="0" bIns="0" rtlCol="0" anchor="ctr"/>
          <a:lstStyle/>
          <a:p>
            <a:pPr algn="l" indent="0" marL="0">
              <a:buNone/>
            </a:pPr>
            <a:r>
              <a:rPr lang="en-US" sz="1200" b="1" spc="300" kern="0" dirty="0">
                <a:solidFill>
                  <a:srgbClr val="2D6CDF"/>
                </a:solidFill>
                <a:latin typeface="Aptos" pitchFamily="34" charset="0"/>
                <a:ea typeface="Aptos" pitchFamily="34" charset="-122"/>
                <a:cs typeface="Aptos" pitchFamily="34" charset="-120"/>
              </a:rPr>
              <a:t>HOW TODAY WORKS</a:t>
            </a:r>
            <a:endParaRPr lang="en-US" sz="1200" dirty="0"/>
          </a:p>
        </p:txBody>
      </p:sp>
      <p:sp>
        <p:nvSpPr>
          <p:cNvPr id="3" name="Text 1"/>
          <p:cNvSpPr/>
          <p:nvPr/>
        </p:nvSpPr>
        <p:spPr>
          <a:xfrm>
            <a:off x="786384" y="868680"/>
            <a:ext cx="10972800" cy="594360"/>
          </a:xfrm>
          <a:prstGeom prst="rect">
            <a:avLst/>
          </a:prstGeom>
          <a:noFill/>
          <a:ln/>
        </p:spPr>
        <p:txBody>
          <a:bodyPr wrap="square" lIns="0" tIns="0" rIns="0" bIns="0" rtlCol="0" anchor="ctr"/>
          <a:lstStyle/>
          <a:p>
            <a:pPr indent="0" marL="0">
              <a:buNone/>
            </a:pPr>
            <a:r>
              <a:rPr lang="en-US" sz="3100" b="1" dirty="0">
                <a:solidFill>
                  <a:srgbClr val="0B1437"/>
                </a:solidFill>
                <a:latin typeface="Aptos" pitchFamily="34" charset="0"/>
                <a:ea typeface="Aptos" pitchFamily="34" charset="-122"/>
                <a:cs typeface="Aptos" pitchFamily="34" charset="-120"/>
              </a:rPr>
              <a:t>Three tiers, each one builds on the last</a:t>
            </a:r>
            <a:endParaRPr lang="en-US" sz="3100" dirty="0"/>
          </a:p>
        </p:txBody>
      </p:sp>
      <p:sp>
        <p:nvSpPr>
          <p:cNvPr id="4" name="Text 2"/>
          <p:cNvSpPr/>
          <p:nvPr/>
        </p:nvSpPr>
        <p:spPr>
          <a:xfrm>
            <a:off x="822960" y="1481328"/>
            <a:ext cx="10607040" cy="365760"/>
          </a:xfrm>
          <a:prstGeom prst="rect">
            <a:avLst/>
          </a:prstGeom>
          <a:noFill/>
          <a:ln/>
        </p:spPr>
        <p:txBody>
          <a:bodyPr wrap="square" lIns="0" tIns="0" rIns="0" bIns="0" rtlCol="0" anchor="ctr"/>
          <a:lstStyle/>
          <a:p>
            <a:pPr indent="0" marL="0">
              <a:buNone/>
            </a:pPr>
            <a:r>
              <a:rPr lang="en-US" sz="1400" dirty="0">
                <a:solidFill>
                  <a:srgbClr val="43507B"/>
                </a:solidFill>
                <a:latin typeface="Aptos" pitchFamily="34" charset="0"/>
                <a:ea typeface="Aptos" pitchFamily="34" charset="-122"/>
                <a:cs typeface="Aptos" pitchFamily="34" charset="-120"/>
              </a:rPr>
              <a:t>Start at the bottom. Every tier is useful on its own, and each one adds more leverage than the last.</a:t>
            </a:r>
            <a:endParaRPr lang="en-US" sz="1400" dirty="0"/>
          </a:p>
        </p:txBody>
      </p:sp>
      <p:sp>
        <p:nvSpPr>
          <p:cNvPr id="5" name="Shape 3"/>
          <p:cNvSpPr/>
          <p:nvPr/>
        </p:nvSpPr>
        <p:spPr>
          <a:xfrm>
            <a:off x="822960" y="2834640"/>
            <a:ext cx="3529584" cy="3108960"/>
          </a:xfrm>
          <a:prstGeom prst="roundRect">
            <a:avLst>
              <a:gd name="adj" fmla="val 294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6" name="Shape 4"/>
          <p:cNvSpPr/>
          <p:nvPr/>
        </p:nvSpPr>
        <p:spPr>
          <a:xfrm>
            <a:off x="822960" y="2834640"/>
            <a:ext cx="3529584" cy="128016"/>
          </a:xfrm>
          <a:prstGeom prst="rect">
            <a:avLst/>
          </a:prstGeom>
          <a:solidFill>
            <a:srgbClr val="2D6CDF"/>
          </a:solidFill>
          <a:ln/>
        </p:spPr>
      </p:sp>
      <p:sp>
        <p:nvSpPr>
          <p:cNvPr id="7" name="Shape 5"/>
          <p:cNvSpPr/>
          <p:nvPr/>
        </p:nvSpPr>
        <p:spPr>
          <a:xfrm>
            <a:off x="1097280" y="3200400"/>
            <a:ext cx="658368" cy="658368"/>
          </a:xfrm>
          <a:prstGeom prst="ellipse">
            <a:avLst/>
          </a:prstGeom>
          <a:solidFill>
            <a:srgbClr val="2D6CDF"/>
          </a:solidFill>
          <a:ln/>
        </p:spPr>
      </p:sp>
      <p:sp>
        <p:nvSpPr>
          <p:cNvPr id="8" name="Text 6"/>
          <p:cNvSpPr/>
          <p:nvPr/>
        </p:nvSpPr>
        <p:spPr>
          <a:xfrm>
            <a:off x="1097280" y="3200400"/>
            <a:ext cx="658368" cy="658368"/>
          </a:xfrm>
          <a:prstGeom prst="rect">
            <a:avLst/>
          </a:prstGeom>
          <a:noFill/>
          <a:ln/>
        </p:spPr>
        <p:txBody>
          <a:bodyPr wrap="square" lIns="0" tIns="0" rIns="0" bIns="0" rtlCol="0" anchor="ctr"/>
          <a:lstStyle/>
          <a:p>
            <a:pPr algn="ctr" indent="0" marL="0">
              <a:buNone/>
            </a:pPr>
            <a:r>
              <a:rPr lang="en-US" sz="3000" b="1" dirty="0">
                <a:solidFill>
                  <a:srgbClr val="FFFFFF"/>
                </a:solidFill>
                <a:latin typeface="Aptos" pitchFamily="34" charset="0"/>
                <a:ea typeface="Aptos" pitchFamily="34" charset="-122"/>
                <a:cs typeface="Aptos" pitchFamily="34" charset="-120"/>
              </a:rPr>
              <a:t>1</a:t>
            </a:r>
            <a:endParaRPr lang="en-US" sz="3000" dirty="0"/>
          </a:p>
        </p:txBody>
      </p:sp>
      <p:sp>
        <p:nvSpPr>
          <p:cNvPr id="9" name="Text 7"/>
          <p:cNvSpPr/>
          <p:nvPr/>
        </p:nvSpPr>
        <p:spPr>
          <a:xfrm>
            <a:off x="1920240" y="3236976"/>
            <a:ext cx="2249424" cy="274320"/>
          </a:xfrm>
          <a:prstGeom prst="rect">
            <a:avLst/>
          </a:prstGeom>
          <a:noFill/>
          <a:ln/>
        </p:spPr>
        <p:txBody>
          <a:bodyPr wrap="square" lIns="0" tIns="0" rIns="0" bIns="0" rtlCol="0" anchor="ctr"/>
          <a:lstStyle/>
          <a:p>
            <a:pPr indent="0" marL="0">
              <a:buNone/>
            </a:pPr>
            <a:r>
              <a:rPr lang="en-US" sz="1200" b="1" spc="200" kern="0" dirty="0">
                <a:solidFill>
                  <a:srgbClr val="2D6CDF"/>
                </a:solidFill>
                <a:latin typeface="Aptos" pitchFamily="34" charset="0"/>
                <a:ea typeface="Aptos" pitchFamily="34" charset="-122"/>
                <a:cs typeface="Aptos" pitchFamily="34" charset="-120"/>
              </a:rPr>
              <a:t>TIER 1</a:t>
            </a:r>
            <a:endParaRPr lang="en-US" sz="1200" dirty="0"/>
          </a:p>
        </p:txBody>
      </p:sp>
      <p:sp>
        <p:nvSpPr>
          <p:cNvPr id="10" name="Text 8"/>
          <p:cNvSpPr/>
          <p:nvPr/>
        </p:nvSpPr>
        <p:spPr>
          <a:xfrm>
            <a:off x="1920240" y="3493008"/>
            <a:ext cx="2249424" cy="365760"/>
          </a:xfrm>
          <a:prstGeom prst="rect">
            <a:avLst/>
          </a:prstGeom>
          <a:noFill/>
          <a:ln/>
        </p:spPr>
        <p:txBody>
          <a:bodyPr wrap="square" lIns="0" tIns="0" rIns="0" bIns="0" rtlCol="0" anchor="ctr"/>
          <a:lstStyle/>
          <a:p>
            <a:pPr indent="0" marL="0">
              <a:buNone/>
            </a:pPr>
            <a:r>
              <a:rPr lang="en-US" sz="1900" b="1" dirty="0">
                <a:solidFill>
                  <a:srgbClr val="0B1437"/>
                </a:solidFill>
                <a:latin typeface="Aptos" pitchFamily="34" charset="0"/>
                <a:ea typeface="Aptos" pitchFamily="34" charset="-122"/>
                <a:cs typeface="Aptos" pitchFamily="34" charset="-120"/>
              </a:rPr>
              <a:t>Foundations</a:t>
            </a:r>
            <a:endParaRPr lang="en-US" sz="1900" dirty="0"/>
          </a:p>
        </p:txBody>
      </p:sp>
      <p:sp>
        <p:nvSpPr>
          <p:cNvPr id="11" name="Text 9"/>
          <p:cNvSpPr/>
          <p:nvPr/>
        </p:nvSpPr>
        <p:spPr>
          <a:xfrm>
            <a:off x="1097280" y="4114800"/>
            <a:ext cx="2980944" cy="292608"/>
          </a:xfrm>
          <a:prstGeom prst="rect">
            <a:avLst/>
          </a:prstGeom>
          <a:noFill/>
          <a:ln/>
        </p:spPr>
        <p:txBody>
          <a:bodyPr wrap="square" lIns="0" tIns="0" rIns="0" bIns="0" rtlCol="0" anchor="ctr"/>
          <a:lstStyle/>
          <a:p>
            <a:pPr indent="0" marL="0">
              <a:buNone/>
            </a:pPr>
            <a:r>
              <a:rPr lang="en-US" sz="1300" b="1" i="1" dirty="0">
                <a:solidFill>
                  <a:srgbClr val="8A93B8"/>
                </a:solidFill>
                <a:latin typeface="Aptos" pitchFamily="34" charset="0"/>
                <a:ea typeface="Aptos" pitchFamily="34" charset="-122"/>
                <a:cs typeface="Aptos" pitchFamily="34" charset="-120"/>
              </a:rPr>
              <a:t>Use it and prompt well</a:t>
            </a:r>
            <a:endParaRPr lang="en-US" sz="1300" dirty="0"/>
          </a:p>
        </p:txBody>
      </p:sp>
      <p:sp>
        <p:nvSpPr>
          <p:cNvPr id="12" name="Shape 10"/>
          <p:cNvSpPr/>
          <p:nvPr/>
        </p:nvSpPr>
        <p:spPr>
          <a:xfrm>
            <a:off x="1133856" y="4572000"/>
            <a:ext cx="128016" cy="128016"/>
          </a:xfrm>
          <a:prstGeom prst="ellipse">
            <a:avLst/>
          </a:prstGeom>
          <a:solidFill>
            <a:srgbClr val="2D6CDF"/>
          </a:solidFill>
          <a:ln/>
        </p:spPr>
      </p:sp>
      <p:sp>
        <p:nvSpPr>
          <p:cNvPr id="13" name="Text 11"/>
          <p:cNvSpPr/>
          <p:nvPr/>
        </p:nvSpPr>
        <p:spPr>
          <a:xfrm>
            <a:off x="1371600" y="448056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Where to find Copilot, and is it safe</a:t>
            </a:r>
            <a:endParaRPr lang="en-US" sz="1200" dirty="0"/>
          </a:p>
        </p:txBody>
      </p:sp>
      <p:sp>
        <p:nvSpPr>
          <p:cNvPr id="14" name="Shape 12"/>
          <p:cNvSpPr/>
          <p:nvPr/>
        </p:nvSpPr>
        <p:spPr>
          <a:xfrm>
            <a:off x="1133856" y="5029200"/>
            <a:ext cx="128016" cy="128016"/>
          </a:xfrm>
          <a:prstGeom prst="ellipse">
            <a:avLst/>
          </a:prstGeom>
          <a:solidFill>
            <a:srgbClr val="2D6CDF"/>
          </a:solidFill>
          <a:ln/>
        </p:spPr>
      </p:sp>
      <p:sp>
        <p:nvSpPr>
          <p:cNvPr id="15" name="Text 13"/>
          <p:cNvSpPr/>
          <p:nvPr/>
        </p:nvSpPr>
        <p:spPr>
          <a:xfrm>
            <a:off x="1371600" y="493776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Your first 5-minute win, then by app</a:t>
            </a:r>
            <a:endParaRPr lang="en-US" sz="1200" dirty="0"/>
          </a:p>
        </p:txBody>
      </p:sp>
      <p:sp>
        <p:nvSpPr>
          <p:cNvPr id="16" name="Shape 14"/>
          <p:cNvSpPr/>
          <p:nvPr/>
        </p:nvSpPr>
        <p:spPr>
          <a:xfrm>
            <a:off x="1133856" y="5486400"/>
            <a:ext cx="128016" cy="128016"/>
          </a:xfrm>
          <a:prstGeom prst="ellipse">
            <a:avLst/>
          </a:prstGeom>
          <a:solidFill>
            <a:srgbClr val="2D6CDF"/>
          </a:solidFill>
          <a:ln/>
        </p:spPr>
      </p:sp>
      <p:sp>
        <p:nvSpPr>
          <p:cNvPr id="17" name="Text 15"/>
          <p:cNvSpPr/>
          <p:nvPr/>
        </p:nvSpPr>
        <p:spPr>
          <a:xfrm>
            <a:off x="1371600" y="539496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A second set of eyes on your work</a:t>
            </a:r>
            <a:endParaRPr lang="en-US" sz="1200" dirty="0"/>
          </a:p>
        </p:txBody>
      </p:sp>
      <p:sp>
        <p:nvSpPr>
          <p:cNvPr id="18" name="Shape 16"/>
          <p:cNvSpPr/>
          <p:nvPr/>
        </p:nvSpPr>
        <p:spPr>
          <a:xfrm>
            <a:off x="4517136" y="2560320"/>
            <a:ext cx="3529584" cy="3383280"/>
          </a:xfrm>
          <a:prstGeom prst="roundRect">
            <a:avLst>
              <a:gd name="adj" fmla="val 2703"/>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9" name="Shape 17"/>
          <p:cNvSpPr/>
          <p:nvPr/>
        </p:nvSpPr>
        <p:spPr>
          <a:xfrm>
            <a:off x="4517136" y="2560320"/>
            <a:ext cx="3529584" cy="128016"/>
          </a:xfrm>
          <a:prstGeom prst="rect">
            <a:avLst/>
          </a:prstGeom>
          <a:solidFill>
            <a:srgbClr val="7C5CFC"/>
          </a:solidFill>
          <a:ln/>
        </p:spPr>
      </p:sp>
      <p:sp>
        <p:nvSpPr>
          <p:cNvPr id="20" name="Shape 18"/>
          <p:cNvSpPr/>
          <p:nvPr/>
        </p:nvSpPr>
        <p:spPr>
          <a:xfrm>
            <a:off x="4791456" y="2926080"/>
            <a:ext cx="658368" cy="658368"/>
          </a:xfrm>
          <a:prstGeom prst="ellipse">
            <a:avLst/>
          </a:prstGeom>
          <a:solidFill>
            <a:srgbClr val="7C5CFC"/>
          </a:solidFill>
          <a:ln/>
        </p:spPr>
      </p:sp>
      <p:sp>
        <p:nvSpPr>
          <p:cNvPr id="21" name="Text 19"/>
          <p:cNvSpPr/>
          <p:nvPr/>
        </p:nvSpPr>
        <p:spPr>
          <a:xfrm>
            <a:off x="4791456" y="2926080"/>
            <a:ext cx="658368" cy="658368"/>
          </a:xfrm>
          <a:prstGeom prst="rect">
            <a:avLst/>
          </a:prstGeom>
          <a:noFill/>
          <a:ln/>
        </p:spPr>
        <p:txBody>
          <a:bodyPr wrap="square" lIns="0" tIns="0" rIns="0" bIns="0" rtlCol="0" anchor="ctr"/>
          <a:lstStyle/>
          <a:p>
            <a:pPr algn="ctr" indent="0" marL="0">
              <a:buNone/>
            </a:pPr>
            <a:r>
              <a:rPr lang="en-US" sz="3000" b="1" dirty="0">
                <a:solidFill>
                  <a:srgbClr val="FFFFFF"/>
                </a:solidFill>
                <a:latin typeface="Aptos" pitchFamily="34" charset="0"/>
                <a:ea typeface="Aptos" pitchFamily="34" charset="-122"/>
                <a:cs typeface="Aptos" pitchFamily="34" charset="-120"/>
              </a:rPr>
              <a:t>2</a:t>
            </a:r>
            <a:endParaRPr lang="en-US" sz="3000" dirty="0"/>
          </a:p>
        </p:txBody>
      </p:sp>
      <p:sp>
        <p:nvSpPr>
          <p:cNvPr id="22" name="Text 20"/>
          <p:cNvSpPr/>
          <p:nvPr/>
        </p:nvSpPr>
        <p:spPr>
          <a:xfrm>
            <a:off x="5614416" y="2962656"/>
            <a:ext cx="2249424" cy="274320"/>
          </a:xfrm>
          <a:prstGeom prst="rect">
            <a:avLst/>
          </a:prstGeom>
          <a:noFill/>
          <a:ln/>
        </p:spPr>
        <p:txBody>
          <a:bodyPr wrap="square" lIns="0" tIns="0" rIns="0" bIns="0" rtlCol="0" anchor="ctr"/>
          <a:lstStyle/>
          <a:p>
            <a:pPr indent="0" marL="0">
              <a:buNone/>
            </a:pPr>
            <a:r>
              <a:rPr lang="en-US" sz="1200" b="1" spc="200" kern="0" dirty="0">
                <a:solidFill>
                  <a:srgbClr val="7C5CFC"/>
                </a:solidFill>
                <a:latin typeface="Aptos" pitchFamily="34" charset="0"/>
                <a:ea typeface="Aptos" pitchFamily="34" charset="-122"/>
                <a:cs typeface="Aptos" pitchFamily="34" charset="-120"/>
              </a:rPr>
              <a:t>TIER 2</a:t>
            </a:r>
            <a:endParaRPr lang="en-US" sz="1200" dirty="0"/>
          </a:p>
        </p:txBody>
      </p:sp>
      <p:sp>
        <p:nvSpPr>
          <p:cNvPr id="23" name="Text 21"/>
          <p:cNvSpPr/>
          <p:nvPr/>
        </p:nvSpPr>
        <p:spPr>
          <a:xfrm>
            <a:off x="5614416" y="3218688"/>
            <a:ext cx="2249424" cy="365760"/>
          </a:xfrm>
          <a:prstGeom prst="rect">
            <a:avLst/>
          </a:prstGeom>
          <a:noFill/>
          <a:ln/>
        </p:spPr>
        <p:txBody>
          <a:bodyPr wrap="square" lIns="0" tIns="0" rIns="0" bIns="0" rtlCol="0" anchor="ctr"/>
          <a:lstStyle/>
          <a:p>
            <a:pPr indent="0" marL="0">
              <a:buNone/>
            </a:pPr>
            <a:r>
              <a:rPr lang="en-US" sz="1900" b="1" dirty="0">
                <a:solidFill>
                  <a:srgbClr val="0B1437"/>
                </a:solidFill>
                <a:latin typeface="Aptos" pitchFamily="34" charset="0"/>
                <a:ea typeface="Aptos" pitchFamily="34" charset="-122"/>
                <a:cs typeface="Aptos" pitchFamily="34" charset="-120"/>
              </a:rPr>
              <a:t>Deeper value</a:t>
            </a:r>
            <a:endParaRPr lang="en-US" sz="1900" dirty="0"/>
          </a:p>
        </p:txBody>
      </p:sp>
      <p:sp>
        <p:nvSpPr>
          <p:cNvPr id="24" name="Text 22"/>
          <p:cNvSpPr/>
          <p:nvPr/>
        </p:nvSpPr>
        <p:spPr>
          <a:xfrm>
            <a:off x="4791456" y="3840480"/>
            <a:ext cx="2980944" cy="292608"/>
          </a:xfrm>
          <a:prstGeom prst="rect">
            <a:avLst/>
          </a:prstGeom>
          <a:noFill/>
          <a:ln/>
        </p:spPr>
        <p:txBody>
          <a:bodyPr wrap="square" lIns="0" tIns="0" rIns="0" bIns="0" rtlCol="0" anchor="ctr"/>
          <a:lstStyle/>
          <a:p>
            <a:pPr indent="0" marL="0">
              <a:buNone/>
            </a:pPr>
            <a:r>
              <a:rPr lang="en-US" sz="1300" b="1" i="1" dirty="0">
                <a:solidFill>
                  <a:srgbClr val="8A93B8"/>
                </a:solidFill>
                <a:latin typeface="Aptos" pitchFamily="34" charset="0"/>
                <a:ea typeface="Aptos" pitchFamily="34" charset="-122"/>
                <a:cs typeface="Aptos" pitchFamily="34" charset="-120"/>
              </a:rPr>
              <a:t>Premium reasoning agents</a:t>
            </a:r>
            <a:endParaRPr lang="en-US" sz="1300" dirty="0"/>
          </a:p>
        </p:txBody>
      </p:sp>
      <p:sp>
        <p:nvSpPr>
          <p:cNvPr id="25" name="Shape 23"/>
          <p:cNvSpPr/>
          <p:nvPr/>
        </p:nvSpPr>
        <p:spPr>
          <a:xfrm>
            <a:off x="4828032" y="4297680"/>
            <a:ext cx="128016" cy="128016"/>
          </a:xfrm>
          <a:prstGeom prst="ellipse">
            <a:avLst/>
          </a:prstGeom>
          <a:solidFill>
            <a:srgbClr val="7C5CFC"/>
          </a:solidFill>
          <a:ln/>
        </p:spPr>
      </p:sp>
      <p:sp>
        <p:nvSpPr>
          <p:cNvPr id="26" name="Text 24"/>
          <p:cNvSpPr/>
          <p:nvPr/>
        </p:nvSpPr>
        <p:spPr>
          <a:xfrm>
            <a:off x="5065776" y="420624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Researcher: your strategy analyst</a:t>
            </a:r>
            <a:endParaRPr lang="en-US" sz="1200" dirty="0"/>
          </a:p>
        </p:txBody>
      </p:sp>
      <p:sp>
        <p:nvSpPr>
          <p:cNvPr id="27" name="Shape 25"/>
          <p:cNvSpPr/>
          <p:nvPr/>
        </p:nvSpPr>
        <p:spPr>
          <a:xfrm>
            <a:off x="4828032" y="4754880"/>
            <a:ext cx="128016" cy="128016"/>
          </a:xfrm>
          <a:prstGeom prst="ellipse">
            <a:avLst/>
          </a:prstGeom>
          <a:solidFill>
            <a:srgbClr val="7C5CFC"/>
          </a:solidFill>
          <a:ln/>
        </p:spPr>
      </p:sp>
      <p:sp>
        <p:nvSpPr>
          <p:cNvPr id="28" name="Text 26"/>
          <p:cNvSpPr/>
          <p:nvPr/>
        </p:nvSpPr>
        <p:spPr>
          <a:xfrm>
            <a:off x="5065776" y="466344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Analyst: your data scientist</a:t>
            </a:r>
            <a:endParaRPr lang="en-US" sz="1200" dirty="0"/>
          </a:p>
        </p:txBody>
      </p:sp>
      <p:sp>
        <p:nvSpPr>
          <p:cNvPr id="29" name="Shape 27"/>
          <p:cNvSpPr/>
          <p:nvPr/>
        </p:nvSpPr>
        <p:spPr>
          <a:xfrm>
            <a:off x="4828032" y="5212080"/>
            <a:ext cx="128016" cy="128016"/>
          </a:xfrm>
          <a:prstGeom prst="ellipse">
            <a:avLst/>
          </a:prstGeom>
          <a:solidFill>
            <a:srgbClr val="7C5CFC"/>
          </a:solidFill>
          <a:ln/>
        </p:spPr>
      </p:sp>
      <p:sp>
        <p:nvSpPr>
          <p:cNvPr id="30" name="Text 28"/>
          <p:cNvSpPr/>
          <p:nvPr/>
        </p:nvSpPr>
        <p:spPr>
          <a:xfrm>
            <a:off x="5065776" y="512064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Board-ready thinking in minutes</a:t>
            </a:r>
            <a:endParaRPr lang="en-US" sz="1200" dirty="0"/>
          </a:p>
        </p:txBody>
      </p:sp>
      <p:sp>
        <p:nvSpPr>
          <p:cNvPr id="31" name="Shape 29"/>
          <p:cNvSpPr/>
          <p:nvPr/>
        </p:nvSpPr>
        <p:spPr>
          <a:xfrm>
            <a:off x="8211312" y="2286000"/>
            <a:ext cx="3529584" cy="3657600"/>
          </a:xfrm>
          <a:prstGeom prst="roundRect">
            <a:avLst>
              <a:gd name="adj" fmla="val 259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32" name="Shape 30"/>
          <p:cNvSpPr/>
          <p:nvPr/>
        </p:nvSpPr>
        <p:spPr>
          <a:xfrm>
            <a:off x="8211312" y="2286000"/>
            <a:ext cx="3529584" cy="128016"/>
          </a:xfrm>
          <a:prstGeom prst="rect">
            <a:avLst/>
          </a:prstGeom>
          <a:solidFill>
            <a:srgbClr val="F0A500"/>
          </a:solidFill>
          <a:ln/>
        </p:spPr>
      </p:sp>
      <p:sp>
        <p:nvSpPr>
          <p:cNvPr id="33" name="Shape 31"/>
          <p:cNvSpPr/>
          <p:nvPr/>
        </p:nvSpPr>
        <p:spPr>
          <a:xfrm>
            <a:off x="8485632" y="2651760"/>
            <a:ext cx="658368" cy="658368"/>
          </a:xfrm>
          <a:prstGeom prst="ellipse">
            <a:avLst/>
          </a:prstGeom>
          <a:solidFill>
            <a:srgbClr val="F0A500"/>
          </a:solidFill>
          <a:ln/>
        </p:spPr>
      </p:sp>
      <p:sp>
        <p:nvSpPr>
          <p:cNvPr id="34" name="Text 32"/>
          <p:cNvSpPr/>
          <p:nvPr/>
        </p:nvSpPr>
        <p:spPr>
          <a:xfrm>
            <a:off x="8485632" y="2651760"/>
            <a:ext cx="658368" cy="658368"/>
          </a:xfrm>
          <a:prstGeom prst="rect">
            <a:avLst/>
          </a:prstGeom>
          <a:noFill/>
          <a:ln/>
        </p:spPr>
        <p:txBody>
          <a:bodyPr wrap="square" lIns="0" tIns="0" rIns="0" bIns="0" rtlCol="0" anchor="ctr"/>
          <a:lstStyle/>
          <a:p>
            <a:pPr algn="ctr" indent="0" marL="0">
              <a:buNone/>
            </a:pPr>
            <a:r>
              <a:rPr lang="en-US" sz="3000" b="1" dirty="0">
                <a:solidFill>
                  <a:srgbClr val="FFFFFF"/>
                </a:solidFill>
                <a:latin typeface="Aptos" pitchFamily="34" charset="0"/>
                <a:ea typeface="Aptos" pitchFamily="34" charset="-122"/>
                <a:cs typeface="Aptos" pitchFamily="34" charset="-120"/>
              </a:rPr>
              <a:t>3</a:t>
            </a:r>
            <a:endParaRPr lang="en-US" sz="3000" dirty="0"/>
          </a:p>
        </p:txBody>
      </p:sp>
      <p:sp>
        <p:nvSpPr>
          <p:cNvPr id="35" name="Text 33"/>
          <p:cNvSpPr/>
          <p:nvPr/>
        </p:nvSpPr>
        <p:spPr>
          <a:xfrm>
            <a:off x="9308592" y="2688336"/>
            <a:ext cx="2249424" cy="274320"/>
          </a:xfrm>
          <a:prstGeom prst="rect">
            <a:avLst/>
          </a:prstGeom>
          <a:noFill/>
          <a:ln/>
        </p:spPr>
        <p:txBody>
          <a:bodyPr wrap="square" lIns="0" tIns="0" rIns="0" bIns="0" rtlCol="0" anchor="ctr"/>
          <a:lstStyle/>
          <a:p>
            <a:pPr indent="0" marL="0">
              <a:buNone/>
            </a:pPr>
            <a:r>
              <a:rPr lang="en-US" sz="1200" b="1" spc="200" kern="0" dirty="0">
                <a:solidFill>
                  <a:srgbClr val="F0A500"/>
                </a:solidFill>
                <a:latin typeface="Aptos" pitchFamily="34" charset="0"/>
                <a:ea typeface="Aptos" pitchFamily="34" charset="-122"/>
                <a:cs typeface="Aptos" pitchFamily="34" charset="-120"/>
              </a:rPr>
              <a:t>TIER 3</a:t>
            </a:r>
            <a:endParaRPr lang="en-US" sz="1200" dirty="0"/>
          </a:p>
        </p:txBody>
      </p:sp>
      <p:sp>
        <p:nvSpPr>
          <p:cNvPr id="36" name="Text 34"/>
          <p:cNvSpPr/>
          <p:nvPr/>
        </p:nvSpPr>
        <p:spPr>
          <a:xfrm>
            <a:off x="9308592" y="2944368"/>
            <a:ext cx="2249424" cy="365760"/>
          </a:xfrm>
          <a:prstGeom prst="rect">
            <a:avLst/>
          </a:prstGeom>
          <a:noFill/>
          <a:ln/>
        </p:spPr>
        <p:txBody>
          <a:bodyPr wrap="square" lIns="0" tIns="0" rIns="0" bIns="0" rtlCol="0" anchor="ctr"/>
          <a:lstStyle/>
          <a:p>
            <a:pPr indent="0" marL="0">
              <a:buNone/>
            </a:pPr>
            <a:r>
              <a:rPr lang="en-US" sz="1900" b="1" dirty="0">
                <a:solidFill>
                  <a:srgbClr val="0B1437"/>
                </a:solidFill>
                <a:latin typeface="Aptos" pitchFamily="34" charset="0"/>
                <a:ea typeface="Aptos" pitchFamily="34" charset="-122"/>
                <a:cs typeface="Aptos" pitchFamily="34" charset="-120"/>
              </a:rPr>
              <a:t>Build your own</a:t>
            </a:r>
            <a:endParaRPr lang="en-US" sz="1900" dirty="0"/>
          </a:p>
        </p:txBody>
      </p:sp>
      <p:sp>
        <p:nvSpPr>
          <p:cNvPr id="37" name="Text 35"/>
          <p:cNvSpPr/>
          <p:nvPr/>
        </p:nvSpPr>
        <p:spPr>
          <a:xfrm>
            <a:off x="8485632" y="3566160"/>
            <a:ext cx="2980944" cy="292608"/>
          </a:xfrm>
          <a:prstGeom prst="rect">
            <a:avLst/>
          </a:prstGeom>
          <a:noFill/>
          <a:ln/>
        </p:spPr>
        <p:txBody>
          <a:bodyPr wrap="square" lIns="0" tIns="0" rIns="0" bIns="0" rtlCol="0" anchor="ctr"/>
          <a:lstStyle/>
          <a:p>
            <a:pPr indent="0" marL="0">
              <a:buNone/>
            </a:pPr>
            <a:r>
              <a:rPr lang="en-US" sz="1300" b="1" i="1" dirty="0">
                <a:solidFill>
                  <a:srgbClr val="8A93B8"/>
                </a:solidFill>
                <a:latin typeface="Aptos" pitchFamily="34" charset="0"/>
                <a:ea typeface="Aptos" pitchFamily="34" charset="-122"/>
                <a:cs typeface="Aptos" pitchFamily="34" charset="-120"/>
              </a:rPr>
              <a:t>Copilot that comes to you</a:t>
            </a:r>
            <a:endParaRPr lang="en-US" sz="1300" dirty="0"/>
          </a:p>
        </p:txBody>
      </p:sp>
      <p:sp>
        <p:nvSpPr>
          <p:cNvPr id="38" name="Shape 36"/>
          <p:cNvSpPr/>
          <p:nvPr/>
        </p:nvSpPr>
        <p:spPr>
          <a:xfrm>
            <a:off x="8522208" y="4023360"/>
            <a:ext cx="128016" cy="128016"/>
          </a:xfrm>
          <a:prstGeom prst="ellipse">
            <a:avLst/>
          </a:prstGeom>
          <a:solidFill>
            <a:srgbClr val="F0A500"/>
          </a:solidFill>
          <a:ln/>
        </p:spPr>
      </p:sp>
      <p:sp>
        <p:nvSpPr>
          <p:cNvPr id="39" name="Text 37"/>
          <p:cNvSpPr/>
          <p:nvPr/>
        </p:nvSpPr>
        <p:spPr>
          <a:xfrm>
            <a:off x="8759952" y="393192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Personalize it to sound like you</a:t>
            </a:r>
            <a:endParaRPr lang="en-US" sz="1200" dirty="0"/>
          </a:p>
        </p:txBody>
      </p:sp>
      <p:sp>
        <p:nvSpPr>
          <p:cNvPr id="40" name="Shape 38"/>
          <p:cNvSpPr/>
          <p:nvPr/>
        </p:nvSpPr>
        <p:spPr>
          <a:xfrm>
            <a:off x="8522208" y="4480560"/>
            <a:ext cx="128016" cy="128016"/>
          </a:xfrm>
          <a:prstGeom prst="ellipse">
            <a:avLst/>
          </a:prstGeom>
          <a:solidFill>
            <a:srgbClr val="F0A500"/>
          </a:solidFill>
          <a:ln/>
        </p:spPr>
      </p:sp>
      <p:sp>
        <p:nvSpPr>
          <p:cNvPr id="41" name="Text 39"/>
          <p:cNvSpPr/>
          <p:nvPr/>
        </p:nvSpPr>
        <p:spPr>
          <a:xfrm>
            <a:off x="8759952" y="438912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Build a Chief of Staff agent</a:t>
            </a:r>
            <a:endParaRPr lang="en-US" sz="1200" dirty="0"/>
          </a:p>
        </p:txBody>
      </p:sp>
      <p:sp>
        <p:nvSpPr>
          <p:cNvPr id="42" name="Shape 40"/>
          <p:cNvSpPr/>
          <p:nvPr/>
        </p:nvSpPr>
        <p:spPr>
          <a:xfrm>
            <a:off x="8522208" y="4937760"/>
            <a:ext cx="128016" cy="128016"/>
          </a:xfrm>
          <a:prstGeom prst="ellipse">
            <a:avLst/>
          </a:prstGeom>
          <a:solidFill>
            <a:srgbClr val="F0A500"/>
          </a:solidFill>
          <a:ln/>
        </p:spPr>
      </p:sp>
      <p:sp>
        <p:nvSpPr>
          <p:cNvPr id="43" name="Text 41"/>
          <p:cNvSpPr/>
          <p:nvPr/>
        </p:nvSpPr>
        <p:spPr>
          <a:xfrm>
            <a:off x="8759952" y="4846320"/>
            <a:ext cx="2724912" cy="402336"/>
          </a:xfrm>
          <a:prstGeom prst="rect">
            <a:avLst/>
          </a:prstGeom>
          <a:noFill/>
          <a:ln/>
        </p:spPr>
        <p:txBody>
          <a:bodyPr wrap="square" lIns="0" tIns="0" rIns="0" bIns="0" rtlCol="0" anchor="t"/>
          <a:lstStyle/>
          <a:p>
            <a:pPr indent="0" marL="0">
              <a:lnSpc>
                <a:spcPct val="104000"/>
              </a:lnSpc>
              <a:buNone/>
            </a:pPr>
            <a:r>
              <a:rPr lang="en-US" sz="1200" dirty="0">
                <a:solidFill>
                  <a:srgbClr val="43507B"/>
                </a:solidFill>
                <a:latin typeface="Aptos" pitchFamily="34" charset="0"/>
                <a:ea typeface="Aptos" pitchFamily="34" charset="-122"/>
                <a:cs typeface="Aptos" pitchFamily="34" charset="-120"/>
              </a:rPr>
              <a:t>Put a morning brief on a schedule</a:t>
            </a:r>
            <a:endParaRPr lang="en-US" sz="1200" dirty="0"/>
          </a:p>
        </p:txBody>
      </p:sp>
      <p:sp>
        <p:nvSpPr>
          <p:cNvPr id="44" name="Text 42"/>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Microsoft 365 Copilot Premium  ·  Executive Working Session</a:t>
            </a:r>
            <a:endParaRPr lang="en-US" sz="900" dirty="0"/>
          </a:p>
        </p:txBody>
      </p:sp>
      <p:sp>
        <p:nvSpPr>
          <p:cNvPr id="45" name="Text 43"/>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437"/>
        </a:solidFill>
      </p:bgPr>
    </p:bg>
    <p:spTree>
      <p:nvGrpSpPr>
        <p:cNvPr id="1" name=""/>
        <p:cNvGrpSpPr/>
        <p:nvPr/>
      </p:nvGrpSpPr>
      <p:grpSpPr>
        <a:xfrm>
          <a:off x="0" y="0"/>
          <a:ext cx="0" cy="0"/>
          <a:chOff x="0" y="0"/>
          <a:chExt cx="0" cy="0"/>
        </a:xfrm>
      </p:grpSpPr>
      <p:sp>
        <p:nvSpPr>
          <p:cNvPr id="2" name="Shape 0"/>
          <p:cNvSpPr/>
          <p:nvPr/>
        </p:nvSpPr>
        <p:spPr>
          <a:xfrm>
            <a:off x="8778240" y="-2194560"/>
            <a:ext cx="5943600" cy="5943600"/>
          </a:xfrm>
          <a:prstGeom prst="ellipse">
            <a:avLst/>
          </a:prstGeom>
          <a:solidFill>
            <a:srgbClr val="2D6CDF">
              <a:alpha val="14000"/>
            </a:srgbClr>
          </a:solidFill>
          <a:ln/>
        </p:spPr>
      </p:sp>
      <p:sp>
        <p:nvSpPr>
          <p:cNvPr id="3" name="Shape 1"/>
          <p:cNvSpPr/>
          <p:nvPr/>
        </p:nvSpPr>
        <p:spPr>
          <a:xfrm>
            <a:off x="10241280" y="3291840"/>
            <a:ext cx="4754880" cy="4754880"/>
          </a:xfrm>
          <a:prstGeom prst="ellipse">
            <a:avLst/>
          </a:prstGeom>
          <a:solidFill>
            <a:srgbClr val="7C5CFC">
              <a:alpha val="12000"/>
            </a:srgbClr>
          </a:solidFill>
          <a:ln/>
        </p:spPr>
      </p:sp>
      <p:sp>
        <p:nvSpPr>
          <p:cNvPr id="4" name="Shape 2"/>
          <p:cNvSpPr/>
          <p:nvPr/>
        </p:nvSpPr>
        <p:spPr>
          <a:xfrm>
            <a:off x="0" y="0"/>
            <a:ext cx="146304" cy="6858000"/>
          </a:xfrm>
          <a:prstGeom prst="rect">
            <a:avLst/>
          </a:prstGeom>
          <a:solidFill>
            <a:srgbClr val="2D6CDF"/>
          </a:solidFill>
          <a:ln/>
        </p:spPr>
      </p:sp>
      <p:sp>
        <p:nvSpPr>
          <p:cNvPr id="5" name="Shape 3"/>
          <p:cNvSpPr/>
          <p:nvPr/>
        </p:nvSpPr>
        <p:spPr>
          <a:xfrm>
            <a:off x="868680" y="2148840"/>
            <a:ext cx="2377440" cy="1371600"/>
          </a:xfrm>
          <a:prstGeom prst="roundRect">
            <a:avLst>
              <a:gd name="adj" fmla="val 8000"/>
            </a:avLst>
          </a:prstGeom>
          <a:solidFill>
            <a:srgbClr val="111C44"/>
          </a:solidFill>
          <a:ln w="19050">
            <a:solidFill>
              <a:srgbClr val="2D6CDF"/>
            </a:solidFill>
            <a:prstDash val="solid"/>
          </a:ln>
        </p:spPr>
      </p:sp>
      <p:sp>
        <p:nvSpPr>
          <p:cNvPr id="6" name="Text 4"/>
          <p:cNvSpPr/>
          <p:nvPr/>
        </p:nvSpPr>
        <p:spPr>
          <a:xfrm>
            <a:off x="868680" y="2331720"/>
            <a:ext cx="2377440" cy="365760"/>
          </a:xfrm>
          <a:prstGeom prst="rect">
            <a:avLst/>
          </a:prstGeom>
          <a:noFill/>
          <a:ln/>
        </p:spPr>
        <p:txBody>
          <a:bodyPr wrap="square" lIns="0" tIns="0" rIns="0" bIns="0" rtlCol="0" anchor="ctr"/>
          <a:lstStyle/>
          <a:p>
            <a:pPr algn="ctr" indent="0" marL="0">
              <a:buNone/>
            </a:pPr>
            <a:r>
              <a:rPr lang="en-US" sz="1500" b="1" spc="400" kern="0" dirty="0">
                <a:solidFill>
                  <a:srgbClr val="7FB0FF"/>
                </a:solidFill>
                <a:latin typeface="Aptos" pitchFamily="34" charset="0"/>
                <a:ea typeface="Aptos" pitchFamily="34" charset="-122"/>
                <a:cs typeface="Aptos" pitchFamily="34" charset="-120"/>
              </a:rPr>
              <a:t>TIER</a:t>
            </a:r>
            <a:endParaRPr lang="en-US" sz="1500" dirty="0"/>
          </a:p>
        </p:txBody>
      </p:sp>
      <p:sp>
        <p:nvSpPr>
          <p:cNvPr id="7" name="Text 5"/>
          <p:cNvSpPr/>
          <p:nvPr/>
        </p:nvSpPr>
        <p:spPr>
          <a:xfrm>
            <a:off x="868680" y="2578608"/>
            <a:ext cx="2377440" cy="868680"/>
          </a:xfrm>
          <a:prstGeom prst="rect">
            <a:avLst/>
          </a:prstGeom>
          <a:noFill/>
          <a:ln/>
        </p:spPr>
        <p:txBody>
          <a:bodyPr wrap="square" lIns="0" tIns="0" rIns="0" bIns="0" rtlCol="0" anchor="ctr"/>
          <a:lstStyle/>
          <a:p>
            <a:pPr algn="ctr" indent="0" marL="0">
              <a:buNone/>
            </a:pPr>
            <a:r>
              <a:rPr lang="en-US" sz="6000" b="1" dirty="0">
                <a:solidFill>
                  <a:srgbClr val="FFFFFF"/>
                </a:solidFill>
                <a:latin typeface="Aptos" pitchFamily="34" charset="0"/>
                <a:ea typeface="Aptos" pitchFamily="34" charset="-122"/>
                <a:cs typeface="Aptos" pitchFamily="34" charset="-120"/>
              </a:rPr>
              <a:t>1</a:t>
            </a:r>
            <a:endParaRPr lang="en-US" sz="6000" dirty="0"/>
          </a:p>
        </p:txBody>
      </p:sp>
      <p:sp>
        <p:nvSpPr>
          <p:cNvPr id="8" name="Text 6"/>
          <p:cNvSpPr/>
          <p:nvPr/>
        </p:nvSpPr>
        <p:spPr>
          <a:xfrm>
            <a:off x="3520440" y="2286000"/>
            <a:ext cx="7863840" cy="320040"/>
          </a:xfrm>
          <a:prstGeom prst="rect">
            <a:avLst/>
          </a:prstGeom>
          <a:noFill/>
          <a:ln/>
        </p:spPr>
        <p:txBody>
          <a:bodyPr wrap="square" lIns="0" tIns="0" rIns="0" bIns="0" rtlCol="0" anchor="ctr"/>
          <a:lstStyle/>
          <a:p>
            <a:pPr indent="0" marL="0">
              <a:buNone/>
            </a:pPr>
            <a:r>
              <a:rPr lang="en-US" sz="1300" b="1" spc="300" kern="0" dirty="0">
                <a:solidFill>
                  <a:srgbClr val="7FB0FF"/>
                </a:solidFill>
                <a:latin typeface="Aptos" pitchFamily="34" charset="0"/>
                <a:ea typeface="Aptos" pitchFamily="34" charset="-122"/>
                <a:cs typeface="Aptos" pitchFamily="34" charset="-120"/>
              </a:rPr>
              <a:t>TIER 1 · FOUNDATIONS</a:t>
            </a:r>
            <a:endParaRPr lang="en-US" sz="1300" dirty="0"/>
          </a:p>
        </p:txBody>
      </p:sp>
      <p:sp>
        <p:nvSpPr>
          <p:cNvPr id="9" name="Text 7"/>
          <p:cNvSpPr/>
          <p:nvPr/>
        </p:nvSpPr>
        <p:spPr>
          <a:xfrm>
            <a:off x="3474720" y="2606040"/>
            <a:ext cx="8046720" cy="1280160"/>
          </a:xfrm>
          <a:prstGeom prst="rect">
            <a:avLst/>
          </a:prstGeom>
          <a:noFill/>
          <a:ln/>
        </p:spPr>
        <p:txBody>
          <a:bodyPr wrap="square" lIns="0" tIns="0" rIns="0" bIns="0" rtlCol="0" anchor="t"/>
          <a:lstStyle/>
          <a:p>
            <a:pPr indent="0" marL="0">
              <a:lnSpc>
                <a:spcPct val="100000"/>
              </a:lnSpc>
              <a:buNone/>
            </a:pPr>
            <a:r>
              <a:rPr lang="en-US" sz="3400" b="1" dirty="0">
                <a:solidFill>
                  <a:srgbClr val="FFFFFF"/>
                </a:solidFill>
                <a:latin typeface="Aptos" pitchFamily="34" charset="0"/>
                <a:ea typeface="Aptos" pitchFamily="34" charset="-122"/>
                <a:cs typeface="Aptos" pitchFamily="34" charset="-120"/>
              </a:rPr>
              <a:t>Use Copilot, and prompt like you mean it</a:t>
            </a:r>
            <a:endParaRPr lang="en-US" sz="3400" dirty="0"/>
          </a:p>
        </p:txBody>
      </p:sp>
      <p:sp>
        <p:nvSpPr>
          <p:cNvPr id="10" name="Text 8"/>
          <p:cNvSpPr/>
          <p:nvPr/>
        </p:nvSpPr>
        <p:spPr>
          <a:xfrm>
            <a:off x="3520440" y="3886200"/>
            <a:ext cx="7772400" cy="914400"/>
          </a:xfrm>
          <a:prstGeom prst="rect">
            <a:avLst/>
          </a:prstGeom>
          <a:noFill/>
          <a:ln/>
        </p:spPr>
        <p:txBody>
          <a:bodyPr wrap="square" lIns="0" tIns="0" rIns="0" bIns="0" rtlCol="0" anchor="t"/>
          <a:lstStyle/>
          <a:p>
            <a:pPr indent="0" marL="0">
              <a:lnSpc>
                <a:spcPct val="116000"/>
              </a:lnSpc>
              <a:buNone/>
            </a:pPr>
            <a:r>
              <a:rPr lang="en-US" sz="1550" dirty="0">
                <a:solidFill>
                  <a:srgbClr val="AEB7DA"/>
                </a:solidFill>
                <a:latin typeface="Aptos" pitchFamily="34" charset="0"/>
                <a:ea typeface="Aptos" pitchFamily="34" charset="-122"/>
                <a:cs typeface="Aptos" pitchFamily="34" charset="-120"/>
              </a:rPr>
              <a:t>Find it, trust it, and give it a clear job. This tier alone gets your time back.</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2D6CDF"/>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1</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2D6CDF"/>
                </a:solidFill>
                <a:latin typeface="Aptos" pitchFamily="34" charset="0"/>
                <a:ea typeface="Aptos" pitchFamily="34" charset="-122"/>
                <a:cs typeface="Aptos" pitchFamily="34" charset="-120"/>
              </a:rPr>
              <a:t>WHY THIS MATTERS</a:t>
            </a:r>
            <a:endParaRPr lang="en-US" sz="1200" dirty="0"/>
          </a:p>
        </p:txBody>
      </p:sp>
      <p:sp>
        <p:nvSpPr>
          <p:cNvPr id="5" name="Text 3"/>
          <p:cNvSpPr/>
          <p:nvPr/>
        </p:nvSpPr>
        <p:spPr>
          <a:xfrm>
            <a:off x="786384" y="914400"/>
            <a:ext cx="10789920" cy="594360"/>
          </a:xfrm>
          <a:prstGeom prst="rect">
            <a:avLst/>
          </a:prstGeom>
          <a:noFill/>
          <a:ln/>
        </p:spPr>
        <p:txBody>
          <a:bodyPr wrap="square" lIns="0" tIns="0" rIns="0" bIns="0" rtlCol="0" anchor="ctr"/>
          <a:lstStyle/>
          <a:p>
            <a:pPr indent="0" marL="0">
              <a:buNone/>
            </a:pPr>
            <a:r>
              <a:rPr lang="en-US" sz="3100" b="1" dirty="0">
                <a:solidFill>
                  <a:srgbClr val="0B1437"/>
                </a:solidFill>
                <a:latin typeface="Aptos" pitchFamily="34" charset="0"/>
                <a:ea typeface="Aptos" pitchFamily="34" charset="-122"/>
                <a:cs typeface="Aptos" pitchFamily="34" charset="-120"/>
              </a:rPr>
              <a:t>Most of your day goes to keeping up</a:t>
            </a:r>
            <a:endParaRPr lang="en-US" sz="3100" dirty="0"/>
          </a:p>
        </p:txBody>
      </p:sp>
      <p:sp>
        <p:nvSpPr>
          <p:cNvPr id="6" name="Text 4"/>
          <p:cNvSpPr/>
          <p:nvPr/>
        </p:nvSpPr>
        <p:spPr>
          <a:xfrm>
            <a:off x="822960" y="1517904"/>
            <a:ext cx="10607040" cy="777240"/>
          </a:xfrm>
          <a:prstGeom prst="rect">
            <a:avLst/>
          </a:prstGeom>
          <a:noFill/>
          <a:ln/>
        </p:spPr>
        <p:txBody>
          <a:bodyPr wrap="square" lIns="0" tIns="0" rIns="0" bIns="0" rtlCol="0" anchor="ctr"/>
          <a:lstStyle/>
          <a:p>
            <a:pPr indent="0" marL="0">
              <a:lnSpc>
                <a:spcPct val="116000"/>
              </a:lnSpc>
              <a:buNone/>
            </a:pPr>
            <a:r>
              <a:rPr lang="en-US" sz="1450" dirty="0">
                <a:solidFill>
                  <a:srgbClr val="43507B"/>
                </a:solidFill>
                <a:latin typeface="Aptos" pitchFamily="34" charset="0"/>
                <a:ea typeface="Aptos" pitchFamily="34" charset="-122"/>
                <a:cs typeface="Aptos" pitchFamily="34" charset="-120"/>
              </a:rPr>
              <a:t>Your inbox, meetings, and documents already hold more than you can read. Copilot Premium does the reading, drafting, and prep, so your time goes to judgment and direction. Premium matters because it works from your actual work, not the public web.</a:t>
            </a:r>
            <a:endParaRPr lang="en-US" sz="1450" dirty="0"/>
          </a:p>
        </p:txBody>
      </p:sp>
      <p:sp>
        <p:nvSpPr>
          <p:cNvPr id="7" name="Shape 5"/>
          <p:cNvSpPr/>
          <p:nvPr/>
        </p:nvSpPr>
        <p:spPr>
          <a:xfrm>
            <a:off x="822960" y="2450592"/>
            <a:ext cx="5175504" cy="1517904"/>
          </a:xfrm>
          <a:prstGeom prst="roundRect">
            <a:avLst>
              <a:gd name="adj" fmla="val 4819"/>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8" name="Shape 6"/>
          <p:cNvSpPr/>
          <p:nvPr/>
        </p:nvSpPr>
        <p:spPr>
          <a:xfrm>
            <a:off x="1097280" y="2724912"/>
            <a:ext cx="658368" cy="658368"/>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9" name="Image 0" descr="preencoded.png">    </p:cNvPr>
          <p:cNvPicPr>
            <a:picLocks noChangeAspect="1"/>
          </p:cNvPicPr>
          <p:nvPr/>
        </p:nvPicPr>
        <p:blipFill>
          <a:blip r:embed="rId1"/>
          <a:stretch>
            <a:fillRect/>
          </a:stretch>
        </p:blipFill>
        <p:spPr>
          <a:xfrm>
            <a:off x="1294790" y="2922422"/>
            <a:ext cx="263347" cy="263347"/>
          </a:xfrm>
          <a:prstGeom prst="rect">
            <a:avLst/>
          </a:prstGeom>
        </p:spPr>
      </p:pic>
      <p:sp>
        <p:nvSpPr>
          <p:cNvPr id="10" name="Text 7"/>
          <p:cNvSpPr/>
          <p:nvPr/>
        </p:nvSpPr>
        <p:spPr>
          <a:xfrm>
            <a:off x="1965960" y="2706624"/>
            <a:ext cx="3803904" cy="310896"/>
          </a:xfrm>
          <a:prstGeom prst="rect">
            <a:avLst/>
          </a:prstGeom>
          <a:noFill/>
          <a:ln/>
        </p:spPr>
        <p:txBody>
          <a:bodyPr wrap="square" lIns="0" tIns="0" rIns="0" bIns="0" rtlCol="0" anchor="ctr"/>
          <a:lstStyle/>
          <a:p>
            <a:pPr indent="0" marL="0">
              <a:buNone/>
            </a:pPr>
            <a:r>
              <a:rPr lang="en-US" sz="1600" b="1" dirty="0">
                <a:solidFill>
                  <a:srgbClr val="0B1437"/>
                </a:solidFill>
                <a:latin typeface="Aptos" pitchFamily="34" charset="0"/>
                <a:ea typeface="Aptos" pitchFamily="34" charset="-122"/>
                <a:cs typeface="Aptos" pitchFamily="34" charset="-120"/>
              </a:rPr>
              <a:t>It knows your work</a:t>
            </a:r>
            <a:endParaRPr lang="en-US" sz="1600" dirty="0"/>
          </a:p>
        </p:txBody>
      </p:sp>
      <p:sp>
        <p:nvSpPr>
          <p:cNvPr id="11" name="Text 8"/>
          <p:cNvSpPr/>
          <p:nvPr/>
        </p:nvSpPr>
        <p:spPr>
          <a:xfrm>
            <a:off x="1965960" y="3054096"/>
            <a:ext cx="3758184" cy="822960"/>
          </a:xfrm>
          <a:prstGeom prst="rect">
            <a:avLst/>
          </a:prstGeom>
          <a:noFill/>
          <a:ln/>
        </p:spPr>
        <p:txBody>
          <a:bodyPr wrap="square" lIns="0" tIns="0" rIns="0" bIns="0" rtlCol="0" anchor="t"/>
          <a:lstStyle/>
          <a:p>
            <a:pPr indent="0" marL="0">
              <a:lnSpc>
                <a:spcPct val="112000"/>
              </a:lnSpc>
              <a:buNone/>
            </a:pPr>
            <a:r>
              <a:rPr lang="en-US" sz="1250" dirty="0">
                <a:solidFill>
                  <a:srgbClr val="43507B"/>
                </a:solidFill>
                <a:latin typeface="Aptos" pitchFamily="34" charset="0"/>
                <a:ea typeface="Aptos" pitchFamily="34" charset="-122"/>
                <a:cs typeface="Aptos" pitchFamily="34" charset="-120"/>
              </a:rPr>
              <a:t>Ask about a thread, customer, or document by name. It reads across your Microsoft 365 content.</a:t>
            </a:r>
            <a:endParaRPr lang="en-US" sz="1250" dirty="0"/>
          </a:p>
        </p:txBody>
      </p:sp>
      <p:sp>
        <p:nvSpPr>
          <p:cNvPr id="12" name="Shape 9"/>
          <p:cNvSpPr/>
          <p:nvPr/>
        </p:nvSpPr>
        <p:spPr>
          <a:xfrm>
            <a:off x="6163056" y="2450592"/>
            <a:ext cx="5175504" cy="1517904"/>
          </a:xfrm>
          <a:prstGeom prst="roundRect">
            <a:avLst>
              <a:gd name="adj" fmla="val 4819"/>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3" name="Shape 10"/>
          <p:cNvSpPr/>
          <p:nvPr/>
        </p:nvSpPr>
        <p:spPr>
          <a:xfrm>
            <a:off x="6437376" y="2724912"/>
            <a:ext cx="658368" cy="658368"/>
          </a:xfrm>
          <a:prstGeom prst="ellipse">
            <a:avLst/>
          </a:prstGeom>
          <a:solidFill>
            <a:srgbClr val="7C5CFC"/>
          </a:solidFill>
          <a:ln/>
          <a:effectLst>
            <a:outerShdw sx="100000" sy="100000" kx="0" ky="0" algn="bl" rotWithShape="0" blurRad="114300" dist="38100" dir="5400000">
              <a:srgbClr val="0B1437">
                <a:alpha val="10000"/>
              </a:srgbClr>
            </a:outerShdw>
          </a:effectLst>
        </p:spPr>
      </p:sp>
      <p:pic>
        <p:nvPicPr>
          <p:cNvPr id="14" name="Image 1" descr="preencoded.png">    </p:cNvPr>
          <p:cNvPicPr>
            <a:picLocks noChangeAspect="1"/>
          </p:cNvPicPr>
          <p:nvPr/>
        </p:nvPicPr>
        <p:blipFill>
          <a:blip r:embed="rId2"/>
          <a:stretch>
            <a:fillRect/>
          </a:stretch>
        </p:blipFill>
        <p:spPr>
          <a:xfrm>
            <a:off x="6634886" y="2922422"/>
            <a:ext cx="263347" cy="263347"/>
          </a:xfrm>
          <a:prstGeom prst="rect">
            <a:avLst/>
          </a:prstGeom>
        </p:spPr>
      </p:pic>
      <p:sp>
        <p:nvSpPr>
          <p:cNvPr id="15" name="Text 11"/>
          <p:cNvSpPr/>
          <p:nvPr/>
        </p:nvSpPr>
        <p:spPr>
          <a:xfrm>
            <a:off x="7306056" y="2706624"/>
            <a:ext cx="3803904" cy="310896"/>
          </a:xfrm>
          <a:prstGeom prst="rect">
            <a:avLst/>
          </a:prstGeom>
          <a:noFill/>
          <a:ln/>
        </p:spPr>
        <p:txBody>
          <a:bodyPr wrap="square" lIns="0" tIns="0" rIns="0" bIns="0" rtlCol="0" anchor="ctr"/>
          <a:lstStyle/>
          <a:p>
            <a:pPr indent="0" marL="0">
              <a:buNone/>
            </a:pPr>
            <a:r>
              <a:rPr lang="en-US" sz="1600" b="1" dirty="0">
                <a:solidFill>
                  <a:srgbClr val="0B1437"/>
                </a:solidFill>
                <a:latin typeface="Aptos" pitchFamily="34" charset="0"/>
                <a:ea typeface="Aptos" pitchFamily="34" charset="-122"/>
                <a:cs typeface="Aptos" pitchFamily="34" charset="-120"/>
              </a:rPr>
              <a:t>It works where you work</a:t>
            </a:r>
            <a:endParaRPr lang="en-US" sz="1600" dirty="0"/>
          </a:p>
        </p:txBody>
      </p:sp>
      <p:sp>
        <p:nvSpPr>
          <p:cNvPr id="16" name="Text 12"/>
          <p:cNvSpPr/>
          <p:nvPr/>
        </p:nvSpPr>
        <p:spPr>
          <a:xfrm>
            <a:off x="7306056" y="3054096"/>
            <a:ext cx="3758184" cy="822960"/>
          </a:xfrm>
          <a:prstGeom prst="rect">
            <a:avLst/>
          </a:prstGeom>
          <a:noFill/>
          <a:ln/>
        </p:spPr>
        <p:txBody>
          <a:bodyPr wrap="square" lIns="0" tIns="0" rIns="0" bIns="0" rtlCol="0" anchor="t"/>
          <a:lstStyle/>
          <a:p>
            <a:pPr indent="0" marL="0">
              <a:lnSpc>
                <a:spcPct val="112000"/>
              </a:lnSpc>
              <a:buNone/>
            </a:pPr>
            <a:r>
              <a:rPr lang="en-US" sz="1250" dirty="0">
                <a:solidFill>
                  <a:srgbClr val="43507B"/>
                </a:solidFill>
                <a:latin typeface="Aptos" pitchFamily="34" charset="0"/>
                <a:ea typeface="Aptos" pitchFamily="34" charset="-122"/>
                <a:cs typeface="Aptos" pitchFamily="34" charset="-120"/>
              </a:rPr>
              <a:t>Built into Outlook, Word, Excel, PowerPoint, Teams, and one Copilot Chat front door.</a:t>
            </a:r>
            <a:endParaRPr lang="en-US" sz="1250" dirty="0"/>
          </a:p>
        </p:txBody>
      </p:sp>
      <p:sp>
        <p:nvSpPr>
          <p:cNvPr id="17" name="Shape 13"/>
          <p:cNvSpPr/>
          <p:nvPr/>
        </p:nvSpPr>
        <p:spPr>
          <a:xfrm>
            <a:off x="822960" y="4151376"/>
            <a:ext cx="5175504" cy="1517904"/>
          </a:xfrm>
          <a:prstGeom prst="roundRect">
            <a:avLst>
              <a:gd name="adj" fmla="val 4819"/>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8" name="Shape 14"/>
          <p:cNvSpPr/>
          <p:nvPr/>
        </p:nvSpPr>
        <p:spPr>
          <a:xfrm>
            <a:off x="1097280" y="4425696"/>
            <a:ext cx="658368" cy="658368"/>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19" name="Image 2" descr="preencoded.png">    </p:cNvPr>
          <p:cNvPicPr>
            <a:picLocks noChangeAspect="1"/>
          </p:cNvPicPr>
          <p:nvPr/>
        </p:nvPicPr>
        <p:blipFill>
          <a:blip r:embed="rId3"/>
          <a:stretch>
            <a:fillRect/>
          </a:stretch>
        </p:blipFill>
        <p:spPr>
          <a:xfrm>
            <a:off x="1294790" y="4623206"/>
            <a:ext cx="263347" cy="263347"/>
          </a:xfrm>
          <a:prstGeom prst="rect">
            <a:avLst/>
          </a:prstGeom>
        </p:spPr>
      </p:pic>
      <p:sp>
        <p:nvSpPr>
          <p:cNvPr id="20" name="Text 15"/>
          <p:cNvSpPr/>
          <p:nvPr/>
        </p:nvSpPr>
        <p:spPr>
          <a:xfrm>
            <a:off x="1965960" y="4407408"/>
            <a:ext cx="3803904" cy="310896"/>
          </a:xfrm>
          <a:prstGeom prst="rect">
            <a:avLst/>
          </a:prstGeom>
          <a:noFill/>
          <a:ln/>
        </p:spPr>
        <p:txBody>
          <a:bodyPr wrap="square" lIns="0" tIns="0" rIns="0" bIns="0" rtlCol="0" anchor="ctr"/>
          <a:lstStyle/>
          <a:p>
            <a:pPr indent="0" marL="0">
              <a:buNone/>
            </a:pPr>
            <a:r>
              <a:rPr lang="en-US" sz="1600" b="1" dirty="0">
                <a:solidFill>
                  <a:srgbClr val="0B1437"/>
                </a:solidFill>
                <a:latin typeface="Aptos" pitchFamily="34" charset="0"/>
                <a:ea typeface="Aptos" pitchFamily="34" charset="-122"/>
                <a:cs typeface="Aptos" pitchFamily="34" charset="-120"/>
              </a:rPr>
              <a:t>It sounds like you</a:t>
            </a:r>
            <a:endParaRPr lang="en-US" sz="1600" dirty="0"/>
          </a:p>
        </p:txBody>
      </p:sp>
      <p:sp>
        <p:nvSpPr>
          <p:cNvPr id="21" name="Text 16"/>
          <p:cNvSpPr/>
          <p:nvPr/>
        </p:nvSpPr>
        <p:spPr>
          <a:xfrm>
            <a:off x="1965960" y="4754880"/>
            <a:ext cx="3758184" cy="822960"/>
          </a:xfrm>
          <a:prstGeom prst="rect">
            <a:avLst/>
          </a:prstGeom>
          <a:noFill/>
          <a:ln/>
        </p:spPr>
        <p:txBody>
          <a:bodyPr wrap="square" lIns="0" tIns="0" rIns="0" bIns="0" rtlCol="0" anchor="t"/>
          <a:lstStyle/>
          <a:p>
            <a:pPr indent="0" marL="0">
              <a:lnSpc>
                <a:spcPct val="112000"/>
              </a:lnSpc>
              <a:buNone/>
            </a:pPr>
            <a:r>
              <a:rPr lang="en-US" sz="1250" dirty="0">
                <a:solidFill>
                  <a:srgbClr val="43507B"/>
                </a:solidFill>
                <a:latin typeface="Aptos" pitchFamily="34" charset="0"/>
                <a:ea typeface="Aptos" pitchFamily="34" charset="-122"/>
                <a:cs typeface="Aptos" pitchFamily="34" charset="-120"/>
              </a:rPr>
              <a:t>Set it up once and it drafts in your voice, so less of what it produces needs a rewrite.</a:t>
            </a:r>
            <a:endParaRPr lang="en-US" sz="1250" dirty="0"/>
          </a:p>
        </p:txBody>
      </p:sp>
      <p:sp>
        <p:nvSpPr>
          <p:cNvPr id="22" name="Shape 17"/>
          <p:cNvSpPr/>
          <p:nvPr/>
        </p:nvSpPr>
        <p:spPr>
          <a:xfrm>
            <a:off x="6163056" y="4151376"/>
            <a:ext cx="5175504" cy="1517904"/>
          </a:xfrm>
          <a:prstGeom prst="roundRect">
            <a:avLst>
              <a:gd name="adj" fmla="val 4819"/>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3" name="Shape 18"/>
          <p:cNvSpPr/>
          <p:nvPr/>
        </p:nvSpPr>
        <p:spPr>
          <a:xfrm>
            <a:off x="6437376" y="4425696"/>
            <a:ext cx="658368" cy="658368"/>
          </a:xfrm>
          <a:prstGeom prst="ellipse">
            <a:avLst/>
          </a:prstGeom>
          <a:solidFill>
            <a:srgbClr val="12B5BC"/>
          </a:solidFill>
          <a:ln/>
          <a:effectLst>
            <a:outerShdw sx="100000" sy="100000" kx="0" ky="0" algn="bl" rotWithShape="0" blurRad="114300" dist="38100" dir="5400000">
              <a:srgbClr val="0B1437">
                <a:alpha val="10000"/>
              </a:srgbClr>
            </a:outerShdw>
          </a:effectLst>
        </p:spPr>
      </p:sp>
      <p:pic>
        <p:nvPicPr>
          <p:cNvPr id="24" name="Image 3" descr="preencoded.png">    </p:cNvPr>
          <p:cNvPicPr>
            <a:picLocks noChangeAspect="1"/>
          </p:cNvPicPr>
          <p:nvPr/>
        </p:nvPicPr>
        <p:blipFill>
          <a:blip r:embed="rId4"/>
          <a:stretch>
            <a:fillRect/>
          </a:stretch>
        </p:blipFill>
        <p:spPr>
          <a:xfrm>
            <a:off x="6634886" y="4623206"/>
            <a:ext cx="263347" cy="263347"/>
          </a:xfrm>
          <a:prstGeom prst="rect">
            <a:avLst/>
          </a:prstGeom>
        </p:spPr>
      </p:pic>
      <p:sp>
        <p:nvSpPr>
          <p:cNvPr id="25" name="Text 19"/>
          <p:cNvSpPr/>
          <p:nvPr/>
        </p:nvSpPr>
        <p:spPr>
          <a:xfrm>
            <a:off x="7306056" y="4407408"/>
            <a:ext cx="3803904" cy="310896"/>
          </a:xfrm>
          <a:prstGeom prst="rect">
            <a:avLst/>
          </a:prstGeom>
          <a:noFill/>
          <a:ln/>
        </p:spPr>
        <p:txBody>
          <a:bodyPr wrap="square" lIns="0" tIns="0" rIns="0" bIns="0" rtlCol="0" anchor="ctr"/>
          <a:lstStyle/>
          <a:p>
            <a:pPr indent="0" marL="0">
              <a:buNone/>
            </a:pPr>
            <a:r>
              <a:rPr lang="en-US" sz="1600" b="1" dirty="0">
                <a:solidFill>
                  <a:srgbClr val="0B1437"/>
                </a:solidFill>
                <a:latin typeface="Aptos" pitchFamily="34" charset="0"/>
                <a:ea typeface="Aptos" pitchFamily="34" charset="-122"/>
                <a:cs typeface="Aptos" pitchFamily="34" charset="-120"/>
              </a:rPr>
              <a:t>It stays private</a:t>
            </a:r>
            <a:endParaRPr lang="en-US" sz="1600" dirty="0"/>
          </a:p>
        </p:txBody>
      </p:sp>
      <p:sp>
        <p:nvSpPr>
          <p:cNvPr id="26" name="Text 20"/>
          <p:cNvSpPr/>
          <p:nvPr/>
        </p:nvSpPr>
        <p:spPr>
          <a:xfrm>
            <a:off x="7306056" y="4754880"/>
            <a:ext cx="3758184" cy="822960"/>
          </a:xfrm>
          <a:prstGeom prst="rect">
            <a:avLst/>
          </a:prstGeom>
          <a:noFill/>
          <a:ln/>
        </p:spPr>
        <p:txBody>
          <a:bodyPr wrap="square" lIns="0" tIns="0" rIns="0" bIns="0" rtlCol="0" anchor="t"/>
          <a:lstStyle/>
          <a:p>
            <a:pPr indent="0" marL="0">
              <a:lnSpc>
                <a:spcPct val="112000"/>
              </a:lnSpc>
              <a:buNone/>
            </a:pPr>
            <a:r>
              <a:rPr lang="en-US" sz="1250" dirty="0">
                <a:solidFill>
                  <a:srgbClr val="43507B"/>
                </a:solidFill>
                <a:latin typeface="Aptos" pitchFamily="34" charset="0"/>
                <a:ea typeface="Aptos" pitchFamily="34" charset="-122"/>
                <a:cs typeface="Aptos" pitchFamily="34" charset="-120"/>
              </a:rPr>
              <a:t>Your prompts and data stay inside your tenant under enterprise protection. More next.</a:t>
            </a:r>
            <a:endParaRPr lang="en-US" sz="1250" dirty="0"/>
          </a:p>
        </p:txBody>
      </p:sp>
      <p:sp>
        <p:nvSpPr>
          <p:cNvPr id="27" name="Text 21"/>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1 · Foundations</a:t>
            </a:r>
            <a:endParaRPr lang="en-US" sz="900" dirty="0"/>
          </a:p>
        </p:txBody>
      </p:sp>
      <p:sp>
        <p:nvSpPr>
          <p:cNvPr id="28" name="Text 22"/>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2D6CDF"/>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1</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2D6CDF"/>
                </a:solidFill>
                <a:latin typeface="Aptos" pitchFamily="34" charset="0"/>
                <a:ea typeface="Aptos" pitchFamily="34" charset="-122"/>
                <a:cs typeface="Aptos" pitchFamily="34" charset="-120"/>
              </a:rPr>
              <a:t>IS MY DATA SAFE?</a:t>
            </a:r>
            <a:endParaRPr lang="en-US" sz="1200" dirty="0"/>
          </a:p>
        </p:txBody>
      </p:sp>
      <p:sp>
        <p:nvSpPr>
          <p:cNvPr id="5" name="Text 3"/>
          <p:cNvSpPr/>
          <p:nvPr/>
        </p:nvSpPr>
        <p:spPr>
          <a:xfrm>
            <a:off x="786384" y="914400"/>
            <a:ext cx="10972800" cy="594360"/>
          </a:xfrm>
          <a:prstGeom prst="rect">
            <a:avLst/>
          </a:prstGeom>
          <a:noFill/>
          <a:ln/>
        </p:spPr>
        <p:txBody>
          <a:bodyPr wrap="square" lIns="0" tIns="0" rIns="0" bIns="0" rtlCol="0" anchor="ctr"/>
          <a:lstStyle/>
          <a:p>
            <a:pPr indent="0" marL="0">
              <a:buNone/>
            </a:pPr>
            <a:r>
              <a:rPr lang="en-US" sz="2900" b="1" dirty="0">
                <a:solidFill>
                  <a:srgbClr val="0B1437"/>
                </a:solidFill>
                <a:latin typeface="Aptos" pitchFamily="34" charset="0"/>
                <a:ea typeface="Aptos" pitchFamily="34" charset="-122"/>
                <a:cs typeface="Aptos" pitchFamily="34" charset="-120"/>
              </a:rPr>
              <a:t>The honest answer, before you type a prompt</a:t>
            </a:r>
            <a:endParaRPr lang="en-US" sz="2900" dirty="0"/>
          </a:p>
        </p:txBody>
      </p:sp>
      <p:sp>
        <p:nvSpPr>
          <p:cNvPr id="6" name="Shape 4"/>
          <p:cNvSpPr/>
          <p:nvPr/>
        </p:nvSpPr>
        <p:spPr>
          <a:xfrm>
            <a:off x="822960" y="1627632"/>
            <a:ext cx="5175504" cy="1572768"/>
          </a:xfrm>
          <a:prstGeom prst="roundRect">
            <a:avLst>
              <a:gd name="adj" fmla="val 465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7" name="Shape 5"/>
          <p:cNvSpPr/>
          <p:nvPr/>
        </p:nvSpPr>
        <p:spPr>
          <a:xfrm>
            <a:off x="1097280" y="1901952"/>
            <a:ext cx="640080" cy="640080"/>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8" name="Image 0" descr="preencoded.png">    </p:cNvPr>
          <p:cNvPicPr>
            <a:picLocks noChangeAspect="1"/>
          </p:cNvPicPr>
          <p:nvPr/>
        </p:nvPicPr>
        <p:blipFill>
          <a:blip r:embed="rId1"/>
          <a:stretch>
            <a:fillRect/>
          </a:stretch>
        </p:blipFill>
        <p:spPr>
          <a:xfrm>
            <a:off x="1289304" y="2093976"/>
            <a:ext cx="256032" cy="256032"/>
          </a:xfrm>
          <a:prstGeom prst="rect">
            <a:avLst/>
          </a:prstGeom>
        </p:spPr>
      </p:pic>
      <p:sp>
        <p:nvSpPr>
          <p:cNvPr id="9" name="Text 6"/>
          <p:cNvSpPr/>
          <p:nvPr/>
        </p:nvSpPr>
        <p:spPr>
          <a:xfrm>
            <a:off x="1956816" y="1883664"/>
            <a:ext cx="3849624" cy="310896"/>
          </a:xfrm>
          <a:prstGeom prst="rect">
            <a:avLst/>
          </a:prstGeom>
          <a:noFill/>
          <a:ln/>
        </p:spPr>
        <p:txBody>
          <a:bodyPr wrap="square" lIns="0" tIns="0" rIns="0" bIns="0" rtlCol="0" anchor="ctr"/>
          <a:lstStyle/>
          <a:p>
            <a:pPr indent="0" marL="0">
              <a:buNone/>
            </a:pPr>
            <a:r>
              <a:rPr lang="en-US" sz="1550" b="1" dirty="0">
                <a:solidFill>
                  <a:srgbClr val="0B1437"/>
                </a:solidFill>
                <a:latin typeface="Aptos" pitchFamily="34" charset="0"/>
                <a:ea typeface="Aptos" pitchFamily="34" charset="-122"/>
                <a:cs typeface="Aptos" pitchFamily="34" charset="-120"/>
              </a:rPr>
              <a:t>It stays in your tenant</a:t>
            </a:r>
            <a:endParaRPr lang="en-US" sz="1550" dirty="0"/>
          </a:p>
        </p:txBody>
      </p:sp>
      <p:sp>
        <p:nvSpPr>
          <p:cNvPr id="10" name="Text 7"/>
          <p:cNvSpPr/>
          <p:nvPr/>
        </p:nvSpPr>
        <p:spPr>
          <a:xfrm>
            <a:off x="1956816" y="2212848"/>
            <a:ext cx="3803904" cy="91440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Copilot Premium runs inside your Microsoft 365 boundary, under the same encryption and access controls as your other data.</a:t>
            </a:r>
            <a:endParaRPr lang="en-US" sz="1200" dirty="0"/>
          </a:p>
        </p:txBody>
      </p:sp>
      <p:sp>
        <p:nvSpPr>
          <p:cNvPr id="11" name="Shape 8"/>
          <p:cNvSpPr/>
          <p:nvPr/>
        </p:nvSpPr>
        <p:spPr>
          <a:xfrm>
            <a:off x="6163056" y="1627632"/>
            <a:ext cx="5175504" cy="1572768"/>
          </a:xfrm>
          <a:prstGeom prst="roundRect">
            <a:avLst>
              <a:gd name="adj" fmla="val 465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2" name="Shape 9"/>
          <p:cNvSpPr/>
          <p:nvPr/>
        </p:nvSpPr>
        <p:spPr>
          <a:xfrm>
            <a:off x="6437376" y="1901952"/>
            <a:ext cx="640080" cy="640080"/>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13" name="Image 1" descr="preencoded.png">    </p:cNvPr>
          <p:cNvPicPr>
            <a:picLocks noChangeAspect="1"/>
          </p:cNvPicPr>
          <p:nvPr/>
        </p:nvPicPr>
        <p:blipFill>
          <a:blip r:embed="rId2"/>
          <a:stretch>
            <a:fillRect/>
          </a:stretch>
        </p:blipFill>
        <p:spPr>
          <a:xfrm>
            <a:off x="6629400" y="2093976"/>
            <a:ext cx="256032" cy="256032"/>
          </a:xfrm>
          <a:prstGeom prst="rect">
            <a:avLst/>
          </a:prstGeom>
        </p:spPr>
      </p:pic>
      <p:sp>
        <p:nvSpPr>
          <p:cNvPr id="14" name="Text 10"/>
          <p:cNvSpPr/>
          <p:nvPr/>
        </p:nvSpPr>
        <p:spPr>
          <a:xfrm>
            <a:off x="7296912" y="1883664"/>
            <a:ext cx="3849624" cy="310896"/>
          </a:xfrm>
          <a:prstGeom prst="rect">
            <a:avLst/>
          </a:prstGeom>
          <a:noFill/>
          <a:ln/>
        </p:spPr>
        <p:txBody>
          <a:bodyPr wrap="square" lIns="0" tIns="0" rIns="0" bIns="0" rtlCol="0" anchor="ctr"/>
          <a:lstStyle/>
          <a:p>
            <a:pPr indent="0" marL="0">
              <a:buNone/>
            </a:pPr>
            <a:r>
              <a:rPr lang="en-US" sz="1550" b="1" dirty="0">
                <a:solidFill>
                  <a:srgbClr val="0B1437"/>
                </a:solidFill>
                <a:latin typeface="Aptos" pitchFamily="34" charset="0"/>
                <a:ea typeface="Aptos" pitchFamily="34" charset="-122"/>
                <a:cs typeface="Aptos" pitchFamily="34" charset="-120"/>
              </a:rPr>
              <a:t>Not used to train public models</a:t>
            </a:r>
            <a:endParaRPr lang="en-US" sz="1550" dirty="0"/>
          </a:p>
        </p:txBody>
      </p:sp>
      <p:sp>
        <p:nvSpPr>
          <p:cNvPr id="15" name="Text 11"/>
          <p:cNvSpPr/>
          <p:nvPr/>
        </p:nvSpPr>
        <p:spPr>
          <a:xfrm>
            <a:off x="7296912" y="2212848"/>
            <a:ext cx="3803904" cy="91440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Your prompts, your documents, and Copilot's responses are not used to train the foundation models.</a:t>
            </a:r>
            <a:endParaRPr lang="en-US" sz="1200" dirty="0"/>
          </a:p>
        </p:txBody>
      </p:sp>
      <p:sp>
        <p:nvSpPr>
          <p:cNvPr id="16" name="Shape 12"/>
          <p:cNvSpPr/>
          <p:nvPr/>
        </p:nvSpPr>
        <p:spPr>
          <a:xfrm>
            <a:off x="822960" y="3364992"/>
            <a:ext cx="5175504" cy="1572768"/>
          </a:xfrm>
          <a:prstGeom prst="roundRect">
            <a:avLst>
              <a:gd name="adj" fmla="val 465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7" name="Shape 13"/>
          <p:cNvSpPr/>
          <p:nvPr/>
        </p:nvSpPr>
        <p:spPr>
          <a:xfrm>
            <a:off x="1097280" y="3639312"/>
            <a:ext cx="640080" cy="640080"/>
          </a:xfrm>
          <a:prstGeom prst="ellipse">
            <a:avLst/>
          </a:prstGeom>
          <a:solidFill>
            <a:srgbClr val="7C5CFC"/>
          </a:solidFill>
          <a:ln/>
          <a:effectLst>
            <a:outerShdw sx="100000" sy="100000" kx="0" ky="0" algn="bl" rotWithShape="0" blurRad="114300" dist="38100" dir="5400000">
              <a:srgbClr val="0B1437">
                <a:alpha val="10000"/>
              </a:srgbClr>
            </a:outerShdw>
          </a:effectLst>
        </p:spPr>
      </p:sp>
      <p:pic>
        <p:nvPicPr>
          <p:cNvPr id="18" name="Image 2" descr="preencoded.png">    </p:cNvPr>
          <p:cNvPicPr>
            <a:picLocks noChangeAspect="1"/>
          </p:cNvPicPr>
          <p:nvPr/>
        </p:nvPicPr>
        <p:blipFill>
          <a:blip r:embed="rId3"/>
          <a:stretch>
            <a:fillRect/>
          </a:stretch>
        </p:blipFill>
        <p:spPr>
          <a:xfrm>
            <a:off x="1289304" y="3831336"/>
            <a:ext cx="256032" cy="256032"/>
          </a:xfrm>
          <a:prstGeom prst="rect">
            <a:avLst/>
          </a:prstGeom>
        </p:spPr>
      </p:pic>
      <p:sp>
        <p:nvSpPr>
          <p:cNvPr id="19" name="Text 14"/>
          <p:cNvSpPr/>
          <p:nvPr/>
        </p:nvSpPr>
        <p:spPr>
          <a:xfrm>
            <a:off x="1956816" y="3621024"/>
            <a:ext cx="3849624" cy="310896"/>
          </a:xfrm>
          <a:prstGeom prst="rect">
            <a:avLst/>
          </a:prstGeom>
          <a:noFill/>
          <a:ln/>
        </p:spPr>
        <p:txBody>
          <a:bodyPr wrap="square" lIns="0" tIns="0" rIns="0" bIns="0" rtlCol="0" anchor="ctr"/>
          <a:lstStyle/>
          <a:p>
            <a:pPr indent="0" marL="0">
              <a:buNone/>
            </a:pPr>
            <a:r>
              <a:rPr lang="en-US" sz="1550" b="1" dirty="0">
                <a:solidFill>
                  <a:srgbClr val="0B1437"/>
                </a:solidFill>
                <a:latin typeface="Aptos" pitchFamily="34" charset="0"/>
                <a:ea typeface="Aptos" pitchFamily="34" charset="-122"/>
                <a:cs typeface="Aptos" pitchFamily="34" charset="-120"/>
              </a:rPr>
              <a:t>It only sees what you can see</a:t>
            </a:r>
            <a:endParaRPr lang="en-US" sz="1550" dirty="0"/>
          </a:p>
        </p:txBody>
      </p:sp>
      <p:sp>
        <p:nvSpPr>
          <p:cNvPr id="20" name="Text 15"/>
          <p:cNvSpPr/>
          <p:nvPr/>
        </p:nvSpPr>
        <p:spPr>
          <a:xfrm>
            <a:off x="1956816" y="3950208"/>
            <a:ext cx="3803904" cy="91440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Copilot honors your existing permissions. It cannot surface a file you do not already have access to.</a:t>
            </a:r>
            <a:endParaRPr lang="en-US" sz="1200" dirty="0"/>
          </a:p>
        </p:txBody>
      </p:sp>
      <p:sp>
        <p:nvSpPr>
          <p:cNvPr id="21" name="Shape 16"/>
          <p:cNvSpPr/>
          <p:nvPr/>
        </p:nvSpPr>
        <p:spPr>
          <a:xfrm>
            <a:off x="6163056" y="3364992"/>
            <a:ext cx="5175504" cy="1572768"/>
          </a:xfrm>
          <a:prstGeom prst="roundRect">
            <a:avLst>
              <a:gd name="adj" fmla="val 465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2" name="Shape 17"/>
          <p:cNvSpPr/>
          <p:nvPr/>
        </p:nvSpPr>
        <p:spPr>
          <a:xfrm>
            <a:off x="6437376" y="3639312"/>
            <a:ext cx="640080" cy="640080"/>
          </a:xfrm>
          <a:prstGeom prst="ellipse">
            <a:avLst/>
          </a:prstGeom>
          <a:solidFill>
            <a:srgbClr val="12B5BC"/>
          </a:solidFill>
          <a:ln/>
          <a:effectLst>
            <a:outerShdw sx="100000" sy="100000" kx="0" ky="0" algn="bl" rotWithShape="0" blurRad="114300" dist="38100" dir="5400000">
              <a:srgbClr val="0B1437">
                <a:alpha val="10000"/>
              </a:srgbClr>
            </a:outerShdw>
          </a:effectLst>
        </p:spPr>
      </p:sp>
      <p:pic>
        <p:nvPicPr>
          <p:cNvPr id="23" name="Image 3" descr="preencoded.png">    </p:cNvPr>
          <p:cNvPicPr>
            <a:picLocks noChangeAspect="1"/>
          </p:cNvPicPr>
          <p:nvPr/>
        </p:nvPicPr>
        <p:blipFill>
          <a:blip r:embed="rId4"/>
          <a:stretch>
            <a:fillRect/>
          </a:stretch>
        </p:blipFill>
        <p:spPr>
          <a:xfrm>
            <a:off x="6629400" y="3831336"/>
            <a:ext cx="256032" cy="256032"/>
          </a:xfrm>
          <a:prstGeom prst="rect">
            <a:avLst/>
          </a:prstGeom>
        </p:spPr>
      </p:pic>
      <p:sp>
        <p:nvSpPr>
          <p:cNvPr id="24" name="Text 18"/>
          <p:cNvSpPr/>
          <p:nvPr/>
        </p:nvSpPr>
        <p:spPr>
          <a:xfrm>
            <a:off x="7296912" y="3621024"/>
            <a:ext cx="3849624" cy="310896"/>
          </a:xfrm>
          <a:prstGeom prst="rect">
            <a:avLst/>
          </a:prstGeom>
          <a:noFill/>
          <a:ln/>
        </p:spPr>
        <p:txBody>
          <a:bodyPr wrap="square" lIns="0" tIns="0" rIns="0" bIns="0" rtlCol="0" anchor="ctr"/>
          <a:lstStyle/>
          <a:p>
            <a:pPr indent="0" marL="0">
              <a:buNone/>
            </a:pPr>
            <a:r>
              <a:rPr lang="en-US" sz="1550" b="1" dirty="0">
                <a:solidFill>
                  <a:srgbClr val="0B1437"/>
                </a:solidFill>
                <a:latin typeface="Aptos" pitchFamily="34" charset="0"/>
                <a:ea typeface="Aptos" pitchFamily="34" charset="-122"/>
                <a:cs typeface="Aptos" pitchFamily="34" charset="-120"/>
              </a:rPr>
              <a:t>Controls and an audit trail</a:t>
            </a:r>
            <a:endParaRPr lang="en-US" sz="1550" dirty="0"/>
          </a:p>
        </p:txBody>
      </p:sp>
      <p:sp>
        <p:nvSpPr>
          <p:cNvPr id="25" name="Text 19"/>
          <p:cNvSpPr/>
          <p:nvPr/>
        </p:nvSpPr>
        <p:spPr>
          <a:xfrm>
            <a:off x="7296912" y="3950208"/>
            <a:ext cx="3803904" cy="91440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Purview gives IT and compliance visibility, data-loss-prevention policies, and audit logs across Copilot.</a:t>
            </a:r>
            <a:endParaRPr lang="en-US" sz="1200" dirty="0"/>
          </a:p>
        </p:txBody>
      </p:sp>
      <p:sp>
        <p:nvSpPr>
          <p:cNvPr id="26" name="Shape 20"/>
          <p:cNvSpPr/>
          <p:nvPr/>
        </p:nvSpPr>
        <p:spPr>
          <a:xfrm>
            <a:off x="822960" y="5138928"/>
            <a:ext cx="10533888" cy="658368"/>
          </a:xfrm>
          <a:prstGeom prst="roundRect">
            <a:avLst>
              <a:gd name="adj" fmla="val 12500"/>
            </a:avLst>
          </a:prstGeom>
          <a:solidFill>
            <a:srgbClr val="E9FBF3"/>
          </a:solidFill>
          <a:ln w="12700">
            <a:solidFill>
              <a:srgbClr val="BFEBD8"/>
            </a:solidFill>
            <a:prstDash val="solid"/>
          </a:ln>
        </p:spPr>
      </p:sp>
      <p:sp>
        <p:nvSpPr>
          <p:cNvPr id="27" name="Shape 21"/>
          <p:cNvSpPr/>
          <p:nvPr/>
        </p:nvSpPr>
        <p:spPr>
          <a:xfrm>
            <a:off x="822960" y="5248656"/>
            <a:ext cx="64008" cy="438912"/>
          </a:xfrm>
          <a:prstGeom prst="rect">
            <a:avLst/>
          </a:prstGeom>
          <a:solidFill>
            <a:srgbClr val="12B886"/>
          </a:solidFill>
          <a:ln/>
        </p:spPr>
      </p:sp>
      <p:sp>
        <p:nvSpPr>
          <p:cNvPr id="28" name="Text 22"/>
          <p:cNvSpPr/>
          <p:nvPr/>
        </p:nvSpPr>
        <p:spPr>
          <a:xfrm>
            <a:off x="1097280" y="5138928"/>
            <a:ext cx="10058400" cy="658368"/>
          </a:xfrm>
          <a:prstGeom prst="rect">
            <a:avLst/>
          </a:prstGeom>
          <a:noFill/>
          <a:ln/>
        </p:spPr>
        <p:txBody>
          <a:bodyPr wrap="square" lIns="0" tIns="0" rIns="0" bIns="0" rtlCol="0" anchor="ctr"/>
          <a:lstStyle/>
          <a:p>
            <a:pPr algn="l" indent="0" marL="0">
              <a:buNone/>
            </a:pPr>
            <a:r>
              <a:rPr lang="en-US" sz="1450" b="1" dirty="0">
                <a:solidFill>
                  <a:srgbClr val="0E7A56"/>
                </a:solidFill>
                <a:latin typeface="Aptos" pitchFamily="34" charset="0"/>
                <a:ea typeface="Aptos" pitchFamily="34" charset="-122"/>
                <a:cs typeface="Aptos" pitchFamily="34" charset="-120"/>
              </a:rPr>
              <a:t>Copilot works on your real work, not the open internet, and your work never leaves your tenant.</a:t>
            </a:r>
            <a:endParaRPr lang="en-US" sz="1450" dirty="0"/>
          </a:p>
        </p:txBody>
      </p:sp>
      <p:sp>
        <p:nvSpPr>
          <p:cNvPr id="29" name="Text 23"/>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1 · Foundations</a:t>
            </a:r>
            <a:endParaRPr lang="en-US" sz="900" dirty="0"/>
          </a:p>
        </p:txBody>
      </p:sp>
      <p:sp>
        <p:nvSpPr>
          <p:cNvPr id="30" name="Text 24"/>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2D6CDF"/>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1</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2D6CDF"/>
                </a:solidFill>
                <a:latin typeface="Aptos" pitchFamily="34" charset="0"/>
                <a:ea typeface="Aptos" pitchFamily="34" charset="-122"/>
                <a:cs typeface="Aptos" pitchFamily="34" charset="-120"/>
              </a:rPr>
              <a:t>WHERE TO FIND COPILOT</a:t>
            </a:r>
            <a:endParaRPr lang="en-US" sz="1200" dirty="0"/>
          </a:p>
        </p:txBody>
      </p:sp>
      <p:sp>
        <p:nvSpPr>
          <p:cNvPr id="5" name="Text 3"/>
          <p:cNvSpPr/>
          <p:nvPr/>
        </p:nvSpPr>
        <p:spPr>
          <a:xfrm>
            <a:off x="786384" y="914400"/>
            <a:ext cx="10058400" cy="548640"/>
          </a:xfrm>
          <a:prstGeom prst="rect">
            <a:avLst/>
          </a:prstGeom>
          <a:noFill/>
          <a:ln/>
        </p:spPr>
        <p:txBody>
          <a:bodyPr wrap="square" lIns="0" tIns="0" rIns="0" bIns="0" rtlCol="0" anchor="ctr"/>
          <a:lstStyle/>
          <a:p>
            <a:pPr indent="0" marL="0">
              <a:buNone/>
            </a:pPr>
            <a:r>
              <a:rPr lang="en-US" sz="3100" b="1" dirty="0">
                <a:solidFill>
                  <a:srgbClr val="0B1437"/>
                </a:solidFill>
                <a:latin typeface="Aptos" pitchFamily="34" charset="0"/>
                <a:ea typeface="Aptos" pitchFamily="34" charset="-122"/>
                <a:cs typeface="Aptos" pitchFamily="34" charset="-120"/>
              </a:rPr>
              <a:t>Every door in</a:t>
            </a:r>
            <a:endParaRPr lang="en-US" sz="3100" dirty="0"/>
          </a:p>
        </p:txBody>
      </p:sp>
      <p:sp>
        <p:nvSpPr>
          <p:cNvPr id="6" name="Text 4"/>
          <p:cNvSpPr/>
          <p:nvPr/>
        </p:nvSpPr>
        <p:spPr>
          <a:xfrm>
            <a:off x="822960" y="1499616"/>
            <a:ext cx="10424160" cy="365760"/>
          </a:xfrm>
          <a:prstGeom prst="rect">
            <a:avLst/>
          </a:prstGeom>
          <a:noFill/>
          <a:ln/>
        </p:spPr>
        <p:txBody>
          <a:bodyPr wrap="square" lIns="0" tIns="0" rIns="0" bIns="0" rtlCol="0" anchor="ctr"/>
          <a:lstStyle/>
          <a:p>
            <a:pPr indent="0" marL="0">
              <a:buNone/>
            </a:pPr>
            <a:r>
              <a:rPr lang="en-US" sz="1400" dirty="0">
                <a:solidFill>
                  <a:srgbClr val="43507B"/>
                </a:solidFill>
                <a:latin typeface="Aptos" pitchFamily="34" charset="0"/>
                <a:ea typeface="Aptos" pitchFamily="34" charset="-122"/>
                <a:cs typeface="Aptos" pitchFamily="34" charset="-120"/>
              </a:rPr>
              <a:t>The most common reason people stall is simple: they cannot find it.</a:t>
            </a:r>
            <a:endParaRPr lang="en-US" sz="1400" dirty="0"/>
          </a:p>
        </p:txBody>
      </p:sp>
      <p:sp>
        <p:nvSpPr>
          <p:cNvPr id="7" name="Shape 5"/>
          <p:cNvSpPr/>
          <p:nvPr/>
        </p:nvSpPr>
        <p:spPr>
          <a:xfrm>
            <a:off x="822960" y="2029968"/>
            <a:ext cx="5175504" cy="1572768"/>
          </a:xfrm>
          <a:prstGeom prst="roundRect">
            <a:avLst>
              <a:gd name="adj" fmla="val 465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8" name="Shape 6"/>
          <p:cNvSpPr/>
          <p:nvPr/>
        </p:nvSpPr>
        <p:spPr>
          <a:xfrm>
            <a:off x="1097280" y="2304288"/>
            <a:ext cx="658368" cy="658368"/>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9" name="Image 0" descr="preencoded.png">    </p:cNvPr>
          <p:cNvPicPr>
            <a:picLocks noChangeAspect="1"/>
          </p:cNvPicPr>
          <p:nvPr/>
        </p:nvPicPr>
        <p:blipFill>
          <a:blip r:embed="rId1"/>
          <a:stretch>
            <a:fillRect/>
          </a:stretch>
        </p:blipFill>
        <p:spPr>
          <a:xfrm>
            <a:off x="1294790" y="2501798"/>
            <a:ext cx="263347" cy="263347"/>
          </a:xfrm>
          <a:prstGeom prst="rect">
            <a:avLst/>
          </a:prstGeom>
        </p:spPr>
      </p:pic>
      <p:sp>
        <p:nvSpPr>
          <p:cNvPr id="10" name="Text 7"/>
          <p:cNvSpPr/>
          <p:nvPr/>
        </p:nvSpPr>
        <p:spPr>
          <a:xfrm>
            <a:off x="1965960" y="2286000"/>
            <a:ext cx="3803904" cy="310896"/>
          </a:xfrm>
          <a:prstGeom prst="rect">
            <a:avLst/>
          </a:prstGeom>
          <a:noFill/>
          <a:ln/>
        </p:spPr>
        <p:txBody>
          <a:bodyPr wrap="square" lIns="0" tIns="0" rIns="0" bIns="0" rtlCol="0" anchor="ctr"/>
          <a:lstStyle/>
          <a:p>
            <a:pPr indent="0" marL="0">
              <a:buNone/>
            </a:pPr>
            <a:r>
              <a:rPr lang="en-US" sz="1600" b="1" dirty="0">
                <a:solidFill>
                  <a:srgbClr val="0B1437"/>
                </a:solidFill>
                <a:latin typeface="Aptos" pitchFamily="34" charset="0"/>
                <a:ea typeface="Aptos" pitchFamily="34" charset="-122"/>
                <a:cs typeface="Aptos" pitchFamily="34" charset="-120"/>
              </a:rPr>
              <a:t>The Copilot app</a:t>
            </a:r>
            <a:endParaRPr lang="en-US" sz="1600" dirty="0"/>
          </a:p>
        </p:txBody>
      </p:sp>
      <p:sp>
        <p:nvSpPr>
          <p:cNvPr id="11" name="Text 8"/>
          <p:cNvSpPr/>
          <p:nvPr/>
        </p:nvSpPr>
        <p:spPr>
          <a:xfrm>
            <a:off x="1965960" y="2633472"/>
            <a:ext cx="3758184" cy="86868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Your front door. The icon in Teams or the taskbar, or m365.cloud.microsoft. Ask it anything about your work.</a:t>
            </a:r>
            <a:endParaRPr lang="en-US" sz="1200" dirty="0"/>
          </a:p>
        </p:txBody>
      </p:sp>
      <p:sp>
        <p:nvSpPr>
          <p:cNvPr id="12" name="Shape 9"/>
          <p:cNvSpPr/>
          <p:nvPr/>
        </p:nvSpPr>
        <p:spPr>
          <a:xfrm>
            <a:off x="6163056" y="2029968"/>
            <a:ext cx="5175504" cy="1572768"/>
          </a:xfrm>
          <a:prstGeom prst="roundRect">
            <a:avLst>
              <a:gd name="adj" fmla="val 465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3" name="Shape 10"/>
          <p:cNvSpPr/>
          <p:nvPr/>
        </p:nvSpPr>
        <p:spPr>
          <a:xfrm>
            <a:off x="6437376" y="2304288"/>
            <a:ext cx="658368" cy="658368"/>
          </a:xfrm>
          <a:prstGeom prst="ellipse">
            <a:avLst/>
          </a:prstGeom>
          <a:solidFill>
            <a:srgbClr val="7C5CFC"/>
          </a:solidFill>
          <a:ln/>
          <a:effectLst>
            <a:outerShdw sx="100000" sy="100000" kx="0" ky="0" algn="bl" rotWithShape="0" blurRad="114300" dist="38100" dir="5400000">
              <a:srgbClr val="0B1437">
                <a:alpha val="10000"/>
              </a:srgbClr>
            </a:outerShdw>
          </a:effectLst>
        </p:spPr>
      </p:sp>
      <p:pic>
        <p:nvPicPr>
          <p:cNvPr id="14" name="Image 1" descr="preencoded.png">    </p:cNvPr>
          <p:cNvPicPr>
            <a:picLocks noChangeAspect="1"/>
          </p:cNvPicPr>
          <p:nvPr/>
        </p:nvPicPr>
        <p:blipFill>
          <a:blip r:embed="rId2"/>
          <a:stretch>
            <a:fillRect/>
          </a:stretch>
        </p:blipFill>
        <p:spPr>
          <a:xfrm>
            <a:off x="6634886" y="2501798"/>
            <a:ext cx="263347" cy="263347"/>
          </a:xfrm>
          <a:prstGeom prst="rect">
            <a:avLst/>
          </a:prstGeom>
        </p:spPr>
      </p:pic>
      <p:sp>
        <p:nvSpPr>
          <p:cNvPr id="15" name="Text 11"/>
          <p:cNvSpPr/>
          <p:nvPr/>
        </p:nvSpPr>
        <p:spPr>
          <a:xfrm>
            <a:off x="7306056" y="2286000"/>
            <a:ext cx="3803904" cy="310896"/>
          </a:xfrm>
          <a:prstGeom prst="rect">
            <a:avLst/>
          </a:prstGeom>
          <a:noFill/>
          <a:ln/>
        </p:spPr>
        <p:txBody>
          <a:bodyPr wrap="square" lIns="0" tIns="0" rIns="0" bIns="0" rtlCol="0" anchor="ctr"/>
          <a:lstStyle/>
          <a:p>
            <a:pPr indent="0" marL="0">
              <a:buNone/>
            </a:pPr>
            <a:r>
              <a:rPr lang="en-US" sz="1600" b="1" dirty="0">
                <a:solidFill>
                  <a:srgbClr val="0B1437"/>
                </a:solidFill>
                <a:latin typeface="Aptos" pitchFamily="34" charset="0"/>
                <a:ea typeface="Aptos" pitchFamily="34" charset="-122"/>
                <a:cs typeface="Aptos" pitchFamily="34" charset="-120"/>
              </a:rPr>
              <a:t>Inside each Office app</a:t>
            </a:r>
            <a:endParaRPr lang="en-US" sz="1600" dirty="0"/>
          </a:p>
        </p:txBody>
      </p:sp>
      <p:sp>
        <p:nvSpPr>
          <p:cNvPr id="16" name="Text 12"/>
          <p:cNvSpPr/>
          <p:nvPr/>
        </p:nvSpPr>
        <p:spPr>
          <a:xfrm>
            <a:off x="7306056" y="2633472"/>
            <a:ext cx="3758184" cy="86868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The Copilot button in the ribbon of Outlook, Word, Excel, and PowerPoint. It works on what is in front of you.</a:t>
            </a:r>
            <a:endParaRPr lang="en-US" sz="1200" dirty="0"/>
          </a:p>
        </p:txBody>
      </p:sp>
      <p:sp>
        <p:nvSpPr>
          <p:cNvPr id="17" name="Shape 13"/>
          <p:cNvSpPr/>
          <p:nvPr/>
        </p:nvSpPr>
        <p:spPr>
          <a:xfrm>
            <a:off x="822960" y="3785616"/>
            <a:ext cx="5175504" cy="1572768"/>
          </a:xfrm>
          <a:prstGeom prst="roundRect">
            <a:avLst>
              <a:gd name="adj" fmla="val 465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8" name="Shape 14"/>
          <p:cNvSpPr/>
          <p:nvPr/>
        </p:nvSpPr>
        <p:spPr>
          <a:xfrm>
            <a:off x="1097280" y="4059936"/>
            <a:ext cx="658368" cy="658368"/>
          </a:xfrm>
          <a:prstGeom prst="ellipse">
            <a:avLst/>
          </a:prstGeom>
          <a:solidFill>
            <a:srgbClr val="12B5BC"/>
          </a:solidFill>
          <a:ln/>
          <a:effectLst>
            <a:outerShdw sx="100000" sy="100000" kx="0" ky="0" algn="bl" rotWithShape="0" blurRad="114300" dist="38100" dir="5400000">
              <a:srgbClr val="0B1437">
                <a:alpha val="10000"/>
              </a:srgbClr>
            </a:outerShdw>
          </a:effectLst>
        </p:spPr>
      </p:sp>
      <p:pic>
        <p:nvPicPr>
          <p:cNvPr id="19" name="Image 2" descr="preencoded.png">    </p:cNvPr>
          <p:cNvPicPr>
            <a:picLocks noChangeAspect="1"/>
          </p:cNvPicPr>
          <p:nvPr/>
        </p:nvPicPr>
        <p:blipFill>
          <a:blip r:embed="rId3"/>
          <a:stretch>
            <a:fillRect/>
          </a:stretch>
        </p:blipFill>
        <p:spPr>
          <a:xfrm>
            <a:off x="1294790" y="4257446"/>
            <a:ext cx="263347" cy="263347"/>
          </a:xfrm>
          <a:prstGeom prst="rect">
            <a:avLst/>
          </a:prstGeom>
        </p:spPr>
      </p:pic>
      <p:sp>
        <p:nvSpPr>
          <p:cNvPr id="20" name="Text 15"/>
          <p:cNvSpPr/>
          <p:nvPr/>
        </p:nvSpPr>
        <p:spPr>
          <a:xfrm>
            <a:off x="1965960" y="4041648"/>
            <a:ext cx="3803904" cy="310896"/>
          </a:xfrm>
          <a:prstGeom prst="rect">
            <a:avLst/>
          </a:prstGeom>
          <a:noFill/>
          <a:ln/>
        </p:spPr>
        <p:txBody>
          <a:bodyPr wrap="square" lIns="0" tIns="0" rIns="0" bIns="0" rtlCol="0" anchor="ctr"/>
          <a:lstStyle/>
          <a:p>
            <a:pPr indent="0" marL="0">
              <a:buNone/>
            </a:pPr>
            <a:r>
              <a:rPr lang="en-US" sz="1600" b="1" dirty="0">
                <a:solidFill>
                  <a:srgbClr val="0B1437"/>
                </a:solidFill>
                <a:latin typeface="Aptos" pitchFamily="34" charset="0"/>
                <a:ea typeface="Aptos" pitchFamily="34" charset="-122"/>
                <a:cs typeface="Aptos" pitchFamily="34" charset="-120"/>
              </a:rPr>
              <a:t>In your meetings</a:t>
            </a:r>
            <a:endParaRPr lang="en-US" sz="1600" dirty="0"/>
          </a:p>
        </p:txBody>
      </p:sp>
      <p:sp>
        <p:nvSpPr>
          <p:cNvPr id="21" name="Text 16"/>
          <p:cNvSpPr/>
          <p:nvPr/>
        </p:nvSpPr>
        <p:spPr>
          <a:xfrm>
            <a:off x="1965960" y="4389120"/>
            <a:ext cx="3758184" cy="86868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In Teams, Copilot recaps what was said, lists decisions, and pulls action items, even if you joined late.</a:t>
            </a:r>
            <a:endParaRPr lang="en-US" sz="1200" dirty="0"/>
          </a:p>
        </p:txBody>
      </p:sp>
      <p:sp>
        <p:nvSpPr>
          <p:cNvPr id="22" name="Shape 17"/>
          <p:cNvSpPr/>
          <p:nvPr/>
        </p:nvSpPr>
        <p:spPr>
          <a:xfrm>
            <a:off x="6163056" y="3785616"/>
            <a:ext cx="5175504" cy="1572768"/>
          </a:xfrm>
          <a:prstGeom prst="roundRect">
            <a:avLst>
              <a:gd name="adj" fmla="val 465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3" name="Shape 18"/>
          <p:cNvSpPr/>
          <p:nvPr/>
        </p:nvSpPr>
        <p:spPr>
          <a:xfrm>
            <a:off x="6437376" y="4059936"/>
            <a:ext cx="658368" cy="658368"/>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24" name="Image 3" descr="preencoded.png">    </p:cNvPr>
          <p:cNvPicPr>
            <a:picLocks noChangeAspect="1"/>
          </p:cNvPicPr>
          <p:nvPr/>
        </p:nvPicPr>
        <p:blipFill>
          <a:blip r:embed="rId4"/>
          <a:stretch>
            <a:fillRect/>
          </a:stretch>
        </p:blipFill>
        <p:spPr>
          <a:xfrm>
            <a:off x="6634886" y="4257446"/>
            <a:ext cx="263347" cy="263347"/>
          </a:xfrm>
          <a:prstGeom prst="rect">
            <a:avLst/>
          </a:prstGeom>
        </p:spPr>
      </p:pic>
      <p:sp>
        <p:nvSpPr>
          <p:cNvPr id="25" name="Text 19"/>
          <p:cNvSpPr/>
          <p:nvPr/>
        </p:nvSpPr>
        <p:spPr>
          <a:xfrm>
            <a:off x="7306056" y="4041648"/>
            <a:ext cx="3803904" cy="310896"/>
          </a:xfrm>
          <a:prstGeom prst="rect">
            <a:avLst/>
          </a:prstGeom>
          <a:noFill/>
          <a:ln/>
        </p:spPr>
        <p:txBody>
          <a:bodyPr wrap="square" lIns="0" tIns="0" rIns="0" bIns="0" rtlCol="0" anchor="ctr"/>
          <a:lstStyle/>
          <a:p>
            <a:pPr indent="0" marL="0">
              <a:buNone/>
            </a:pPr>
            <a:r>
              <a:rPr lang="en-US" sz="1600" b="1" dirty="0">
                <a:solidFill>
                  <a:srgbClr val="0B1437"/>
                </a:solidFill>
                <a:latin typeface="Aptos" pitchFamily="34" charset="0"/>
                <a:ea typeface="Aptos" pitchFamily="34" charset="-122"/>
                <a:cs typeface="Aptos" pitchFamily="34" charset="-120"/>
              </a:rPr>
              <a:t>On your phone</a:t>
            </a:r>
            <a:endParaRPr lang="en-US" sz="1600" dirty="0"/>
          </a:p>
        </p:txBody>
      </p:sp>
      <p:sp>
        <p:nvSpPr>
          <p:cNvPr id="26" name="Text 20"/>
          <p:cNvSpPr/>
          <p:nvPr/>
        </p:nvSpPr>
        <p:spPr>
          <a:xfrm>
            <a:off x="7306056" y="4389120"/>
            <a:ext cx="3758184" cy="86868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The Microsoft 365 Copilot mobile app puts the same assistant in your pocket between meetings.</a:t>
            </a:r>
            <a:endParaRPr lang="en-US" sz="1200" dirty="0"/>
          </a:p>
        </p:txBody>
      </p:sp>
      <p:sp>
        <p:nvSpPr>
          <p:cNvPr id="27" name="Text 21"/>
          <p:cNvSpPr/>
          <p:nvPr/>
        </p:nvSpPr>
        <p:spPr>
          <a:xfrm>
            <a:off x="822960" y="5870448"/>
            <a:ext cx="10515600" cy="365760"/>
          </a:xfrm>
          <a:prstGeom prst="rect">
            <a:avLst/>
          </a:prstGeom>
          <a:noFill/>
          <a:ln/>
        </p:spPr>
        <p:txBody>
          <a:bodyPr wrap="square" lIns="0" tIns="0" rIns="0" bIns="0" rtlCol="0" anchor="ctr"/>
          <a:lstStyle/>
          <a:p>
            <a:pPr algn="l" indent="0" marL="0">
              <a:buNone/>
            </a:pPr>
            <a:r>
              <a:rPr lang="en-US" sz="1250" b="1" dirty="0">
                <a:solidFill>
                  <a:srgbClr val="0B1437"/>
                </a:solidFill>
                <a:latin typeface="Aptos" pitchFamily="34" charset="0"/>
                <a:ea typeface="Aptos" pitchFamily="34" charset="-122"/>
                <a:cs typeface="Aptos" pitchFamily="34" charset="-120"/>
              </a:rPr>
              <a:t>Practical move:  </a:t>
            </a:r>
            <a:pPr algn="l" indent="0" marL="0">
              <a:buNone/>
            </a:pPr>
            <a:r>
              <a:rPr lang="en-US" sz="1250" dirty="0">
                <a:solidFill>
                  <a:srgbClr val="43507B"/>
                </a:solidFill>
                <a:latin typeface="Aptos" pitchFamily="34" charset="0"/>
                <a:ea typeface="Aptos" pitchFamily="34" charset="-122"/>
                <a:cs typeface="Aptos" pitchFamily="34" charset="-120"/>
              </a:rPr>
              <a:t>pin the </a:t>
            </a:r>
            <a:pPr algn="l" indent="0" marL="0">
              <a:buNone/>
            </a:pPr>
            <a:r>
              <a:rPr lang="en-US" sz="1250" b="1" u="sng" dirty="0">
                <a:solidFill>
                  <a:srgbClr val="2D6CDF"/>
                </a:solidFill>
                <a:latin typeface="Aptos" pitchFamily="34" charset="0"/>
                <a:ea typeface="Aptos" pitchFamily="34" charset="-122"/>
                <a:cs typeface="Aptos"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Copilot app</a:t>
            </a:r>
            <a:pPr algn="l" indent="0" marL="0">
              <a:buNone/>
            </a:pPr>
            <a:r>
              <a:rPr lang="en-US" sz="1250" dirty="0">
                <a:solidFill>
                  <a:srgbClr val="43507B"/>
                </a:solidFill>
                <a:latin typeface="Aptos" pitchFamily="34" charset="0"/>
                <a:ea typeface="Aptos" pitchFamily="34" charset="-122"/>
                <a:cs typeface="Aptos" pitchFamily="34" charset="-120"/>
              </a:rPr>
              <a:t> so it is one click away, and bookmark the </a:t>
            </a:r>
            <a:pPr algn="l" indent="0" marL="0">
              <a:buNone/>
            </a:pPr>
            <a:r>
              <a:rPr lang="en-US" sz="1250" b="1" u="sng" dirty="0">
                <a:solidFill>
                  <a:srgbClr val="2D6CDF"/>
                </a:solidFill>
                <a:latin typeface="Aptos" pitchFamily="34" charset="0"/>
                <a:ea typeface="Aptos" pitchFamily="34" charset="-122"/>
                <a:cs typeface="Aptos" pitchFamily="34" charset="-120"/>
                <a:hlinkClick r:id="rId6" invalidUrl="" action="" tgtFrame="" tooltip="" history="1" highlightClick="0" endSnd="0">
                  <a:extLst>
                    <a:ext uri="{A12FA001-AC4F-418D-AE19-62706E023703}">
                      <ahyp:hlinkClr xmlns:ahyp="http://schemas.microsoft.com/office/drawing/2018/hyperlinkcolor" val="tx"/>
                    </a:ext>
                  </a:extLst>
                </a:hlinkClick>
              </a:rPr>
              <a:t>Prompt Gallery</a:t>
            </a:r>
            <a:pPr algn="l" indent="0" marL="0">
              <a:buNone/>
            </a:pPr>
            <a:r>
              <a:rPr lang="en-US" sz="1250" dirty="0">
                <a:solidFill>
                  <a:srgbClr val="43507B"/>
                </a:solidFill>
                <a:latin typeface="Aptos" pitchFamily="34" charset="0"/>
                <a:ea typeface="Aptos" pitchFamily="34" charset="-122"/>
                <a:cs typeface="Aptos" pitchFamily="34" charset="-120"/>
              </a:rPr>
              <a:t> for ready-made prompts by role.</a:t>
            </a:r>
            <a:endParaRPr lang="en-US" sz="1250" dirty="0"/>
          </a:p>
        </p:txBody>
      </p:sp>
      <p:sp>
        <p:nvSpPr>
          <p:cNvPr id="28" name="Text 22"/>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1 · Foundations</a:t>
            </a:r>
            <a:endParaRPr lang="en-US" sz="900" dirty="0"/>
          </a:p>
        </p:txBody>
      </p:sp>
      <p:sp>
        <p:nvSpPr>
          <p:cNvPr id="29" name="Text 23"/>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2D6CDF"/>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1</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2D6CDF"/>
                </a:solidFill>
                <a:latin typeface="Aptos" pitchFamily="34" charset="0"/>
                <a:ea typeface="Aptos" pitchFamily="34" charset="-122"/>
                <a:cs typeface="Aptos" pitchFamily="34" charset="-120"/>
              </a:rPr>
              <a:t>YOUR FIRST 5-MINUTE WIN</a:t>
            </a:r>
            <a:endParaRPr lang="en-US" sz="1200" dirty="0"/>
          </a:p>
        </p:txBody>
      </p:sp>
      <p:sp>
        <p:nvSpPr>
          <p:cNvPr id="5" name="Text 3"/>
          <p:cNvSpPr/>
          <p:nvPr/>
        </p:nvSpPr>
        <p:spPr>
          <a:xfrm>
            <a:off x="786384" y="914400"/>
            <a:ext cx="10972800" cy="548640"/>
          </a:xfrm>
          <a:prstGeom prst="rect">
            <a:avLst/>
          </a:prstGeom>
          <a:noFill/>
          <a:ln/>
        </p:spPr>
        <p:txBody>
          <a:bodyPr wrap="square" lIns="0" tIns="0" rIns="0" bIns="0" rtlCol="0" anchor="ctr"/>
          <a:lstStyle/>
          <a:p>
            <a:pPr indent="0" marL="0">
              <a:buNone/>
            </a:pPr>
            <a:r>
              <a:rPr lang="en-US" sz="2900" b="1" dirty="0">
                <a:solidFill>
                  <a:srgbClr val="0B1437"/>
                </a:solidFill>
                <a:latin typeface="Aptos" pitchFamily="34" charset="0"/>
                <a:ea typeface="Aptos" pitchFamily="34" charset="-122"/>
                <a:cs typeface="Aptos" pitchFamily="34" charset="-120"/>
              </a:rPr>
              <a:t>Do not learn Copilot. Give it one job today.</a:t>
            </a:r>
            <a:endParaRPr lang="en-US" sz="2900" dirty="0"/>
          </a:p>
        </p:txBody>
      </p:sp>
      <p:sp>
        <p:nvSpPr>
          <p:cNvPr id="6" name="Text 4"/>
          <p:cNvSpPr/>
          <p:nvPr/>
        </p:nvSpPr>
        <p:spPr>
          <a:xfrm>
            <a:off x="822960" y="1481328"/>
            <a:ext cx="10607040" cy="365760"/>
          </a:xfrm>
          <a:prstGeom prst="rect">
            <a:avLst/>
          </a:prstGeom>
          <a:noFill/>
          <a:ln/>
        </p:spPr>
        <p:txBody>
          <a:bodyPr wrap="square" lIns="0" tIns="0" rIns="0" bIns="0" rtlCol="0" anchor="ctr"/>
          <a:lstStyle/>
          <a:p>
            <a:pPr indent="0" marL="0">
              <a:buNone/>
            </a:pPr>
            <a:r>
              <a:rPr lang="en-US" sz="1400" dirty="0">
                <a:solidFill>
                  <a:srgbClr val="43507B"/>
                </a:solidFill>
                <a:latin typeface="Aptos" pitchFamily="34" charset="0"/>
                <a:ea typeface="Aptos" pitchFamily="34" charset="-122"/>
                <a:cs typeface="Aptos" pitchFamily="34" charset="-120"/>
              </a:rPr>
              <a:t>Open the Copilot app and paste one of these with real names from your world. Useful answer in under a minute.</a:t>
            </a:r>
            <a:endParaRPr lang="en-US" sz="1400" dirty="0"/>
          </a:p>
        </p:txBody>
      </p:sp>
      <p:sp>
        <p:nvSpPr>
          <p:cNvPr id="7" name="Shape 5"/>
          <p:cNvSpPr/>
          <p:nvPr/>
        </p:nvSpPr>
        <p:spPr>
          <a:xfrm>
            <a:off x="822960" y="2011680"/>
            <a:ext cx="10515600" cy="1051560"/>
          </a:xfrm>
          <a:prstGeom prst="roundRect">
            <a:avLst>
              <a:gd name="adj" fmla="val 9565"/>
            </a:avLst>
          </a:prstGeom>
          <a:solidFill>
            <a:srgbClr val="111C44"/>
          </a:solidFill>
          <a:ln w="12700">
            <a:solidFill>
              <a:srgbClr val="26326A"/>
            </a:solidFill>
            <a:prstDash val="solid"/>
          </a:ln>
          <a:effectLst>
            <a:outerShdw sx="100000" sy="100000" kx="0" ky="0" algn="bl" rotWithShape="0" blurRad="114300" dist="38100" dir="5400000">
              <a:srgbClr val="0B1437">
                <a:alpha val="10000"/>
              </a:srgbClr>
            </a:outerShdw>
          </a:effectLst>
        </p:spPr>
      </p:sp>
      <p:sp>
        <p:nvSpPr>
          <p:cNvPr id="8" name="Shape 6"/>
          <p:cNvSpPr/>
          <p:nvPr/>
        </p:nvSpPr>
        <p:spPr>
          <a:xfrm>
            <a:off x="822960" y="2139696"/>
            <a:ext cx="64008" cy="795528"/>
          </a:xfrm>
          <a:prstGeom prst="rect">
            <a:avLst/>
          </a:prstGeom>
          <a:solidFill>
            <a:srgbClr val="2D6CDF"/>
          </a:solidFill>
          <a:ln/>
        </p:spPr>
      </p:sp>
      <p:sp>
        <p:nvSpPr>
          <p:cNvPr id="9" name="Text 7"/>
          <p:cNvSpPr/>
          <p:nvPr/>
        </p:nvSpPr>
        <p:spPr>
          <a:xfrm>
            <a:off x="1097280" y="2157984"/>
            <a:ext cx="9966960" cy="274320"/>
          </a:xfrm>
          <a:prstGeom prst="rect">
            <a:avLst/>
          </a:prstGeom>
          <a:noFill/>
          <a:ln/>
        </p:spPr>
        <p:txBody>
          <a:bodyPr wrap="square" lIns="0" tIns="0" rIns="0" bIns="0" rtlCol="0" anchor="ctr"/>
          <a:lstStyle/>
          <a:p>
            <a:pPr algn="l" indent="0" marL="0">
              <a:buNone/>
            </a:pPr>
            <a:r>
              <a:rPr lang="en-US" sz="1100" b="1" dirty="0">
                <a:solidFill>
                  <a:srgbClr val="2D6CDF"/>
                </a:solidFill>
                <a:latin typeface="Consolas" pitchFamily="34" charset="0"/>
                <a:ea typeface="Consolas" pitchFamily="34" charset="-122"/>
                <a:cs typeface="Consolas" pitchFamily="34" charset="-120"/>
              </a:rPr>
              <a:t>›_  </a:t>
            </a:r>
            <a:pPr algn="l" indent="0" marL="0">
              <a:buNone/>
            </a:pPr>
            <a:r>
              <a:rPr lang="en-US" sz="1100" b="1" spc="200" kern="0" dirty="0">
                <a:solidFill>
                  <a:srgbClr val="2D6CDF"/>
                </a:solidFill>
                <a:latin typeface="Aptos" pitchFamily="34" charset="0"/>
                <a:ea typeface="Aptos" pitchFamily="34" charset="-122"/>
                <a:cs typeface="Aptos" pitchFamily="34" charset="-120"/>
              </a:rPr>
              <a:t>CATCH UP FAST</a:t>
            </a:r>
            <a:endParaRPr lang="en-US" sz="1100" dirty="0"/>
          </a:p>
        </p:txBody>
      </p:sp>
      <p:sp>
        <p:nvSpPr>
          <p:cNvPr id="10" name="Text 8"/>
          <p:cNvSpPr/>
          <p:nvPr/>
        </p:nvSpPr>
        <p:spPr>
          <a:xfrm>
            <a:off x="1115568" y="2487168"/>
            <a:ext cx="9948672" cy="393192"/>
          </a:xfrm>
          <a:prstGeom prst="rect">
            <a:avLst/>
          </a:prstGeom>
          <a:noFill/>
          <a:ln/>
        </p:spPr>
        <p:txBody>
          <a:bodyPr wrap="square" lIns="0" tIns="0" rIns="0" bIns="0" rtlCol="0" anchor="t"/>
          <a:lstStyle/>
          <a:p>
            <a:pPr algn="l" indent="0" marL="0">
              <a:lnSpc>
                <a:spcPct val="112000"/>
              </a:lnSpc>
              <a:buNone/>
            </a:pPr>
            <a:r>
              <a:rPr lang="en-US" sz="1400" dirty="0">
                <a:solidFill>
                  <a:srgbClr val="E7ECFF"/>
                </a:solidFill>
                <a:latin typeface="Consolas" pitchFamily="34" charset="0"/>
                <a:ea typeface="Consolas" pitchFamily="34" charset="-122"/>
                <a:cs typeface="Consolas" pitchFamily="34" charset="-120"/>
              </a:rPr>
              <a:t>Catch me up on my email thread with </a:t>
            </a:r>
            <a:pPr algn="l" indent="0" marL="0">
              <a:lnSpc>
                <a:spcPct val="112000"/>
              </a:lnSpc>
              <a:buNone/>
            </a:pPr>
            <a:r>
              <a:rPr lang="en-US" sz="1400" b="1" dirty="0">
                <a:solidFill>
                  <a:srgbClr val="7FB0FF"/>
                </a:solidFill>
                <a:latin typeface="Consolas" pitchFamily="34" charset="0"/>
                <a:ea typeface="Consolas" pitchFamily="34" charset="-122"/>
                <a:cs typeface="Consolas" pitchFamily="34" charset="-120"/>
              </a:rPr>
              <a:t>[name]</a:t>
            </a:r>
            <a:pPr algn="l" indent="0" marL="0">
              <a:lnSpc>
                <a:spcPct val="112000"/>
              </a:lnSpc>
              <a:buNone/>
            </a:pPr>
            <a:r>
              <a:rPr lang="en-US" sz="1400" dirty="0">
                <a:solidFill>
                  <a:srgbClr val="E7ECFF"/>
                </a:solidFill>
                <a:latin typeface="Consolas" pitchFamily="34" charset="0"/>
                <a:ea typeface="Consolas" pitchFamily="34" charset="-122"/>
                <a:cs typeface="Consolas" pitchFamily="34" charset="-120"/>
              </a:rPr>
              <a:t> about </a:t>
            </a:r>
            <a:pPr algn="l" indent="0" marL="0">
              <a:lnSpc>
                <a:spcPct val="112000"/>
              </a:lnSpc>
              <a:buNone/>
            </a:pPr>
            <a:r>
              <a:rPr lang="en-US" sz="1400" b="1" dirty="0">
                <a:solidFill>
                  <a:srgbClr val="7FB0FF"/>
                </a:solidFill>
                <a:latin typeface="Consolas" pitchFamily="34" charset="0"/>
                <a:ea typeface="Consolas" pitchFamily="34" charset="-122"/>
                <a:cs typeface="Consolas" pitchFamily="34" charset="-120"/>
              </a:rPr>
              <a:t>[topic]</a:t>
            </a:r>
            <a:pPr algn="l" indent="0" marL="0">
              <a:lnSpc>
                <a:spcPct val="112000"/>
              </a:lnSpc>
              <a:buNone/>
            </a:pPr>
            <a:r>
              <a:rPr lang="en-US" sz="1400" dirty="0">
                <a:solidFill>
                  <a:srgbClr val="E7ECFF"/>
                </a:solidFill>
                <a:latin typeface="Consolas" pitchFamily="34" charset="0"/>
                <a:ea typeface="Consolas" pitchFamily="34" charset="-122"/>
                <a:cs typeface="Consolas" pitchFamily="34" charset="-120"/>
              </a:rPr>
              <a:t>. Summarize what was decided and tell me what I still owe them.</a:t>
            </a:r>
            <a:endParaRPr lang="en-US" sz="1400" dirty="0"/>
          </a:p>
        </p:txBody>
      </p:sp>
      <p:sp>
        <p:nvSpPr>
          <p:cNvPr id="11" name="Shape 9"/>
          <p:cNvSpPr/>
          <p:nvPr/>
        </p:nvSpPr>
        <p:spPr>
          <a:xfrm>
            <a:off x="822960" y="3209544"/>
            <a:ext cx="10515600" cy="1051560"/>
          </a:xfrm>
          <a:prstGeom prst="roundRect">
            <a:avLst>
              <a:gd name="adj" fmla="val 9565"/>
            </a:avLst>
          </a:prstGeom>
          <a:solidFill>
            <a:srgbClr val="111C44"/>
          </a:solidFill>
          <a:ln w="12700">
            <a:solidFill>
              <a:srgbClr val="26326A"/>
            </a:solidFill>
            <a:prstDash val="solid"/>
          </a:ln>
          <a:effectLst>
            <a:outerShdw sx="100000" sy="100000" kx="0" ky="0" algn="bl" rotWithShape="0" blurRad="114300" dist="38100" dir="5400000">
              <a:srgbClr val="0B1437">
                <a:alpha val="10000"/>
              </a:srgbClr>
            </a:outerShdw>
          </a:effectLst>
        </p:spPr>
      </p:sp>
      <p:sp>
        <p:nvSpPr>
          <p:cNvPr id="12" name="Shape 10"/>
          <p:cNvSpPr/>
          <p:nvPr/>
        </p:nvSpPr>
        <p:spPr>
          <a:xfrm>
            <a:off x="822960" y="3337560"/>
            <a:ext cx="64008" cy="795528"/>
          </a:xfrm>
          <a:prstGeom prst="rect">
            <a:avLst/>
          </a:prstGeom>
          <a:solidFill>
            <a:srgbClr val="2D6CDF"/>
          </a:solidFill>
          <a:ln/>
        </p:spPr>
      </p:sp>
      <p:sp>
        <p:nvSpPr>
          <p:cNvPr id="13" name="Text 11"/>
          <p:cNvSpPr/>
          <p:nvPr/>
        </p:nvSpPr>
        <p:spPr>
          <a:xfrm>
            <a:off x="1097280" y="3355848"/>
            <a:ext cx="9966960" cy="274320"/>
          </a:xfrm>
          <a:prstGeom prst="rect">
            <a:avLst/>
          </a:prstGeom>
          <a:noFill/>
          <a:ln/>
        </p:spPr>
        <p:txBody>
          <a:bodyPr wrap="square" lIns="0" tIns="0" rIns="0" bIns="0" rtlCol="0" anchor="ctr"/>
          <a:lstStyle/>
          <a:p>
            <a:pPr algn="l" indent="0" marL="0">
              <a:buNone/>
            </a:pPr>
            <a:r>
              <a:rPr lang="en-US" sz="1100" b="1" dirty="0">
                <a:solidFill>
                  <a:srgbClr val="2D6CDF"/>
                </a:solidFill>
                <a:latin typeface="Consolas" pitchFamily="34" charset="0"/>
                <a:ea typeface="Consolas" pitchFamily="34" charset="-122"/>
                <a:cs typeface="Consolas" pitchFamily="34" charset="-120"/>
              </a:rPr>
              <a:t>›_  </a:t>
            </a:r>
            <a:pPr algn="l" indent="0" marL="0">
              <a:buNone/>
            </a:pPr>
            <a:r>
              <a:rPr lang="en-US" sz="1100" b="1" spc="200" kern="0" dirty="0">
                <a:solidFill>
                  <a:srgbClr val="2D6CDF"/>
                </a:solidFill>
                <a:latin typeface="Aptos" pitchFamily="34" charset="0"/>
                <a:ea typeface="Aptos" pitchFamily="34" charset="-122"/>
                <a:cs typeface="Aptos" pitchFamily="34" charset="-120"/>
              </a:rPr>
              <a:t>CLEAR THE INBOX</a:t>
            </a:r>
            <a:endParaRPr lang="en-US" sz="1100" dirty="0"/>
          </a:p>
        </p:txBody>
      </p:sp>
      <p:sp>
        <p:nvSpPr>
          <p:cNvPr id="14" name="Text 12"/>
          <p:cNvSpPr/>
          <p:nvPr/>
        </p:nvSpPr>
        <p:spPr>
          <a:xfrm>
            <a:off x="1115568" y="3685032"/>
            <a:ext cx="9948672" cy="393192"/>
          </a:xfrm>
          <a:prstGeom prst="rect">
            <a:avLst/>
          </a:prstGeom>
          <a:noFill/>
          <a:ln/>
        </p:spPr>
        <p:txBody>
          <a:bodyPr wrap="square" lIns="0" tIns="0" rIns="0" bIns="0" rtlCol="0" anchor="t"/>
          <a:lstStyle/>
          <a:p>
            <a:pPr algn="l" indent="0" marL="0">
              <a:lnSpc>
                <a:spcPct val="112000"/>
              </a:lnSpc>
              <a:buNone/>
            </a:pPr>
            <a:r>
              <a:rPr lang="en-US" sz="1400" dirty="0">
                <a:solidFill>
                  <a:srgbClr val="E7ECFF"/>
                </a:solidFill>
                <a:latin typeface="Consolas" pitchFamily="34" charset="0"/>
                <a:ea typeface="Consolas" pitchFamily="34" charset="-122"/>
                <a:cs typeface="Consolas" pitchFamily="34" charset="-120"/>
              </a:rPr>
              <a:t>What are the most important emails I received in the last 24 hours that need my response? Group them by urgency and keep it short.</a:t>
            </a:r>
            <a:endParaRPr lang="en-US" sz="1400" dirty="0"/>
          </a:p>
        </p:txBody>
      </p:sp>
      <p:sp>
        <p:nvSpPr>
          <p:cNvPr id="15" name="Shape 13"/>
          <p:cNvSpPr/>
          <p:nvPr/>
        </p:nvSpPr>
        <p:spPr>
          <a:xfrm>
            <a:off x="822960" y="4407408"/>
            <a:ext cx="10515600" cy="1051560"/>
          </a:xfrm>
          <a:prstGeom prst="roundRect">
            <a:avLst>
              <a:gd name="adj" fmla="val 9565"/>
            </a:avLst>
          </a:prstGeom>
          <a:solidFill>
            <a:srgbClr val="111C44"/>
          </a:solidFill>
          <a:ln w="12700">
            <a:solidFill>
              <a:srgbClr val="26326A"/>
            </a:solidFill>
            <a:prstDash val="solid"/>
          </a:ln>
          <a:effectLst>
            <a:outerShdw sx="100000" sy="100000" kx="0" ky="0" algn="bl" rotWithShape="0" blurRad="114300" dist="38100" dir="5400000">
              <a:srgbClr val="0B1437">
                <a:alpha val="10000"/>
              </a:srgbClr>
            </a:outerShdw>
          </a:effectLst>
        </p:spPr>
      </p:sp>
      <p:sp>
        <p:nvSpPr>
          <p:cNvPr id="16" name="Shape 14"/>
          <p:cNvSpPr/>
          <p:nvPr/>
        </p:nvSpPr>
        <p:spPr>
          <a:xfrm>
            <a:off x="822960" y="4535424"/>
            <a:ext cx="64008" cy="795528"/>
          </a:xfrm>
          <a:prstGeom prst="rect">
            <a:avLst/>
          </a:prstGeom>
          <a:solidFill>
            <a:srgbClr val="2D6CDF"/>
          </a:solidFill>
          <a:ln/>
        </p:spPr>
      </p:sp>
      <p:sp>
        <p:nvSpPr>
          <p:cNvPr id="17" name="Text 15"/>
          <p:cNvSpPr/>
          <p:nvPr/>
        </p:nvSpPr>
        <p:spPr>
          <a:xfrm>
            <a:off x="1097280" y="4553712"/>
            <a:ext cx="9966960" cy="274320"/>
          </a:xfrm>
          <a:prstGeom prst="rect">
            <a:avLst/>
          </a:prstGeom>
          <a:noFill/>
          <a:ln/>
        </p:spPr>
        <p:txBody>
          <a:bodyPr wrap="square" lIns="0" tIns="0" rIns="0" bIns="0" rtlCol="0" anchor="ctr"/>
          <a:lstStyle/>
          <a:p>
            <a:pPr algn="l" indent="0" marL="0">
              <a:buNone/>
            </a:pPr>
            <a:r>
              <a:rPr lang="en-US" sz="1100" b="1" dirty="0">
                <a:solidFill>
                  <a:srgbClr val="2D6CDF"/>
                </a:solidFill>
                <a:latin typeface="Consolas" pitchFamily="34" charset="0"/>
                <a:ea typeface="Consolas" pitchFamily="34" charset="-122"/>
                <a:cs typeface="Consolas" pitchFamily="34" charset="-120"/>
              </a:rPr>
              <a:t>›_  </a:t>
            </a:r>
            <a:pPr algn="l" indent="0" marL="0">
              <a:buNone/>
            </a:pPr>
            <a:r>
              <a:rPr lang="en-US" sz="1100" b="1" spc="200" kern="0" dirty="0">
                <a:solidFill>
                  <a:srgbClr val="2D6CDF"/>
                </a:solidFill>
                <a:latin typeface="Aptos" pitchFamily="34" charset="0"/>
                <a:ea typeface="Aptos" pitchFamily="34" charset="-122"/>
                <a:cs typeface="Aptos" pitchFamily="34" charset="-120"/>
              </a:rPr>
              <a:t>WALK IN READY</a:t>
            </a:r>
            <a:endParaRPr lang="en-US" sz="1100" dirty="0"/>
          </a:p>
        </p:txBody>
      </p:sp>
      <p:sp>
        <p:nvSpPr>
          <p:cNvPr id="18" name="Text 16"/>
          <p:cNvSpPr/>
          <p:nvPr/>
        </p:nvSpPr>
        <p:spPr>
          <a:xfrm>
            <a:off x="1115568" y="4882896"/>
            <a:ext cx="9948672" cy="393192"/>
          </a:xfrm>
          <a:prstGeom prst="rect">
            <a:avLst/>
          </a:prstGeom>
          <a:noFill/>
          <a:ln/>
        </p:spPr>
        <p:txBody>
          <a:bodyPr wrap="square" lIns="0" tIns="0" rIns="0" bIns="0" rtlCol="0" anchor="t"/>
          <a:lstStyle/>
          <a:p>
            <a:pPr algn="l" indent="0" marL="0">
              <a:lnSpc>
                <a:spcPct val="112000"/>
              </a:lnSpc>
              <a:buNone/>
            </a:pPr>
            <a:r>
              <a:rPr lang="en-US" sz="1400" dirty="0">
                <a:solidFill>
                  <a:srgbClr val="E7ECFF"/>
                </a:solidFill>
                <a:latin typeface="Consolas" pitchFamily="34" charset="0"/>
                <a:ea typeface="Consolas" pitchFamily="34" charset="-122"/>
                <a:cs typeface="Consolas" pitchFamily="34" charset="-120"/>
              </a:rPr>
              <a:t>Prepare me for my next meeting. Summarize recent emails and documents with the attendees, and what we agreed last time.</a:t>
            </a:r>
            <a:endParaRPr lang="en-US" sz="1400" dirty="0"/>
          </a:p>
        </p:txBody>
      </p:sp>
      <p:sp>
        <p:nvSpPr>
          <p:cNvPr id="19" name="Shape 17"/>
          <p:cNvSpPr/>
          <p:nvPr/>
        </p:nvSpPr>
        <p:spPr>
          <a:xfrm>
            <a:off x="822960" y="5623560"/>
            <a:ext cx="10515600" cy="566928"/>
          </a:xfrm>
          <a:prstGeom prst="roundRect">
            <a:avLst>
              <a:gd name="adj" fmla="val 14516"/>
            </a:avLst>
          </a:prstGeom>
          <a:solidFill>
            <a:srgbClr val="EEF3FF"/>
          </a:solidFill>
          <a:ln w="12700">
            <a:solidFill>
              <a:srgbClr val="D5E0FB"/>
            </a:solidFill>
            <a:prstDash val="solid"/>
          </a:ln>
        </p:spPr>
      </p:sp>
      <p:sp>
        <p:nvSpPr>
          <p:cNvPr id="20" name="Text 18"/>
          <p:cNvSpPr/>
          <p:nvPr/>
        </p:nvSpPr>
        <p:spPr>
          <a:xfrm>
            <a:off x="1097280" y="5623560"/>
            <a:ext cx="10058400" cy="566928"/>
          </a:xfrm>
          <a:prstGeom prst="rect">
            <a:avLst/>
          </a:prstGeom>
          <a:noFill/>
          <a:ln/>
        </p:spPr>
        <p:txBody>
          <a:bodyPr wrap="square" lIns="0" tIns="0" rIns="0" bIns="0" rtlCol="0" anchor="ctr"/>
          <a:lstStyle/>
          <a:p>
            <a:pPr algn="l" indent="0" marL="0">
              <a:buNone/>
            </a:pPr>
            <a:r>
              <a:rPr lang="en-US" sz="1400" b="1" dirty="0">
                <a:solidFill>
                  <a:srgbClr val="0B1437"/>
                </a:solidFill>
                <a:latin typeface="Aptos" pitchFamily="34" charset="0"/>
                <a:ea typeface="Aptos" pitchFamily="34" charset="-122"/>
                <a:cs typeface="Aptos" pitchFamily="34" charset="-120"/>
              </a:rPr>
              <a:t>Start with one win, not forty features.</a:t>
            </a:r>
            <a:endParaRPr lang="en-US" sz="1400" dirty="0"/>
          </a:p>
        </p:txBody>
      </p:sp>
      <p:sp>
        <p:nvSpPr>
          <p:cNvPr id="21" name="Text 19"/>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1 · Foundations</a:t>
            </a:r>
            <a:endParaRPr lang="en-US" sz="900" dirty="0"/>
          </a:p>
        </p:txBody>
      </p:sp>
      <p:sp>
        <p:nvSpPr>
          <p:cNvPr id="22" name="Text 20"/>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2D6CDF"/>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1</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2D6CDF"/>
                </a:solidFill>
                <a:latin typeface="Aptos" pitchFamily="34" charset="0"/>
                <a:ea typeface="Aptos" pitchFamily="34" charset="-122"/>
                <a:cs typeface="Aptos" pitchFamily="34" charset="-120"/>
              </a:rPr>
              <a:t>THE PROMPT FORMULA</a:t>
            </a:r>
            <a:endParaRPr lang="en-US" sz="1200" dirty="0"/>
          </a:p>
        </p:txBody>
      </p:sp>
      <p:sp>
        <p:nvSpPr>
          <p:cNvPr id="5" name="Text 3"/>
          <p:cNvSpPr/>
          <p:nvPr/>
        </p:nvSpPr>
        <p:spPr>
          <a:xfrm>
            <a:off x="786384" y="914400"/>
            <a:ext cx="10607040" cy="548640"/>
          </a:xfrm>
          <a:prstGeom prst="rect">
            <a:avLst/>
          </a:prstGeom>
          <a:noFill/>
          <a:ln/>
        </p:spPr>
        <p:txBody>
          <a:bodyPr wrap="square" lIns="0" tIns="0" rIns="0" bIns="0" rtlCol="0" anchor="ctr"/>
          <a:lstStyle/>
          <a:p>
            <a:pPr indent="0" marL="0">
              <a:buNone/>
            </a:pPr>
            <a:r>
              <a:rPr lang="en-US" sz="3100" b="1" dirty="0">
                <a:solidFill>
                  <a:srgbClr val="0B1437"/>
                </a:solidFill>
                <a:latin typeface="Aptos" pitchFamily="34" charset="0"/>
                <a:ea typeface="Aptos" pitchFamily="34" charset="-122"/>
                <a:cs typeface="Aptos" pitchFamily="34" charset="-120"/>
              </a:rPr>
              <a:t>A good prompt has four parts</a:t>
            </a:r>
            <a:endParaRPr lang="en-US" sz="3100" dirty="0"/>
          </a:p>
        </p:txBody>
      </p:sp>
      <p:sp>
        <p:nvSpPr>
          <p:cNvPr id="6" name="Text 4"/>
          <p:cNvSpPr/>
          <p:nvPr/>
        </p:nvSpPr>
        <p:spPr>
          <a:xfrm>
            <a:off x="822960" y="1481328"/>
            <a:ext cx="10058400" cy="365760"/>
          </a:xfrm>
          <a:prstGeom prst="rect">
            <a:avLst/>
          </a:prstGeom>
          <a:noFill/>
          <a:ln/>
        </p:spPr>
        <p:txBody>
          <a:bodyPr wrap="square" lIns="0" tIns="0" rIns="0" bIns="0" rtlCol="0" anchor="ctr"/>
          <a:lstStyle/>
          <a:p>
            <a:pPr indent="0" marL="0">
              <a:buNone/>
            </a:pPr>
            <a:r>
              <a:rPr lang="en-US" sz="1400" dirty="0">
                <a:solidFill>
                  <a:srgbClr val="43507B"/>
                </a:solidFill>
                <a:latin typeface="Aptos" pitchFamily="34" charset="0"/>
                <a:ea typeface="Aptos" pitchFamily="34" charset="-122"/>
                <a:cs typeface="Aptos" pitchFamily="34" charset="-120"/>
              </a:rPr>
              <a:t>You already do this when you delegate to a person.</a:t>
            </a:r>
            <a:endParaRPr lang="en-US" sz="1400" dirty="0"/>
          </a:p>
        </p:txBody>
      </p:sp>
      <p:sp>
        <p:nvSpPr>
          <p:cNvPr id="7" name="Shape 5"/>
          <p:cNvSpPr/>
          <p:nvPr/>
        </p:nvSpPr>
        <p:spPr>
          <a:xfrm>
            <a:off x="822960" y="1938528"/>
            <a:ext cx="10515600" cy="658368"/>
          </a:xfrm>
          <a:prstGeom prst="roundRect">
            <a:avLst>
              <a:gd name="adj" fmla="val 1111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8" name="Shape 6"/>
          <p:cNvSpPr/>
          <p:nvPr/>
        </p:nvSpPr>
        <p:spPr>
          <a:xfrm>
            <a:off x="822960" y="2048256"/>
            <a:ext cx="64008" cy="438912"/>
          </a:xfrm>
          <a:prstGeom prst="rect">
            <a:avLst/>
          </a:prstGeom>
          <a:solidFill>
            <a:srgbClr val="2D6CDF"/>
          </a:solidFill>
          <a:ln/>
        </p:spPr>
      </p:sp>
      <p:sp>
        <p:nvSpPr>
          <p:cNvPr id="9" name="Shape 7"/>
          <p:cNvSpPr/>
          <p:nvPr/>
        </p:nvSpPr>
        <p:spPr>
          <a:xfrm>
            <a:off x="1060704" y="2048256"/>
            <a:ext cx="438912" cy="438912"/>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10" name="Image 0" descr="preencoded.png">    </p:cNvPr>
          <p:cNvPicPr>
            <a:picLocks noChangeAspect="1"/>
          </p:cNvPicPr>
          <p:nvPr/>
        </p:nvPicPr>
        <p:blipFill>
          <a:blip r:embed="rId1"/>
          <a:stretch>
            <a:fillRect/>
          </a:stretch>
        </p:blipFill>
        <p:spPr>
          <a:xfrm>
            <a:off x="1192378" y="2179930"/>
            <a:ext cx="175565" cy="175565"/>
          </a:xfrm>
          <a:prstGeom prst="rect">
            <a:avLst/>
          </a:prstGeom>
        </p:spPr>
      </p:pic>
      <p:sp>
        <p:nvSpPr>
          <p:cNvPr id="11" name="Text 8"/>
          <p:cNvSpPr/>
          <p:nvPr/>
        </p:nvSpPr>
        <p:spPr>
          <a:xfrm>
            <a:off x="1645920" y="2029968"/>
            <a:ext cx="1828800" cy="475488"/>
          </a:xfrm>
          <a:prstGeom prst="rect">
            <a:avLst/>
          </a:prstGeom>
          <a:noFill/>
          <a:ln/>
        </p:spPr>
        <p:txBody>
          <a:bodyPr wrap="square" lIns="0" tIns="0" rIns="0" bIns="0" rtlCol="0" anchor="ctr"/>
          <a:lstStyle/>
          <a:p>
            <a:pPr indent="0" marL="0">
              <a:buNone/>
            </a:pPr>
            <a:r>
              <a:rPr lang="en-US" sz="1700" b="1" dirty="0">
                <a:solidFill>
                  <a:srgbClr val="2D6CDF"/>
                </a:solidFill>
                <a:latin typeface="Aptos" pitchFamily="34" charset="0"/>
                <a:ea typeface="Aptos" pitchFamily="34" charset="-122"/>
                <a:cs typeface="Aptos" pitchFamily="34" charset="-120"/>
              </a:rPr>
              <a:t>Goal</a:t>
            </a:r>
            <a:endParaRPr lang="en-US" sz="1700" dirty="0"/>
          </a:p>
        </p:txBody>
      </p:sp>
      <p:sp>
        <p:nvSpPr>
          <p:cNvPr id="12" name="Text 9"/>
          <p:cNvSpPr/>
          <p:nvPr/>
        </p:nvSpPr>
        <p:spPr>
          <a:xfrm>
            <a:off x="3383280" y="2029968"/>
            <a:ext cx="2651760" cy="475488"/>
          </a:xfrm>
          <a:prstGeom prst="rect">
            <a:avLst/>
          </a:prstGeom>
          <a:noFill/>
          <a:ln/>
        </p:spPr>
        <p:txBody>
          <a:bodyPr wrap="square" lIns="0" tIns="0" rIns="0" bIns="0" rtlCol="0" anchor="ctr"/>
          <a:lstStyle/>
          <a:p>
            <a:pPr indent="0" marL="0">
              <a:buNone/>
            </a:pPr>
            <a:r>
              <a:rPr lang="en-US" sz="1300" b="1" dirty="0">
                <a:solidFill>
                  <a:srgbClr val="0B1437"/>
                </a:solidFill>
                <a:latin typeface="Aptos" pitchFamily="34" charset="0"/>
                <a:ea typeface="Aptos" pitchFamily="34" charset="-122"/>
                <a:cs typeface="Aptos" pitchFamily="34" charset="-120"/>
              </a:rPr>
              <a:t>What you want.</a:t>
            </a:r>
            <a:endParaRPr lang="en-US" sz="1300" dirty="0"/>
          </a:p>
        </p:txBody>
      </p:sp>
      <p:sp>
        <p:nvSpPr>
          <p:cNvPr id="13" name="Text 10"/>
          <p:cNvSpPr/>
          <p:nvPr/>
        </p:nvSpPr>
        <p:spPr>
          <a:xfrm>
            <a:off x="5989320" y="2029968"/>
            <a:ext cx="5212080" cy="475488"/>
          </a:xfrm>
          <a:prstGeom prst="rect">
            <a:avLst/>
          </a:prstGeom>
          <a:noFill/>
          <a:ln/>
        </p:spPr>
        <p:txBody>
          <a:bodyPr wrap="square" lIns="0" tIns="0" rIns="0" bIns="0" rtlCol="0" anchor="ctr"/>
          <a:lstStyle/>
          <a:p>
            <a:pPr algn="l" indent="0" marL="0">
              <a:buNone/>
            </a:pPr>
            <a:r>
              <a:rPr lang="en-US" sz="1100" dirty="0">
                <a:solidFill>
                  <a:srgbClr val="43507B"/>
                </a:solidFill>
                <a:latin typeface="Consolas" pitchFamily="34" charset="0"/>
                <a:ea typeface="Consolas" pitchFamily="34" charset="-122"/>
                <a:cs typeface="Consolas" pitchFamily="34" charset="-120"/>
              </a:rPr>
              <a:t>"Draft a reply."  "Summarize this."  "Find the risks."</a:t>
            </a:r>
            <a:endParaRPr lang="en-US" sz="1100" dirty="0"/>
          </a:p>
        </p:txBody>
      </p:sp>
      <p:sp>
        <p:nvSpPr>
          <p:cNvPr id="14" name="Shape 11"/>
          <p:cNvSpPr/>
          <p:nvPr/>
        </p:nvSpPr>
        <p:spPr>
          <a:xfrm>
            <a:off x="822960" y="2688336"/>
            <a:ext cx="10515600" cy="658368"/>
          </a:xfrm>
          <a:prstGeom prst="roundRect">
            <a:avLst>
              <a:gd name="adj" fmla="val 1111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5" name="Shape 12"/>
          <p:cNvSpPr/>
          <p:nvPr/>
        </p:nvSpPr>
        <p:spPr>
          <a:xfrm>
            <a:off x="822960" y="2798064"/>
            <a:ext cx="64008" cy="438912"/>
          </a:xfrm>
          <a:prstGeom prst="rect">
            <a:avLst/>
          </a:prstGeom>
          <a:solidFill>
            <a:srgbClr val="7C5CFC"/>
          </a:solidFill>
          <a:ln/>
        </p:spPr>
      </p:sp>
      <p:sp>
        <p:nvSpPr>
          <p:cNvPr id="16" name="Shape 13"/>
          <p:cNvSpPr/>
          <p:nvPr/>
        </p:nvSpPr>
        <p:spPr>
          <a:xfrm>
            <a:off x="1060704" y="2798064"/>
            <a:ext cx="438912" cy="438912"/>
          </a:xfrm>
          <a:prstGeom prst="ellipse">
            <a:avLst/>
          </a:prstGeom>
          <a:solidFill>
            <a:srgbClr val="7C5CFC"/>
          </a:solidFill>
          <a:ln/>
          <a:effectLst>
            <a:outerShdw sx="100000" sy="100000" kx="0" ky="0" algn="bl" rotWithShape="0" blurRad="114300" dist="38100" dir="5400000">
              <a:srgbClr val="0B1437">
                <a:alpha val="10000"/>
              </a:srgbClr>
            </a:outerShdw>
          </a:effectLst>
        </p:spPr>
      </p:sp>
      <p:pic>
        <p:nvPicPr>
          <p:cNvPr id="17" name="Image 1" descr="preencoded.png">    </p:cNvPr>
          <p:cNvPicPr>
            <a:picLocks noChangeAspect="1"/>
          </p:cNvPicPr>
          <p:nvPr/>
        </p:nvPicPr>
        <p:blipFill>
          <a:blip r:embed="rId2"/>
          <a:stretch>
            <a:fillRect/>
          </a:stretch>
        </p:blipFill>
        <p:spPr>
          <a:xfrm>
            <a:off x="1192378" y="2929738"/>
            <a:ext cx="175565" cy="175565"/>
          </a:xfrm>
          <a:prstGeom prst="rect">
            <a:avLst/>
          </a:prstGeom>
        </p:spPr>
      </p:pic>
      <p:sp>
        <p:nvSpPr>
          <p:cNvPr id="18" name="Text 14"/>
          <p:cNvSpPr/>
          <p:nvPr/>
        </p:nvSpPr>
        <p:spPr>
          <a:xfrm>
            <a:off x="1645920" y="2779776"/>
            <a:ext cx="1828800" cy="475488"/>
          </a:xfrm>
          <a:prstGeom prst="rect">
            <a:avLst/>
          </a:prstGeom>
          <a:noFill/>
          <a:ln/>
        </p:spPr>
        <p:txBody>
          <a:bodyPr wrap="square" lIns="0" tIns="0" rIns="0" bIns="0" rtlCol="0" anchor="ctr"/>
          <a:lstStyle/>
          <a:p>
            <a:pPr indent="0" marL="0">
              <a:buNone/>
            </a:pPr>
            <a:r>
              <a:rPr lang="en-US" sz="1700" b="1" dirty="0">
                <a:solidFill>
                  <a:srgbClr val="7C5CFC"/>
                </a:solidFill>
                <a:latin typeface="Aptos" pitchFamily="34" charset="0"/>
                <a:ea typeface="Aptos" pitchFamily="34" charset="-122"/>
                <a:cs typeface="Aptos" pitchFamily="34" charset="-120"/>
              </a:rPr>
              <a:t>Context</a:t>
            </a:r>
            <a:endParaRPr lang="en-US" sz="1700" dirty="0"/>
          </a:p>
        </p:txBody>
      </p:sp>
      <p:sp>
        <p:nvSpPr>
          <p:cNvPr id="19" name="Text 15"/>
          <p:cNvSpPr/>
          <p:nvPr/>
        </p:nvSpPr>
        <p:spPr>
          <a:xfrm>
            <a:off x="3383280" y="2779776"/>
            <a:ext cx="2651760" cy="475488"/>
          </a:xfrm>
          <a:prstGeom prst="rect">
            <a:avLst/>
          </a:prstGeom>
          <a:noFill/>
          <a:ln/>
        </p:spPr>
        <p:txBody>
          <a:bodyPr wrap="square" lIns="0" tIns="0" rIns="0" bIns="0" rtlCol="0" anchor="ctr"/>
          <a:lstStyle/>
          <a:p>
            <a:pPr indent="0" marL="0">
              <a:buNone/>
            </a:pPr>
            <a:r>
              <a:rPr lang="en-US" sz="1300" b="1" dirty="0">
                <a:solidFill>
                  <a:srgbClr val="0B1437"/>
                </a:solidFill>
                <a:latin typeface="Aptos" pitchFamily="34" charset="0"/>
                <a:ea typeface="Aptos" pitchFamily="34" charset="-122"/>
                <a:cs typeface="Aptos" pitchFamily="34" charset="-120"/>
              </a:rPr>
              <a:t>Who it's for and why.</a:t>
            </a:r>
            <a:endParaRPr lang="en-US" sz="1300" dirty="0"/>
          </a:p>
        </p:txBody>
      </p:sp>
      <p:sp>
        <p:nvSpPr>
          <p:cNvPr id="20" name="Text 16"/>
          <p:cNvSpPr/>
          <p:nvPr/>
        </p:nvSpPr>
        <p:spPr>
          <a:xfrm>
            <a:off x="5989320" y="2779776"/>
            <a:ext cx="5212080" cy="475488"/>
          </a:xfrm>
          <a:prstGeom prst="rect">
            <a:avLst/>
          </a:prstGeom>
          <a:noFill/>
          <a:ln/>
        </p:spPr>
        <p:txBody>
          <a:bodyPr wrap="square" lIns="0" tIns="0" rIns="0" bIns="0" rtlCol="0" anchor="ctr"/>
          <a:lstStyle/>
          <a:p>
            <a:pPr algn="l" indent="0" marL="0">
              <a:buNone/>
            </a:pPr>
            <a:r>
              <a:rPr lang="en-US" sz="1100" dirty="0">
                <a:solidFill>
                  <a:srgbClr val="43507B"/>
                </a:solidFill>
                <a:latin typeface="Consolas" pitchFamily="34" charset="0"/>
                <a:ea typeface="Consolas" pitchFamily="34" charset="-122"/>
                <a:cs typeface="Consolas" pitchFamily="34" charset="-120"/>
              </a:rPr>
              <a:t>"For my board."  "For a non-technical audience."</a:t>
            </a:r>
            <a:endParaRPr lang="en-US" sz="1100" dirty="0"/>
          </a:p>
        </p:txBody>
      </p:sp>
      <p:sp>
        <p:nvSpPr>
          <p:cNvPr id="21" name="Shape 17"/>
          <p:cNvSpPr/>
          <p:nvPr/>
        </p:nvSpPr>
        <p:spPr>
          <a:xfrm>
            <a:off x="822960" y="3438144"/>
            <a:ext cx="10515600" cy="658368"/>
          </a:xfrm>
          <a:prstGeom prst="roundRect">
            <a:avLst>
              <a:gd name="adj" fmla="val 1111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2" name="Shape 18"/>
          <p:cNvSpPr/>
          <p:nvPr/>
        </p:nvSpPr>
        <p:spPr>
          <a:xfrm>
            <a:off x="822960" y="3547872"/>
            <a:ext cx="64008" cy="438912"/>
          </a:xfrm>
          <a:prstGeom prst="rect">
            <a:avLst/>
          </a:prstGeom>
          <a:solidFill>
            <a:srgbClr val="12B5BC"/>
          </a:solidFill>
          <a:ln/>
        </p:spPr>
      </p:sp>
      <p:sp>
        <p:nvSpPr>
          <p:cNvPr id="23" name="Shape 19"/>
          <p:cNvSpPr/>
          <p:nvPr/>
        </p:nvSpPr>
        <p:spPr>
          <a:xfrm>
            <a:off x="1060704" y="3547872"/>
            <a:ext cx="438912" cy="438912"/>
          </a:xfrm>
          <a:prstGeom prst="ellipse">
            <a:avLst/>
          </a:prstGeom>
          <a:solidFill>
            <a:srgbClr val="12B5BC"/>
          </a:solidFill>
          <a:ln/>
          <a:effectLst>
            <a:outerShdw sx="100000" sy="100000" kx="0" ky="0" algn="bl" rotWithShape="0" blurRad="114300" dist="38100" dir="5400000">
              <a:srgbClr val="0B1437">
                <a:alpha val="10000"/>
              </a:srgbClr>
            </a:outerShdw>
          </a:effectLst>
        </p:spPr>
      </p:sp>
      <p:pic>
        <p:nvPicPr>
          <p:cNvPr id="24" name="Image 2" descr="preencoded.png">    </p:cNvPr>
          <p:cNvPicPr>
            <a:picLocks noChangeAspect="1"/>
          </p:cNvPicPr>
          <p:nvPr/>
        </p:nvPicPr>
        <p:blipFill>
          <a:blip r:embed="rId3"/>
          <a:stretch>
            <a:fillRect/>
          </a:stretch>
        </p:blipFill>
        <p:spPr>
          <a:xfrm>
            <a:off x="1192378" y="3679546"/>
            <a:ext cx="175565" cy="175565"/>
          </a:xfrm>
          <a:prstGeom prst="rect">
            <a:avLst/>
          </a:prstGeom>
        </p:spPr>
      </p:pic>
      <p:sp>
        <p:nvSpPr>
          <p:cNvPr id="25" name="Text 20"/>
          <p:cNvSpPr/>
          <p:nvPr/>
        </p:nvSpPr>
        <p:spPr>
          <a:xfrm>
            <a:off x="1645920" y="3529584"/>
            <a:ext cx="1828800" cy="475488"/>
          </a:xfrm>
          <a:prstGeom prst="rect">
            <a:avLst/>
          </a:prstGeom>
          <a:noFill/>
          <a:ln/>
        </p:spPr>
        <p:txBody>
          <a:bodyPr wrap="square" lIns="0" tIns="0" rIns="0" bIns="0" rtlCol="0" anchor="ctr"/>
          <a:lstStyle/>
          <a:p>
            <a:pPr indent="0" marL="0">
              <a:buNone/>
            </a:pPr>
            <a:r>
              <a:rPr lang="en-US" sz="1700" b="1" dirty="0">
                <a:solidFill>
                  <a:srgbClr val="12B5BC"/>
                </a:solidFill>
                <a:latin typeface="Aptos" pitchFamily="34" charset="0"/>
                <a:ea typeface="Aptos" pitchFamily="34" charset="-122"/>
                <a:cs typeface="Aptos" pitchFamily="34" charset="-120"/>
              </a:rPr>
              <a:t>Source</a:t>
            </a:r>
            <a:endParaRPr lang="en-US" sz="1700" dirty="0"/>
          </a:p>
        </p:txBody>
      </p:sp>
      <p:sp>
        <p:nvSpPr>
          <p:cNvPr id="26" name="Text 21"/>
          <p:cNvSpPr/>
          <p:nvPr/>
        </p:nvSpPr>
        <p:spPr>
          <a:xfrm>
            <a:off x="3383280" y="3529584"/>
            <a:ext cx="2651760" cy="475488"/>
          </a:xfrm>
          <a:prstGeom prst="rect">
            <a:avLst/>
          </a:prstGeom>
          <a:noFill/>
          <a:ln/>
        </p:spPr>
        <p:txBody>
          <a:bodyPr wrap="square" lIns="0" tIns="0" rIns="0" bIns="0" rtlCol="0" anchor="ctr"/>
          <a:lstStyle/>
          <a:p>
            <a:pPr indent="0" marL="0">
              <a:buNone/>
            </a:pPr>
            <a:r>
              <a:rPr lang="en-US" sz="1300" b="1" dirty="0">
                <a:solidFill>
                  <a:srgbClr val="0B1437"/>
                </a:solidFill>
                <a:latin typeface="Aptos" pitchFamily="34" charset="0"/>
                <a:ea typeface="Aptos" pitchFamily="34" charset="-122"/>
                <a:cs typeface="Aptos" pitchFamily="34" charset="-120"/>
              </a:rPr>
              <a:t>What to use.</a:t>
            </a:r>
            <a:endParaRPr lang="en-US" sz="1300" dirty="0"/>
          </a:p>
        </p:txBody>
      </p:sp>
      <p:sp>
        <p:nvSpPr>
          <p:cNvPr id="27" name="Text 22"/>
          <p:cNvSpPr/>
          <p:nvPr/>
        </p:nvSpPr>
        <p:spPr>
          <a:xfrm>
            <a:off x="5989320" y="3529584"/>
            <a:ext cx="5212080" cy="475488"/>
          </a:xfrm>
          <a:prstGeom prst="rect">
            <a:avLst/>
          </a:prstGeom>
          <a:noFill/>
          <a:ln/>
        </p:spPr>
        <p:txBody>
          <a:bodyPr wrap="square" lIns="0" tIns="0" rIns="0" bIns="0" rtlCol="0" anchor="ctr"/>
          <a:lstStyle/>
          <a:p>
            <a:pPr algn="l" indent="0" marL="0">
              <a:buNone/>
            </a:pPr>
            <a:r>
              <a:rPr lang="en-US" sz="1100" dirty="0">
                <a:solidFill>
                  <a:srgbClr val="43507B"/>
                </a:solidFill>
                <a:latin typeface="Consolas" pitchFamily="34" charset="0"/>
                <a:ea typeface="Consolas" pitchFamily="34" charset="-122"/>
                <a:cs typeface="Consolas" pitchFamily="34" charset="-120"/>
              </a:rPr>
              <a:t>"From this thread."  "Using the attached document."</a:t>
            </a:r>
            <a:endParaRPr lang="en-US" sz="1100" dirty="0"/>
          </a:p>
        </p:txBody>
      </p:sp>
      <p:sp>
        <p:nvSpPr>
          <p:cNvPr id="28" name="Shape 23"/>
          <p:cNvSpPr/>
          <p:nvPr/>
        </p:nvSpPr>
        <p:spPr>
          <a:xfrm>
            <a:off x="822960" y="4187952"/>
            <a:ext cx="10515600" cy="658368"/>
          </a:xfrm>
          <a:prstGeom prst="roundRect">
            <a:avLst>
              <a:gd name="adj" fmla="val 1111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9" name="Shape 24"/>
          <p:cNvSpPr/>
          <p:nvPr/>
        </p:nvSpPr>
        <p:spPr>
          <a:xfrm>
            <a:off x="822960" y="4297680"/>
            <a:ext cx="64008" cy="438912"/>
          </a:xfrm>
          <a:prstGeom prst="rect">
            <a:avLst/>
          </a:prstGeom>
          <a:solidFill>
            <a:srgbClr val="F0A500"/>
          </a:solidFill>
          <a:ln/>
        </p:spPr>
      </p:sp>
      <p:sp>
        <p:nvSpPr>
          <p:cNvPr id="30" name="Shape 25"/>
          <p:cNvSpPr/>
          <p:nvPr/>
        </p:nvSpPr>
        <p:spPr>
          <a:xfrm>
            <a:off x="1060704" y="4297680"/>
            <a:ext cx="438912" cy="438912"/>
          </a:xfrm>
          <a:prstGeom prst="ellipse">
            <a:avLst/>
          </a:prstGeom>
          <a:solidFill>
            <a:srgbClr val="F0A500"/>
          </a:solidFill>
          <a:ln/>
          <a:effectLst>
            <a:outerShdw sx="100000" sy="100000" kx="0" ky="0" algn="bl" rotWithShape="0" blurRad="114300" dist="38100" dir="5400000">
              <a:srgbClr val="0B1437">
                <a:alpha val="10000"/>
              </a:srgbClr>
            </a:outerShdw>
          </a:effectLst>
        </p:spPr>
      </p:sp>
      <p:pic>
        <p:nvPicPr>
          <p:cNvPr id="31" name="Image 3" descr="preencoded.png">    </p:cNvPr>
          <p:cNvPicPr>
            <a:picLocks noChangeAspect="1"/>
          </p:cNvPicPr>
          <p:nvPr/>
        </p:nvPicPr>
        <p:blipFill>
          <a:blip r:embed="rId4"/>
          <a:stretch>
            <a:fillRect/>
          </a:stretch>
        </p:blipFill>
        <p:spPr>
          <a:xfrm>
            <a:off x="1192378" y="4429354"/>
            <a:ext cx="175565" cy="175565"/>
          </a:xfrm>
          <a:prstGeom prst="rect">
            <a:avLst/>
          </a:prstGeom>
        </p:spPr>
      </p:pic>
      <p:sp>
        <p:nvSpPr>
          <p:cNvPr id="32" name="Text 26"/>
          <p:cNvSpPr/>
          <p:nvPr/>
        </p:nvSpPr>
        <p:spPr>
          <a:xfrm>
            <a:off x="1645920" y="4279392"/>
            <a:ext cx="1828800" cy="475488"/>
          </a:xfrm>
          <a:prstGeom prst="rect">
            <a:avLst/>
          </a:prstGeom>
          <a:noFill/>
          <a:ln/>
        </p:spPr>
        <p:txBody>
          <a:bodyPr wrap="square" lIns="0" tIns="0" rIns="0" bIns="0" rtlCol="0" anchor="ctr"/>
          <a:lstStyle/>
          <a:p>
            <a:pPr indent="0" marL="0">
              <a:buNone/>
            </a:pPr>
            <a:r>
              <a:rPr lang="en-US" sz="1700" b="1" dirty="0">
                <a:solidFill>
                  <a:srgbClr val="F0A500"/>
                </a:solidFill>
                <a:latin typeface="Aptos" pitchFamily="34" charset="0"/>
                <a:ea typeface="Aptos" pitchFamily="34" charset="-122"/>
                <a:cs typeface="Aptos" pitchFamily="34" charset="-120"/>
              </a:rPr>
              <a:t>Format</a:t>
            </a:r>
            <a:endParaRPr lang="en-US" sz="1700" dirty="0"/>
          </a:p>
        </p:txBody>
      </p:sp>
      <p:sp>
        <p:nvSpPr>
          <p:cNvPr id="33" name="Text 27"/>
          <p:cNvSpPr/>
          <p:nvPr/>
        </p:nvSpPr>
        <p:spPr>
          <a:xfrm>
            <a:off x="3383280" y="4279392"/>
            <a:ext cx="2651760" cy="475488"/>
          </a:xfrm>
          <a:prstGeom prst="rect">
            <a:avLst/>
          </a:prstGeom>
          <a:noFill/>
          <a:ln/>
        </p:spPr>
        <p:txBody>
          <a:bodyPr wrap="square" lIns="0" tIns="0" rIns="0" bIns="0" rtlCol="0" anchor="ctr"/>
          <a:lstStyle/>
          <a:p>
            <a:pPr indent="0" marL="0">
              <a:buNone/>
            </a:pPr>
            <a:r>
              <a:rPr lang="en-US" sz="1300" b="1" dirty="0">
                <a:solidFill>
                  <a:srgbClr val="0B1437"/>
                </a:solidFill>
                <a:latin typeface="Aptos" pitchFamily="34" charset="0"/>
                <a:ea typeface="Aptos" pitchFamily="34" charset="-122"/>
                <a:cs typeface="Aptos" pitchFamily="34" charset="-120"/>
              </a:rPr>
              <a:t>How you want it back.</a:t>
            </a:r>
            <a:endParaRPr lang="en-US" sz="1300" dirty="0"/>
          </a:p>
        </p:txBody>
      </p:sp>
      <p:sp>
        <p:nvSpPr>
          <p:cNvPr id="34" name="Text 28"/>
          <p:cNvSpPr/>
          <p:nvPr/>
        </p:nvSpPr>
        <p:spPr>
          <a:xfrm>
            <a:off x="5989320" y="4279392"/>
            <a:ext cx="5212080" cy="475488"/>
          </a:xfrm>
          <a:prstGeom prst="rect">
            <a:avLst/>
          </a:prstGeom>
          <a:noFill/>
          <a:ln/>
        </p:spPr>
        <p:txBody>
          <a:bodyPr wrap="square" lIns="0" tIns="0" rIns="0" bIns="0" rtlCol="0" anchor="ctr"/>
          <a:lstStyle/>
          <a:p>
            <a:pPr algn="l" indent="0" marL="0">
              <a:buNone/>
            </a:pPr>
            <a:r>
              <a:rPr lang="en-US" sz="1100" dirty="0">
                <a:solidFill>
                  <a:srgbClr val="43507B"/>
                </a:solidFill>
                <a:latin typeface="Consolas" pitchFamily="34" charset="0"/>
                <a:ea typeface="Consolas" pitchFamily="34" charset="-122"/>
                <a:cs typeface="Consolas" pitchFamily="34" charset="-120"/>
              </a:rPr>
              <a:t>"One page."  "Five bullets."  "A short email in my tone."</a:t>
            </a:r>
            <a:endParaRPr lang="en-US" sz="1100" dirty="0"/>
          </a:p>
        </p:txBody>
      </p:sp>
      <p:sp>
        <p:nvSpPr>
          <p:cNvPr id="35" name="Shape 29"/>
          <p:cNvSpPr/>
          <p:nvPr/>
        </p:nvSpPr>
        <p:spPr>
          <a:xfrm>
            <a:off x="822960" y="4956048"/>
            <a:ext cx="10515600" cy="1225296"/>
          </a:xfrm>
          <a:prstGeom prst="roundRect">
            <a:avLst>
              <a:gd name="adj" fmla="val 7463"/>
            </a:avLst>
          </a:prstGeom>
          <a:solidFill>
            <a:srgbClr val="111C44"/>
          </a:solidFill>
          <a:ln w="12700">
            <a:solidFill>
              <a:srgbClr val="26326A"/>
            </a:solidFill>
            <a:prstDash val="solid"/>
          </a:ln>
          <a:effectLst>
            <a:outerShdw sx="100000" sy="100000" kx="0" ky="0" algn="bl" rotWithShape="0" blurRad="114300" dist="38100" dir="5400000">
              <a:srgbClr val="0B1437">
                <a:alpha val="10000"/>
              </a:srgbClr>
            </a:outerShdw>
          </a:effectLst>
        </p:spPr>
      </p:sp>
      <p:sp>
        <p:nvSpPr>
          <p:cNvPr id="36" name="Shape 30"/>
          <p:cNvSpPr/>
          <p:nvPr/>
        </p:nvSpPr>
        <p:spPr>
          <a:xfrm>
            <a:off x="822960" y="5084064"/>
            <a:ext cx="64008" cy="969264"/>
          </a:xfrm>
          <a:prstGeom prst="rect">
            <a:avLst/>
          </a:prstGeom>
          <a:solidFill>
            <a:srgbClr val="12B886"/>
          </a:solidFill>
          <a:ln/>
        </p:spPr>
      </p:sp>
      <p:sp>
        <p:nvSpPr>
          <p:cNvPr id="37" name="Text 31"/>
          <p:cNvSpPr/>
          <p:nvPr/>
        </p:nvSpPr>
        <p:spPr>
          <a:xfrm>
            <a:off x="1143000" y="5102352"/>
            <a:ext cx="9966960" cy="932688"/>
          </a:xfrm>
          <a:prstGeom prst="rect">
            <a:avLst/>
          </a:prstGeom>
          <a:noFill/>
          <a:ln/>
        </p:spPr>
        <p:txBody>
          <a:bodyPr wrap="square" lIns="0" tIns="0" rIns="0" bIns="0" rtlCol="0" anchor="ctr"/>
          <a:lstStyle/>
          <a:p>
            <a:pPr algn="l" indent="0" marL="0">
              <a:lnSpc>
                <a:spcPct val="114000"/>
              </a:lnSpc>
              <a:buNone/>
            </a:pPr>
            <a:r>
              <a:rPr lang="en-US" sz="1400" b="1" dirty="0">
                <a:solidFill>
                  <a:srgbClr val="6FE3E6"/>
                </a:solidFill>
                <a:latin typeface="Consolas" pitchFamily="34" charset="0"/>
                <a:ea typeface="Consolas" pitchFamily="34" charset="-122"/>
                <a:cs typeface="Consolas" pitchFamily="34" charset="-120"/>
              </a:rPr>
              <a:t>Better:  </a:t>
            </a:r>
            <a:pPr algn="l" indent="0" marL="0">
              <a:lnSpc>
                <a:spcPct val="114000"/>
              </a:lnSpc>
              <a:buNone/>
            </a:pPr>
            <a:r>
              <a:rPr lang="en-US" sz="1400" dirty="0">
                <a:solidFill>
                  <a:srgbClr val="E7ECFF"/>
                </a:solidFill>
                <a:latin typeface="Consolas" pitchFamily="34" charset="0"/>
                <a:ea typeface="Consolas" pitchFamily="34" charset="-122"/>
                <a:cs typeface="Consolas" pitchFamily="34" charset="-120"/>
              </a:rPr>
              <a:t>Draft a short update for my leadership team </a:t>
            </a:r>
            <a:pPr algn="l" indent="0" marL="0">
              <a:lnSpc>
                <a:spcPct val="114000"/>
              </a:lnSpc>
              <a:buNone/>
            </a:pPr>
            <a:r>
              <a:rPr lang="en-US" sz="1400" b="1" dirty="0">
                <a:solidFill>
                  <a:srgbClr val="7FB0FF"/>
                </a:solidFill>
                <a:latin typeface="Consolas" pitchFamily="34" charset="0"/>
                <a:ea typeface="Consolas" pitchFamily="34" charset="-122"/>
                <a:cs typeface="Consolas" pitchFamily="34" charset="-120"/>
              </a:rPr>
              <a:t>[goal+context]</a:t>
            </a:r>
            <a:pPr algn="l" indent="0" marL="0">
              <a:lnSpc>
                <a:spcPct val="114000"/>
              </a:lnSpc>
              <a:buNone/>
            </a:pPr>
            <a:r>
              <a:rPr lang="en-US" sz="1400" dirty="0">
                <a:solidFill>
                  <a:srgbClr val="E7ECFF"/>
                </a:solidFill>
                <a:latin typeface="Consolas" pitchFamily="34" charset="0"/>
                <a:ea typeface="Consolas" pitchFamily="34" charset="-122"/>
                <a:cs typeface="Consolas" pitchFamily="34" charset="-120"/>
              </a:rPr>
              <a:t> from the notes of yesterday's vendor meeting </a:t>
            </a:r>
            <a:pPr algn="l" indent="0" marL="0">
              <a:lnSpc>
                <a:spcPct val="114000"/>
              </a:lnSpc>
              <a:buNone/>
            </a:pPr>
            <a:r>
              <a:rPr lang="en-US" sz="1400" b="1" dirty="0">
                <a:solidFill>
                  <a:srgbClr val="6FE3E6"/>
                </a:solidFill>
                <a:latin typeface="Consolas" pitchFamily="34" charset="0"/>
                <a:ea typeface="Consolas" pitchFamily="34" charset="-122"/>
                <a:cs typeface="Consolas" pitchFamily="34" charset="-120"/>
              </a:rPr>
              <a:t>[source]</a:t>
            </a:r>
            <a:pPr algn="l" indent="0" marL="0">
              <a:lnSpc>
                <a:spcPct val="114000"/>
              </a:lnSpc>
              <a:buNone/>
            </a:pPr>
            <a:r>
              <a:rPr lang="en-US" sz="1400" dirty="0">
                <a:solidFill>
                  <a:srgbClr val="E7ECFF"/>
                </a:solidFill>
                <a:latin typeface="Consolas" pitchFamily="34" charset="0"/>
                <a:ea typeface="Consolas" pitchFamily="34" charset="-122"/>
                <a:cs typeface="Consolas" pitchFamily="34" charset="-120"/>
              </a:rPr>
              <a:t>. Plain language, five bullets, decisions and next steps only </a:t>
            </a:r>
            <a:pPr algn="l" indent="0" marL="0">
              <a:lnSpc>
                <a:spcPct val="114000"/>
              </a:lnSpc>
              <a:buNone/>
            </a:pPr>
            <a:r>
              <a:rPr lang="en-US" sz="1400" b="1" dirty="0">
                <a:solidFill>
                  <a:srgbClr val="FFCB6B"/>
                </a:solidFill>
                <a:latin typeface="Consolas" pitchFamily="34" charset="0"/>
                <a:ea typeface="Consolas" pitchFamily="34" charset="-122"/>
                <a:cs typeface="Consolas" pitchFamily="34" charset="-120"/>
              </a:rPr>
              <a:t>[format]</a:t>
            </a:r>
            <a:pPr algn="l" indent="0" marL="0">
              <a:lnSpc>
                <a:spcPct val="114000"/>
              </a:lnSpc>
              <a:buNone/>
            </a:pPr>
            <a:r>
              <a:rPr lang="en-US" sz="1400" dirty="0">
                <a:solidFill>
                  <a:srgbClr val="E7ECFF"/>
                </a:solidFill>
                <a:latin typeface="Consolas" pitchFamily="34" charset="0"/>
                <a:ea typeface="Consolas" pitchFamily="34" charset="-122"/>
                <a:cs typeface="Consolas" pitchFamily="34" charset="-120"/>
              </a:rPr>
              <a:t>.</a:t>
            </a:r>
            <a:endParaRPr lang="en-US" sz="1400" dirty="0"/>
          </a:p>
        </p:txBody>
      </p:sp>
      <p:sp>
        <p:nvSpPr>
          <p:cNvPr id="38" name="Text 32"/>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1 · Foundations</a:t>
            </a:r>
            <a:endParaRPr lang="en-US" sz="900" dirty="0"/>
          </a:p>
        </p:txBody>
      </p:sp>
      <p:sp>
        <p:nvSpPr>
          <p:cNvPr id="39" name="Text 33"/>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2D6CDF"/>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1</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2D6CDF"/>
                </a:solidFill>
                <a:latin typeface="Aptos" pitchFamily="34" charset="0"/>
                <a:ea typeface="Aptos" pitchFamily="34" charset="-122"/>
                <a:cs typeface="Aptos" pitchFamily="34" charset="-120"/>
              </a:rPr>
              <a:t>BY APP: WHERE THE TIME COMES BACK</a:t>
            </a:r>
            <a:endParaRPr lang="en-US" sz="1200" dirty="0"/>
          </a:p>
        </p:txBody>
      </p:sp>
      <p:sp>
        <p:nvSpPr>
          <p:cNvPr id="5" name="Text 3"/>
          <p:cNvSpPr/>
          <p:nvPr/>
        </p:nvSpPr>
        <p:spPr>
          <a:xfrm>
            <a:off x="786384" y="914400"/>
            <a:ext cx="11155680" cy="548640"/>
          </a:xfrm>
          <a:prstGeom prst="rect">
            <a:avLst/>
          </a:prstGeom>
          <a:noFill/>
          <a:ln/>
        </p:spPr>
        <p:txBody>
          <a:bodyPr wrap="square" lIns="0" tIns="0" rIns="0" bIns="0" rtlCol="0" anchor="ctr"/>
          <a:lstStyle/>
          <a:p>
            <a:pPr indent="0" marL="0">
              <a:buNone/>
            </a:pPr>
            <a:r>
              <a:rPr lang="en-US" sz="2700" b="1" dirty="0">
                <a:solidFill>
                  <a:srgbClr val="0B1437"/>
                </a:solidFill>
                <a:latin typeface="Aptos" pitchFamily="34" charset="0"/>
                <a:ea typeface="Aptos" pitchFamily="34" charset="-122"/>
                <a:cs typeface="Aptos" pitchFamily="34" charset="-120"/>
              </a:rPr>
              <a:t>The same assistant, tuned to the work in front of you</a:t>
            </a:r>
            <a:endParaRPr lang="en-US" sz="2700" dirty="0"/>
          </a:p>
        </p:txBody>
      </p:sp>
      <p:sp>
        <p:nvSpPr>
          <p:cNvPr id="6" name="Shape 4"/>
          <p:cNvSpPr/>
          <p:nvPr/>
        </p:nvSpPr>
        <p:spPr>
          <a:xfrm>
            <a:off x="822960" y="1572768"/>
            <a:ext cx="5175504" cy="1298448"/>
          </a:xfrm>
          <a:prstGeom prst="roundRect">
            <a:avLst>
              <a:gd name="adj" fmla="val 5634"/>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7" name="Shape 5"/>
          <p:cNvSpPr/>
          <p:nvPr/>
        </p:nvSpPr>
        <p:spPr>
          <a:xfrm>
            <a:off x="822960" y="1682496"/>
            <a:ext cx="64008" cy="1078992"/>
          </a:xfrm>
          <a:prstGeom prst="rect">
            <a:avLst/>
          </a:prstGeom>
          <a:solidFill>
            <a:srgbClr val="2D6CDF"/>
          </a:solidFill>
          <a:ln/>
        </p:spPr>
      </p:sp>
      <p:sp>
        <p:nvSpPr>
          <p:cNvPr id="8" name="Shape 6"/>
          <p:cNvSpPr/>
          <p:nvPr/>
        </p:nvSpPr>
        <p:spPr>
          <a:xfrm>
            <a:off x="1060704" y="1773936"/>
            <a:ext cx="512064" cy="512064"/>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9" name="Image 0" descr="preencoded.png">    </p:cNvPr>
          <p:cNvPicPr>
            <a:picLocks noChangeAspect="1"/>
          </p:cNvPicPr>
          <p:nvPr/>
        </p:nvPicPr>
        <p:blipFill>
          <a:blip r:embed="rId1"/>
          <a:stretch>
            <a:fillRect/>
          </a:stretch>
        </p:blipFill>
        <p:spPr>
          <a:xfrm>
            <a:off x="1214323" y="1927555"/>
            <a:ext cx="204826" cy="204826"/>
          </a:xfrm>
          <a:prstGeom prst="rect">
            <a:avLst/>
          </a:prstGeom>
        </p:spPr>
      </p:pic>
      <p:sp>
        <p:nvSpPr>
          <p:cNvPr id="10" name="Text 7"/>
          <p:cNvSpPr/>
          <p:nvPr/>
        </p:nvSpPr>
        <p:spPr>
          <a:xfrm>
            <a:off x="1719072" y="1737360"/>
            <a:ext cx="4078224" cy="274320"/>
          </a:xfrm>
          <a:prstGeom prst="rect">
            <a:avLst/>
          </a:prstGeom>
          <a:noFill/>
          <a:ln/>
        </p:spPr>
        <p:txBody>
          <a:bodyPr wrap="square" lIns="0" tIns="0" rIns="0" bIns="0" rtlCol="0" anchor="ctr"/>
          <a:lstStyle/>
          <a:p>
            <a:pPr indent="0" marL="0">
              <a:buNone/>
            </a:pPr>
            <a:r>
              <a:rPr lang="en-US" sz="1500" b="1" u="sng" dirty="0">
                <a:solidFill>
                  <a:srgbClr val="2D6CDF"/>
                </a:solid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Outlook</a:t>
            </a:r>
            <a:endParaRPr lang="en-US" sz="1500" dirty="0"/>
          </a:p>
        </p:txBody>
      </p:sp>
      <p:sp>
        <p:nvSpPr>
          <p:cNvPr id="11" name="Text 8"/>
          <p:cNvSpPr/>
          <p:nvPr/>
        </p:nvSpPr>
        <p:spPr>
          <a:xfrm>
            <a:off x="1719072" y="2011680"/>
            <a:ext cx="4078224" cy="384048"/>
          </a:xfrm>
          <a:prstGeom prst="rect">
            <a:avLst/>
          </a:prstGeom>
          <a:noFill/>
          <a:ln/>
        </p:spPr>
        <p:txBody>
          <a:bodyPr wrap="square" lIns="0" tIns="0" rIns="0" bIns="0" rtlCol="0" anchor="t"/>
          <a:lstStyle/>
          <a:p>
            <a:pPr indent="0" marL="0">
              <a:lnSpc>
                <a:spcPct val="104000"/>
              </a:lnSpc>
              <a:buNone/>
            </a:pPr>
            <a:r>
              <a:rPr lang="en-US" sz="1100" dirty="0">
                <a:solidFill>
                  <a:srgbClr val="43507B"/>
                </a:solidFill>
                <a:latin typeface="Aptos" pitchFamily="34" charset="0"/>
                <a:ea typeface="Aptos" pitchFamily="34" charset="-122"/>
                <a:cs typeface="Aptos" pitchFamily="34" charset="-120"/>
              </a:rPr>
              <a:t>Triage the morning, summarize a long thread, draft in your tone.</a:t>
            </a:r>
            <a:endParaRPr lang="en-US" sz="1100" dirty="0"/>
          </a:p>
        </p:txBody>
      </p:sp>
      <p:sp>
        <p:nvSpPr>
          <p:cNvPr id="12" name="Shape 9"/>
          <p:cNvSpPr/>
          <p:nvPr/>
        </p:nvSpPr>
        <p:spPr>
          <a:xfrm>
            <a:off x="1060704" y="2432304"/>
            <a:ext cx="4700016" cy="329184"/>
          </a:xfrm>
          <a:prstGeom prst="roundRect">
            <a:avLst>
              <a:gd name="adj" fmla="val 13889"/>
            </a:avLst>
          </a:prstGeom>
          <a:solidFill>
            <a:srgbClr val="EEF2FB"/>
          </a:solidFill>
          <a:ln/>
        </p:spPr>
      </p:sp>
      <p:sp>
        <p:nvSpPr>
          <p:cNvPr id="13" name="Text 10"/>
          <p:cNvSpPr/>
          <p:nvPr/>
        </p:nvSpPr>
        <p:spPr>
          <a:xfrm>
            <a:off x="1188720" y="2432304"/>
            <a:ext cx="4517136" cy="329184"/>
          </a:xfrm>
          <a:prstGeom prst="rect">
            <a:avLst/>
          </a:prstGeom>
          <a:noFill/>
          <a:ln/>
        </p:spPr>
        <p:txBody>
          <a:bodyPr wrap="square" lIns="0" tIns="0" rIns="0" bIns="0" rtlCol="0" anchor="ctr"/>
          <a:lstStyle/>
          <a:p>
            <a:pPr algn="l" indent="0" marL="0">
              <a:buNone/>
            </a:pPr>
            <a:r>
              <a:rPr lang="en-US" sz="950" b="1" dirty="0">
                <a:solidFill>
                  <a:srgbClr val="2D6CDF"/>
                </a:solidFill>
                <a:latin typeface="Consolas" pitchFamily="34" charset="0"/>
                <a:ea typeface="Consolas" pitchFamily="34" charset="-122"/>
                <a:cs typeface="Consolas" pitchFamily="34" charset="-120"/>
              </a:rPr>
              <a:t>› </a:t>
            </a:r>
            <a:pPr algn="l" indent="0" marL="0">
              <a:buNone/>
            </a:pPr>
            <a:r>
              <a:rPr lang="en-US" sz="950" dirty="0">
                <a:solidFill>
                  <a:srgbClr val="43507B"/>
                </a:solidFill>
                <a:latin typeface="Consolas" pitchFamily="34" charset="0"/>
                <a:ea typeface="Consolas" pitchFamily="34" charset="-122"/>
                <a:cs typeface="Consolas" pitchFamily="34" charset="-120"/>
              </a:rPr>
              <a:t>Summarize this thread and draft a reply. Keep my tone direct and warm.</a:t>
            </a:r>
            <a:endParaRPr lang="en-US" sz="950" dirty="0"/>
          </a:p>
        </p:txBody>
      </p:sp>
      <p:sp>
        <p:nvSpPr>
          <p:cNvPr id="14" name="Shape 11"/>
          <p:cNvSpPr/>
          <p:nvPr/>
        </p:nvSpPr>
        <p:spPr>
          <a:xfrm>
            <a:off x="6163056" y="1572768"/>
            <a:ext cx="5175504" cy="1298448"/>
          </a:xfrm>
          <a:prstGeom prst="roundRect">
            <a:avLst>
              <a:gd name="adj" fmla="val 5634"/>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5" name="Shape 12"/>
          <p:cNvSpPr/>
          <p:nvPr/>
        </p:nvSpPr>
        <p:spPr>
          <a:xfrm>
            <a:off x="6163056" y="1682496"/>
            <a:ext cx="64008" cy="1078992"/>
          </a:xfrm>
          <a:prstGeom prst="rect">
            <a:avLst/>
          </a:prstGeom>
          <a:solidFill>
            <a:srgbClr val="12B5BC"/>
          </a:solidFill>
          <a:ln/>
        </p:spPr>
      </p:sp>
      <p:sp>
        <p:nvSpPr>
          <p:cNvPr id="16" name="Shape 13"/>
          <p:cNvSpPr/>
          <p:nvPr/>
        </p:nvSpPr>
        <p:spPr>
          <a:xfrm>
            <a:off x="6400800" y="1773936"/>
            <a:ext cx="512064" cy="512064"/>
          </a:xfrm>
          <a:prstGeom prst="ellipse">
            <a:avLst/>
          </a:prstGeom>
          <a:solidFill>
            <a:srgbClr val="12B5BC"/>
          </a:solidFill>
          <a:ln/>
          <a:effectLst>
            <a:outerShdw sx="100000" sy="100000" kx="0" ky="0" algn="bl" rotWithShape="0" blurRad="114300" dist="38100" dir="5400000">
              <a:srgbClr val="0B1437">
                <a:alpha val="10000"/>
              </a:srgbClr>
            </a:outerShdw>
          </a:effectLst>
        </p:spPr>
      </p:sp>
      <p:pic>
        <p:nvPicPr>
          <p:cNvPr id="17" name="Image 1" descr="preencoded.png">    </p:cNvPr>
          <p:cNvPicPr>
            <a:picLocks noChangeAspect="1"/>
          </p:cNvPicPr>
          <p:nvPr/>
        </p:nvPicPr>
        <p:blipFill>
          <a:blip r:embed="rId3"/>
          <a:stretch>
            <a:fillRect/>
          </a:stretch>
        </p:blipFill>
        <p:spPr>
          <a:xfrm>
            <a:off x="6554419" y="1927555"/>
            <a:ext cx="204826" cy="204826"/>
          </a:xfrm>
          <a:prstGeom prst="rect">
            <a:avLst/>
          </a:prstGeom>
        </p:spPr>
      </p:pic>
      <p:sp>
        <p:nvSpPr>
          <p:cNvPr id="18" name="Text 14"/>
          <p:cNvSpPr/>
          <p:nvPr/>
        </p:nvSpPr>
        <p:spPr>
          <a:xfrm>
            <a:off x="7059168" y="1737360"/>
            <a:ext cx="4078224" cy="274320"/>
          </a:xfrm>
          <a:prstGeom prst="rect">
            <a:avLst/>
          </a:prstGeom>
          <a:noFill/>
          <a:ln/>
        </p:spPr>
        <p:txBody>
          <a:bodyPr wrap="square" lIns="0" tIns="0" rIns="0" bIns="0" rtlCol="0" anchor="ctr"/>
          <a:lstStyle/>
          <a:p>
            <a:pPr indent="0" marL="0">
              <a:buNone/>
            </a:pPr>
            <a:r>
              <a:rPr lang="en-US" sz="1500" b="1" dirty="0">
                <a:solidFill>
                  <a:srgbClr val="12B5BC"/>
                </a:solidFill>
                <a:latin typeface="Aptos" pitchFamily="34" charset="0"/>
                <a:ea typeface="Aptos" pitchFamily="34" charset="-122"/>
                <a:cs typeface="Aptos" pitchFamily="34" charset="-120"/>
              </a:rPr>
              <a:t>Word</a:t>
            </a:r>
            <a:endParaRPr lang="en-US" sz="1500" dirty="0"/>
          </a:p>
        </p:txBody>
      </p:sp>
      <p:sp>
        <p:nvSpPr>
          <p:cNvPr id="19" name="Text 15"/>
          <p:cNvSpPr/>
          <p:nvPr/>
        </p:nvSpPr>
        <p:spPr>
          <a:xfrm>
            <a:off x="7059168" y="2011680"/>
            <a:ext cx="4078224" cy="384048"/>
          </a:xfrm>
          <a:prstGeom prst="rect">
            <a:avLst/>
          </a:prstGeom>
          <a:noFill/>
          <a:ln/>
        </p:spPr>
        <p:txBody>
          <a:bodyPr wrap="square" lIns="0" tIns="0" rIns="0" bIns="0" rtlCol="0" anchor="t"/>
          <a:lstStyle/>
          <a:p>
            <a:pPr indent="0" marL="0">
              <a:lnSpc>
                <a:spcPct val="104000"/>
              </a:lnSpc>
              <a:buNone/>
            </a:pPr>
            <a:r>
              <a:rPr lang="en-US" sz="1100" dirty="0">
                <a:solidFill>
                  <a:srgbClr val="43507B"/>
                </a:solidFill>
                <a:latin typeface="Aptos" pitchFamily="34" charset="0"/>
                <a:ea typeface="Aptos" pitchFamily="34" charset="-122"/>
                <a:cs typeface="Aptos" pitchFamily="34" charset="-120"/>
              </a:rPr>
              <a:t>Draft from your own files, compress a 20-page report to one page.</a:t>
            </a:r>
            <a:endParaRPr lang="en-US" sz="1100" dirty="0"/>
          </a:p>
        </p:txBody>
      </p:sp>
      <p:sp>
        <p:nvSpPr>
          <p:cNvPr id="20" name="Shape 16"/>
          <p:cNvSpPr/>
          <p:nvPr/>
        </p:nvSpPr>
        <p:spPr>
          <a:xfrm>
            <a:off x="6400800" y="2432304"/>
            <a:ext cx="4700016" cy="329184"/>
          </a:xfrm>
          <a:prstGeom prst="roundRect">
            <a:avLst>
              <a:gd name="adj" fmla="val 13889"/>
            </a:avLst>
          </a:prstGeom>
          <a:solidFill>
            <a:srgbClr val="EEF2FB"/>
          </a:solidFill>
          <a:ln/>
        </p:spPr>
      </p:sp>
      <p:sp>
        <p:nvSpPr>
          <p:cNvPr id="21" name="Text 17"/>
          <p:cNvSpPr/>
          <p:nvPr/>
        </p:nvSpPr>
        <p:spPr>
          <a:xfrm>
            <a:off x="6528816" y="2432304"/>
            <a:ext cx="4517136" cy="329184"/>
          </a:xfrm>
          <a:prstGeom prst="rect">
            <a:avLst/>
          </a:prstGeom>
          <a:noFill/>
          <a:ln/>
        </p:spPr>
        <p:txBody>
          <a:bodyPr wrap="square" lIns="0" tIns="0" rIns="0" bIns="0" rtlCol="0" anchor="ctr"/>
          <a:lstStyle/>
          <a:p>
            <a:pPr algn="l" indent="0" marL="0">
              <a:buNone/>
            </a:pPr>
            <a:r>
              <a:rPr lang="en-US" sz="950" b="1" dirty="0">
                <a:solidFill>
                  <a:srgbClr val="12B5BC"/>
                </a:solidFill>
                <a:latin typeface="Consolas" pitchFamily="34" charset="0"/>
                <a:ea typeface="Consolas" pitchFamily="34" charset="-122"/>
                <a:cs typeface="Consolas" pitchFamily="34" charset="-120"/>
              </a:rPr>
              <a:t>› </a:t>
            </a:r>
            <a:pPr algn="l" indent="0" marL="0">
              <a:buNone/>
            </a:pPr>
            <a:r>
              <a:rPr lang="en-US" sz="950" dirty="0">
                <a:solidFill>
                  <a:srgbClr val="43507B"/>
                </a:solidFill>
                <a:latin typeface="Consolas" pitchFamily="34" charset="0"/>
                <a:ea typeface="Consolas" pitchFamily="34" charset="-122"/>
                <a:cs typeface="Consolas" pitchFamily="34" charset="-120"/>
              </a:rPr>
              <a:t>Draft a one-page board update from these documents. Risks up front.</a:t>
            </a:r>
            <a:endParaRPr lang="en-US" sz="950" dirty="0"/>
          </a:p>
        </p:txBody>
      </p:sp>
      <p:sp>
        <p:nvSpPr>
          <p:cNvPr id="22" name="Shape 18"/>
          <p:cNvSpPr/>
          <p:nvPr/>
        </p:nvSpPr>
        <p:spPr>
          <a:xfrm>
            <a:off x="822960" y="2999232"/>
            <a:ext cx="5175504" cy="1298448"/>
          </a:xfrm>
          <a:prstGeom prst="roundRect">
            <a:avLst>
              <a:gd name="adj" fmla="val 5634"/>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3" name="Shape 19"/>
          <p:cNvSpPr/>
          <p:nvPr/>
        </p:nvSpPr>
        <p:spPr>
          <a:xfrm>
            <a:off x="822960" y="3108960"/>
            <a:ext cx="64008" cy="1078992"/>
          </a:xfrm>
          <a:prstGeom prst="rect">
            <a:avLst/>
          </a:prstGeom>
          <a:solidFill>
            <a:srgbClr val="12B886"/>
          </a:solidFill>
          <a:ln/>
        </p:spPr>
      </p:sp>
      <p:sp>
        <p:nvSpPr>
          <p:cNvPr id="24" name="Shape 20"/>
          <p:cNvSpPr/>
          <p:nvPr/>
        </p:nvSpPr>
        <p:spPr>
          <a:xfrm>
            <a:off x="1060704" y="3200400"/>
            <a:ext cx="512064" cy="512064"/>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25" name="Image 2" descr="preencoded.png">    </p:cNvPr>
          <p:cNvPicPr>
            <a:picLocks noChangeAspect="1"/>
          </p:cNvPicPr>
          <p:nvPr/>
        </p:nvPicPr>
        <p:blipFill>
          <a:blip r:embed="rId4"/>
          <a:stretch>
            <a:fillRect/>
          </a:stretch>
        </p:blipFill>
        <p:spPr>
          <a:xfrm>
            <a:off x="1214323" y="3354019"/>
            <a:ext cx="204826" cy="204826"/>
          </a:xfrm>
          <a:prstGeom prst="rect">
            <a:avLst/>
          </a:prstGeom>
        </p:spPr>
      </p:pic>
      <p:sp>
        <p:nvSpPr>
          <p:cNvPr id="26" name="Text 21"/>
          <p:cNvSpPr/>
          <p:nvPr/>
        </p:nvSpPr>
        <p:spPr>
          <a:xfrm>
            <a:off x="1719072" y="3163824"/>
            <a:ext cx="4078224" cy="274320"/>
          </a:xfrm>
          <a:prstGeom prst="rect">
            <a:avLst/>
          </a:prstGeom>
          <a:noFill/>
          <a:ln/>
        </p:spPr>
        <p:txBody>
          <a:bodyPr wrap="square" lIns="0" tIns="0" rIns="0" bIns="0" rtlCol="0" anchor="ctr"/>
          <a:lstStyle/>
          <a:p>
            <a:pPr indent="0" marL="0">
              <a:buNone/>
            </a:pPr>
            <a:r>
              <a:rPr lang="en-US" sz="1500" b="1" u="sng" dirty="0">
                <a:solidFill>
                  <a:srgbClr val="12B886"/>
                </a:solidFill>
                <a:latin typeface="Aptos" pitchFamily="34" charset="0"/>
                <a:ea typeface="Aptos" pitchFamily="34" charset="-122"/>
                <a:cs typeface="Aptos" pitchFamily="34" charset="-120"/>
                <a:hlinkClick r:id="rId5" invalidUrl="" action="" tgtFrame="" tooltip="" history="1" highlightClick="0" endSnd="0">
                  <a:extLst>
                    <a:ext uri="{A12FA001-AC4F-418D-AE19-62706E023703}">
                      <ahyp:hlinkClr xmlns:ahyp="http://schemas.microsoft.com/office/drawing/2018/hyperlinkcolor" val="tx"/>
                    </a:ext>
                  </a:extLst>
                </a:hlinkClick>
              </a:rPr>
              <a:t>Excel</a:t>
            </a:r>
            <a:endParaRPr lang="en-US" sz="1500" dirty="0"/>
          </a:p>
        </p:txBody>
      </p:sp>
      <p:sp>
        <p:nvSpPr>
          <p:cNvPr id="27" name="Text 22"/>
          <p:cNvSpPr/>
          <p:nvPr/>
        </p:nvSpPr>
        <p:spPr>
          <a:xfrm>
            <a:off x="1719072" y="3438144"/>
            <a:ext cx="4078224" cy="384048"/>
          </a:xfrm>
          <a:prstGeom prst="rect">
            <a:avLst/>
          </a:prstGeom>
          <a:noFill/>
          <a:ln/>
        </p:spPr>
        <p:txBody>
          <a:bodyPr wrap="square" lIns="0" tIns="0" rIns="0" bIns="0" rtlCol="0" anchor="t"/>
          <a:lstStyle/>
          <a:p>
            <a:pPr indent="0" marL="0">
              <a:lnSpc>
                <a:spcPct val="104000"/>
              </a:lnSpc>
              <a:buNone/>
            </a:pPr>
            <a:r>
              <a:rPr lang="en-US" sz="1100" dirty="0">
                <a:solidFill>
                  <a:srgbClr val="43507B"/>
                </a:solidFill>
                <a:latin typeface="Aptos" pitchFamily="34" charset="0"/>
                <a:ea typeface="Aptos" pitchFamily="34" charset="-122"/>
                <a:cs typeface="Aptos" pitchFamily="34" charset="-120"/>
              </a:rPr>
              <a:t>Ask what is happening in plain English. No formulas required.</a:t>
            </a:r>
            <a:endParaRPr lang="en-US" sz="1100" dirty="0"/>
          </a:p>
        </p:txBody>
      </p:sp>
      <p:sp>
        <p:nvSpPr>
          <p:cNvPr id="28" name="Shape 23"/>
          <p:cNvSpPr/>
          <p:nvPr/>
        </p:nvSpPr>
        <p:spPr>
          <a:xfrm>
            <a:off x="1060704" y="3858768"/>
            <a:ext cx="4700016" cy="329184"/>
          </a:xfrm>
          <a:prstGeom prst="roundRect">
            <a:avLst>
              <a:gd name="adj" fmla="val 13889"/>
            </a:avLst>
          </a:prstGeom>
          <a:solidFill>
            <a:srgbClr val="EEF2FB"/>
          </a:solidFill>
          <a:ln/>
        </p:spPr>
      </p:sp>
      <p:sp>
        <p:nvSpPr>
          <p:cNvPr id="29" name="Text 24"/>
          <p:cNvSpPr/>
          <p:nvPr/>
        </p:nvSpPr>
        <p:spPr>
          <a:xfrm>
            <a:off x="1188720" y="3858768"/>
            <a:ext cx="4517136" cy="329184"/>
          </a:xfrm>
          <a:prstGeom prst="rect">
            <a:avLst/>
          </a:prstGeom>
          <a:noFill/>
          <a:ln/>
        </p:spPr>
        <p:txBody>
          <a:bodyPr wrap="square" lIns="0" tIns="0" rIns="0" bIns="0" rtlCol="0" anchor="ctr"/>
          <a:lstStyle/>
          <a:p>
            <a:pPr algn="l" indent="0" marL="0">
              <a:buNone/>
            </a:pPr>
            <a:r>
              <a:rPr lang="en-US" sz="950" b="1" dirty="0">
                <a:solidFill>
                  <a:srgbClr val="12B886"/>
                </a:solidFill>
                <a:latin typeface="Consolas" pitchFamily="34" charset="0"/>
                <a:ea typeface="Consolas" pitchFamily="34" charset="-122"/>
                <a:cs typeface="Consolas" pitchFamily="34" charset="-120"/>
              </a:rPr>
              <a:t>› </a:t>
            </a:r>
            <a:pPr algn="l" indent="0" marL="0">
              <a:buNone/>
            </a:pPr>
            <a:r>
              <a:rPr lang="en-US" sz="950" dirty="0">
                <a:solidFill>
                  <a:srgbClr val="43507B"/>
                </a:solidFill>
                <a:latin typeface="Consolas" pitchFamily="34" charset="0"/>
                <a:ea typeface="Consolas" pitchFamily="34" charset="-122"/>
                <a:cs typeface="Consolas" pitchFamily="34" charset="-120"/>
              </a:rPr>
              <a:t>What are the three trends I should care about, and what looks off?</a:t>
            </a:r>
            <a:endParaRPr lang="en-US" sz="950" dirty="0"/>
          </a:p>
        </p:txBody>
      </p:sp>
      <p:sp>
        <p:nvSpPr>
          <p:cNvPr id="30" name="Shape 25"/>
          <p:cNvSpPr/>
          <p:nvPr/>
        </p:nvSpPr>
        <p:spPr>
          <a:xfrm>
            <a:off x="6163056" y="2999232"/>
            <a:ext cx="5175504" cy="1298448"/>
          </a:xfrm>
          <a:prstGeom prst="roundRect">
            <a:avLst>
              <a:gd name="adj" fmla="val 5634"/>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31" name="Shape 26"/>
          <p:cNvSpPr/>
          <p:nvPr/>
        </p:nvSpPr>
        <p:spPr>
          <a:xfrm>
            <a:off x="6163056" y="3108960"/>
            <a:ext cx="64008" cy="1078992"/>
          </a:xfrm>
          <a:prstGeom prst="rect">
            <a:avLst/>
          </a:prstGeom>
          <a:solidFill>
            <a:srgbClr val="F0A500"/>
          </a:solidFill>
          <a:ln/>
        </p:spPr>
      </p:sp>
      <p:sp>
        <p:nvSpPr>
          <p:cNvPr id="32" name="Shape 27"/>
          <p:cNvSpPr/>
          <p:nvPr/>
        </p:nvSpPr>
        <p:spPr>
          <a:xfrm>
            <a:off x="6400800" y="3200400"/>
            <a:ext cx="512064" cy="512064"/>
          </a:xfrm>
          <a:prstGeom prst="ellipse">
            <a:avLst/>
          </a:prstGeom>
          <a:solidFill>
            <a:srgbClr val="F0A500"/>
          </a:solidFill>
          <a:ln/>
          <a:effectLst>
            <a:outerShdw sx="100000" sy="100000" kx="0" ky="0" algn="bl" rotWithShape="0" blurRad="114300" dist="38100" dir="5400000">
              <a:srgbClr val="0B1437">
                <a:alpha val="10000"/>
              </a:srgbClr>
            </a:outerShdw>
          </a:effectLst>
        </p:spPr>
      </p:sp>
      <p:pic>
        <p:nvPicPr>
          <p:cNvPr id="33" name="Image 3" descr="preencoded.png">    </p:cNvPr>
          <p:cNvPicPr>
            <a:picLocks noChangeAspect="1"/>
          </p:cNvPicPr>
          <p:nvPr/>
        </p:nvPicPr>
        <p:blipFill>
          <a:blip r:embed="rId6"/>
          <a:stretch>
            <a:fillRect/>
          </a:stretch>
        </p:blipFill>
        <p:spPr>
          <a:xfrm>
            <a:off x="6554419" y="3354019"/>
            <a:ext cx="204826" cy="204826"/>
          </a:xfrm>
          <a:prstGeom prst="rect">
            <a:avLst/>
          </a:prstGeom>
        </p:spPr>
      </p:pic>
      <p:sp>
        <p:nvSpPr>
          <p:cNvPr id="34" name="Text 28"/>
          <p:cNvSpPr/>
          <p:nvPr/>
        </p:nvSpPr>
        <p:spPr>
          <a:xfrm>
            <a:off x="7059168" y="3163824"/>
            <a:ext cx="4078224" cy="274320"/>
          </a:xfrm>
          <a:prstGeom prst="rect">
            <a:avLst/>
          </a:prstGeom>
          <a:noFill/>
          <a:ln/>
        </p:spPr>
        <p:txBody>
          <a:bodyPr wrap="square" lIns="0" tIns="0" rIns="0" bIns="0" rtlCol="0" anchor="ctr"/>
          <a:lstStyle/>
          <a:p>
            <a:pPr indent="0" marL="0">
              <a:buNone/>
            </a:pPr>
            <a:r>
              <a:rPr lang="en-US" sz="1500" b="1" dirty="0">
                <a:solidFill>
                  <a:srgbClr val="F0A500"/>
                </a:solidFill>
                <a:latin typeface="Aptos" pitchFamily="34" charset="0"/>
                <a:ea typeface="Aptos" pitchFamily="34" charset="-122"/>
                <a:cs typeface="Aptos" pitchFamily="34" charset="-120"/>
              </a:rPr>
              <a:t>PowerPoint</a:t>
            </a:r>
            <a:endParaRPr lang="en-US" sz="1500" dirty="0"/>
          </a:p>
        </p:txBody>
      </p:sp>
      <p:sp>
        <p:nvSpPr>
          <p:cNvPr id="35" name="Text 29"/>
          <p:cNvSpPr/>
          <p:nvPr/>
        </p:nvSpPr>
        <p:spPr>
          <a:xfrm>
            <a:off x="7059168" y="3438144"/>
            <a:ext cx="4078224" cy="384048"/>
          </a:xfrm>
          <a:prstGeom prst="rect">
            <a:avLst/>
          </a:prstGeom>
          <a:noFill/>
          <a:ln/>
        </p:spPr>
        <p:txBody>
          <a:bodyPr wrap="square" lIns="0" tIns="0" rIns="0" bIns="0" rtlCol="0" anchor="t"/>
          <a:lstStyle/>
          <a:p>
            <a:pPr indent="0" marL="0">
              <a:lnSpc>
                <a:spcPct val="104000"/>
              </a:lnSpc>
              <a:buNone/>
            </a:pPr>
            <a:r>
              <a:rPr lang="en-US" sz="1100" dirty="0">
                <a:solidFill>
                  <a:srgbClr val="43507B"/>
                </a:solidFill>
                <a:latin typeface="Aptos" pitchFamily="34" charset="0"/>
                <a:ea typeface="Aptos" pitchFamily="34" charset="-122"/>
                <a:cs typeface="Aptos" pitchFamily="34" charset="-120"/>
              </a:rPr>
              <a:t>Turn a document into a first-draft deck, ready to refine.</a:t>
            </a:r>
            <a:endParaRPr lang="en-US" sz="1100" dirty="0"/>
          </a:p>
        </p:txBody>
      </p:sp>
      <p:sp>
        <p:nvSpPr>
          <p:cNvPr id="36" name="Shape 30"/>
          <p:cNvSpPr/>
          <p:nvPr/>
        </p:nvSpPr>
        <p:spPr>
          <a:xfrm>
            <a:off x="6400800" y="3858768"/>
            <a:ext cx="4700016" cy="329184"/>
          </a:xfrm>
          <a:prstGeom prst="roundRect">
            <a:avLst>
              <a:gd name="adj" fmla="val 13889"/>
            </a:avLst>
          </a:prstGeom>
          <a:solidFill>
            <a:srgbClr val="EEF2FB"/>
          </a:solidFill>
          <a:ln/>
        </p:spPr>
      </p:sp>
      <p:sp>
        <p:nvSpPr>
          <p:cNvPr id="37" name="Text 31"/>
          <p:cNvSpPr/>
          <p:nvPr/>
        </p:nvSpPr>
        <p:spPr>
          <a:xfrm>
            <a:off x="6528816" y="3858768"/>
            <a:ext cx="4517136" cy="329184"/>
          </a:xfrm>
          <a:prstGeom prst="rect">
            <a:avLst/>
          </a:prstGeom>
          <a:noFill/>
          <a:ln/>
        </p:spPr>
        <p:txBody>
          <a:bodyPr wrap="square" lIns="0" tIns="0" rIns="0" bIns="0" rtlCol="0" anchor="ctr"/>
          <a:lstStyle/>
          <a:p>
            <a:pPr algn="l" indent="0" marL="0">
              <a:buNone/>
            </a:pPr>
            <a:r>
              <a:rPr lang="en-US" sz="950" b="1" dirty="0">
                <a:solidFill>
                  <a:srgbClr val="F0A500"/>
                </a:solidFill>
                <a:latin typeface="Consolas" pitchFamily="34" charset="0"/>
                <a:ea typeface="Consolas" pitchFamily="34" charset="-122"/>
                <a:cs typeface="Consolas" pitchFamily="34" charset="-120"/>
              </a:rPr>
              <a:t>› </a:t>
            </a:r>
            <a:pPr algn="l" indent="0" marL="0">
              <a:buNone/>
            </a:pPr>
            <a:r>
              <a:rPr lang="en-US" sz="950" dirty="0">
                <a:solidFill>
                  <a:srgbClr val="43507B"/>
                </a:solidFill>
                <a:latin typeface="Consolas" pitchFamily="34" charset="0"/>
                <a:ea typeface="Consolas" pitchFamily="34" charset="-122"/>
                <a:cs typeface="Consolas" pitchFamily="34" charset="-120"/>
              </a:rPr>
              <a:t>Create a five-slide executive summary. One idea per slide, no jargon.</a:t>
            </a:r>
            <a:endParaRPr lang="en-US" sz="950" dirty="0"/>
          </a:p>
        </p:txBody>
      </p:sp>
      <p:sp>
        <p:nvSpPr>
          <p:cNvPr id="38" name="Shape 32"/>
          <p:cNvSpPr/>
          <p:nvPr/>
        </p:nvSpPr>
        <p:spPr>
          <a:xfrm>
            <a:off x="822960" y="4425696"/>
            <a:ext cx="5175504" cy="1298448"/>
          </a:xfrm>
          <a:prstGeom prst="roundRect">
            <a:avLst>
              <a:gd name="adj" fmla="val 5634"/>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39" name="Shape 33"/>
          <p:cNvSpPr/>
          <p:nvPr/>
        </p:nvSpPr>
        <p:spPr>
          <a:xfrm>
            <a:off x="822960" y="4535424"/>
            <a:ext cx="64008" cy="1078992"/>
          </a:xfrm>
          <a:prstGeom prst="rect">
            <a:avLst/>
          </a:prstGeom>
          <a:solidFill>
            <a:srgbClr val="7C5CFC"/>
          </a:solidFill>
          <a:ln/>
        </p:spPr>
      </p:sp>
      <p:sp>
        <p:nvSpPr>
          <p:cNvPr id="40" name="Shape 34"/>
          <p:cNvSpPr/>
          <p:nvPr/>
        </p:nvSpPr>
        <p:spPr>
          <a:xfrm>
            <a:off x="1060704" y="4626864"/>
            <a:ext cx="512064" cy="512064"/>
          </a:xfrm>
          <a:prstGeom prst="ellipse">
            <a:avLst/>
          </a:prstGeom>
          <a:solidFill>
            <a:srgbClr val="7C5CFC"/>
          </a:solidFill>
          <a:ln/>
          <a:effectLst>
            <a:outerShdw sx="100000" sy="100000" kx="0" ky="0" algn="bl" rotWithShape="0" blurRad="114300" dist="38100" dir="5400000">
              <a:srgbClr val="0B1437">
                <a:alpha val="10000"/>
              </a:srgbClr>
            </a:outerShdw>
          </a:effectLst>
        </p:spPr>
      </p:sp>
      <p:pic>
        <p:nvPicPr>
          <p:cNvPr id="41" name="Image 4" descr="preencoded.png">    </p:cNvPr>
          <p:cNvPicPr>
            <a:picLocks noChangeAspect="1"/>
          </p:cNvPicPr>
          <p:nvPr/>
        </p:nvPicPr>
        <p:blipFill>
          <a:blip r:embed="rId7"/>
          <a:stretch>
            <a:fillRect/>
          </a:stretch>
        </p:blipFill>
        <p:spPr>
          <a:xfrm>
            <a:off x="1214323" y="4780483"/>
            <a:ext cx="204826" cy="204826"/>
          </a:xfrm>
          <a:prstGeom prst="rect">
            <a:avLst/>
          </a:prstGeom>
        </p:spPr>
      </p:pic>
      <p:sp>
        <p:nvSpPr>
          <p:cNvPr id="42" name="Text 35"/>
          <p:cNvSpPr/>
          <p:nvPr/>
        </p:nvSpPr>
        <p:spPr>
          <a:xfrm>
            <a:off x="1719072" y="4590288"/>
            <a:ext cx="4078224" cy="274320"/>
          </a:xfrm>
          <a:prstGeom prst="rect">
            <a:avLst/>
          </a:prstGeom>
          <a:noFill/>
          <a:ln/>
        </p:spPr>
        <p:txBody>
          <a:bodyPr wrap="square" lIns="0" tIns="0" rIns="0" bIns="0" rtlCol="0" anchor="ctr"/>
          <a:lstStyle/>
          <a:p>
            <a:pPr indent="0" marL="0">
              <a:buNone/>
            </a:pPr>
            <a:r>
              <a:rPr lang="en-US" sz="1500" b="1" u="sng" dirty="0">
                <a:solidFill>
                  <a:srgbClr val="7C5CFC"/>
                </a:solidFill>
                <a:latin typeface="Aptos" pitchFamily="34" charset="0"/>
                <a:ea typeface="Aptos" pitchFamily="34" charset="-122"/>
                <a:cs typeface="Aptos" pitchFamily="34" charset="-120"/>
                <a:hlinkClick r:id="rId8" invalidUrl="" action="" tgtFrame="" tooltip="" history="1" highlightClick="0" endSnd="0">
                  <a:extLst>
                    <a:ext uri="{A12FA001-AC4F-418D-AE19-62706E023703}">
                      <ahyp:hlinkClr xmlns:ahyp="http://schemas.microsoft.com/office/drawing/2018/hyperlinkcolor" val="tx"/>
                    </a:ext>
                  </a:extLst>
                </a:hlinkClick>
              </a:rPr>
              <a:t>Teams</a:t>
            </a:r>
            <a:endParaRPr lang="en-US" sz="1500" dirty="0"/>
          </a:p>
        </p:txBody>
      </p:sp>
      <p:sp>
        <p:nvSpPr>
          <p:cNvPr id="43" name="Text 36"/>
          <p:cNvSpPr/>
          <p:nvPr/>
        </p:nvSpPr>
        <p:spPr>
          <a:xfrm>
            <a:off x="1719072" y="4864608"/>
            <a:ext cx="4078224" cy="384048"/>
          </a:xfrm>
          <a:prstGeom prst="rect">
            <a:avLst/>
          </a:prstGeom>
          <a:noFill/>
          <a:ln/>
        </p:spPr>
        <p:txBody>
          <a:bodyPr wrap="square" lIns="0" tIns="0" rIns="0" bIns="0" rtlCol="0" anchor="t"/>
          <a:lstStyle/>
          <a:p>
            <a:pPr indent="0" marL="0">
              <a:lnSpc>
                <a:spcPct val="104000"/>
              </a:lnSpc>
              <a:buNone/>
            </a:pPr>
            <a:r>
              <a:rPr lang="en-US" sz="1100" dirty="0">
                <a:solidFill>
                  <a:srgbClr val="43507B"/>
                </a:solidFill>
                <a:latin typeface="Aptos" pitchFamily="34" charset="0"/>
                <a:ea typeface="Aptos" pitchFamily="34" charset="-122"/>
                <a:cs typeface="Aptos" pitchFamily="34" charset="-120"/>
              </a:rPr>
              <a:t>Recap a meeting you missed; decisions and owners, even if late.</a:t>
            </a:r>
            <a:endParaRPr lang="en-US" sz="1100" dirty="0"/>
          </a:p>
        </p:txBody>
      </p:sp>
      <p:sp>
        <p:nvSpPr>
          <p:cNvPr id="44" name="Shape 37"/>
          <p:cNvSpPr/>
          <p:nvPr/>
        </p:nvSpPr>
        <p:spPr>
          <a:xfrm>
            <a:off x="1060704" y="5285232"/>
            <a:ext cx="4700016" cy="329184"/>
          </a:xfrm>
          <a:prstGeom prst="roundRect">
            <a:avLst>
              <a:gd name="adj" fmla="val 13889"/>
            </a:avLst>
          </a:prstGeom>
          <a:solidFill>
            <a:srgbClr val="EEF2FB"/>
          </a:solidFill>
          <a:ln/>
        </p:spPr>
      </p:sp>
      <p:sp>
        <p:nvSpPr>
          <p:cNvPr id="45" name="Text 38"/>
          <p:cNvSpPr/>
          <p:nvPr/>
        </p:nvSpPr>
        <p:spPr>
          <a:xfrm>
            <a:off x="1188720" y="5285232"/>
            <a:ext cx="4517136" cy="329184"/>
          </a:xfrm>
          <a:prstGeom prst="rect">
            <a:avLst/>
          </a:prstGeom>
          <a:noFill/>
          <a:ln/>
        </p:spPr>
        <p:txBody>
          <a:bodyPr wrap="square" lIns="0" tIns="0" rIns="0" bIns="0" rtlCol="0" anchor="ctr"/>
          <a:lstStyle/>
          <a:p>
            <a:pPr algn="l" indent="0" marL="0">
              <a:buNone/>
            </a:pPr>
            <a:r>
              <a:rPr lang="en-US" sz="950" b="1" dirty="0">
                <a:solidFill>
                  <a:srgbClr val="7C5CFC"/>
                </a:solidFill>
                <a:latin typeface="Consolas" pitchFamily="34" charset="0"/>
                <a:ea typeface="Consolas" pitchFamily="34" charset="-122"/>
                <a:cs typeface="Consolas" pitchFamily="34" charset="-120"/>
              </a:rPr>
              <a:t>› </a:t>
            </a:r>
            <a:pPr algn="l" indent="0" marL="0">
              <a:buNone/>
            </a:pPr>
            <a:r>
              <a:rPr lang="en-US" sz="950" dirty="0">
                <a:solidFill>
                  <a:srgbClr val="43507B"/>
                </a:solidFill>
                <a:latin typeface="Consolas" pitchFamily="34" charset="0"/>
                <a:ea typeface="Consolas" pitchFamily="34" charset="-122"/>
                <a:cs typeface="Consolas" pitchFamily="34" charset="-120"/>
              </a:rPr>
              <a:t>Recap this meeting: decisions, open questions, and who owns each step.</a:t>
            </a:r>
            <a:endParaRPr lang="en-US" sz="950" dirty="0"/>
          </a:p>
        </p:txBody>
      </p:sp>
      <p:sp>
        <p:nvSpPr>
          <p:cNvPr id="46" name="Shape 39"/>
          <p:cNvSpPr/>
          <p:nvPr/>
        </p:nvSpPr>
        <p:spPr>
          <a:xfrm>
            <a:off x="6163056" y="4425696"/>
            <a:ext cx="5175504" cy="1298448"/>
          </a:xfrm>
          <a:prstGeom prst="roundRect">
            <a:avLst>
              <a:gd name="adj" fmla="val 5634"/>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47" name="Shape 40"/>
          <p:cNvSpPr/>
          <p:nvPr/>
        </p:nvSpPr>
        <p:spPr>
          <a:xfrm>
            <a:off x="6163056" y="4535424"/>
            <a:ext cx="64008" cy="1078992"/>
          </a:xfrm>
          <a:prstGeom prst="rect">
            <a:avLst/>
          </a:prstGeom>
          <a:solidFill>
            <a:srgbClr val="2D6CDF"/>
          </a:solidFill>
          <a:ln/>
        </p:spPr>
      </p:sp>
      <p:sp>
        <p:nvSpPr>
          <p:cNvPr id="48" name="Shape 41"/>
          <p:cNvSpPr/>
          <p:nvPr/>
        </p:nvSpPr>
        <p:spPr>
          <a:xfrm>
            <a:off x="6400800" y="4626864"/>
            <a:ext cx="512064" cy="512064"/>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49" name="Image 5" descr="preencoded.png">    </p:cNvPr>
          <p:cNvPicPr>
            <a:picLocks noChangeAspect="1"/>
          </p:cNvPicPr>
          <p:nvPr/>
        </p:nvPicPr>
        <p:blipFill>
          <a:blip r:embed="rId9"/>
          <a:stretch>
            <a:fillRect/>
          </a:stretch>
        </p:blipFill>
        <p:spPr>
          <a:xfrm>
            <a:off x="6554419" y="4780483"/>
            <a:ext cx="204826" cy="204826"/>
          </a:xfrm>
          <a:prstGeom prst="rect">
            <a:avLst/>
          </a:prstGeom>
        </p:spPr>
      </p:pic>
      <p:sp>
        <p:nvSpPr>
          <p:cNvPr id="50" name="Text 42"/>
          <p:cNvSpPr/>
          <p:nvPr/>
        </p:nvSpPr>
        <p:spPr>
          <a:xfrm>
            <a:off x="7059168" y="4590288"/>
            <a:ext cx="4078224" cy="274320"/>
          </a:xfrm>
          <a:prstGeom prst="rect">
            <a:avLst/>
          </a:prstGeom>
          <a:noFill/>
          <a:ln/>
        </p:spPr>
        <p:txBody>
          <a:bodyPr wrap="square" lIns="0" tIns="0" rIns="0" bIns="0" rtlCol="0" anchor="ctr"/>
          <a:lstStyle/>
          <a:p>
            <a:pPr indent="0" marL="0">
              <a:buNone/>
            </a:pPr>
            <a:r>
              <a:rPr lang="en-US" sz="1500" b="1" u="sng" dirty="0">
                <a:solidFill>
                  <a:srgbClr val="2D6CDF"/>
                </a:solidFill>
                <a:latin typeface="Aptos" pitchFamily="34" charset="0"/>
                <a:ea typeface="Aptos" pitchFamily="34" charset="-122"/>
                <a:cs typeface="Aptos" pitchFamily="34" charset="-120"/>
                <a:hlinkClick r:id="rId10" invalidUrl="" action="" tgtFrame="" tooltip="" history="1" highlightClick="0" endSnd="0">
                  <a:extLst>
                    <a:ext uri="{A12FA001-AC4F-418D-AE19-62706E023703}">
                      <ahyp:hlinkClr xmlns:ahyp="http://schemas.microsoft.com/office/drawing/2018/hyperlinkcolor" val="tx"/>
                    </a:ext>
                  </a:extLst>
                </a:hlinkClick>
              </a:rPr>
              <a:t>Copilot Chat</a:t>
            </a:r>
            <a:endParaRPr lang="en-US" sz="1500" dirty="0"/>
          </a:p>
        </p:txBody>
      </p:sp>
      <p:sp>
        <p:nvSpPr>
          <p:cNvPr id="51" name="Text 43"/>
          <p:cNvSpPr/>
          <p:nvPr/>
        </p:nvSpPr>
        <p:spPr>
          <a:xfrm>
            <a:off x="7059168" y="4864608"/>
            <a:ext cx="4078224" cy="384048"/>
          </a:xfrm>
          <a:prstGeom prst="rect">
            <a:avLst/>
          </a:prstGeom>
          <a:noFill/>
          <a:ln/>
        </p:spPr>
        <p:txBody>
          <a:bodyPr wrap="square" lIns="0" tIns="0" rIns="0" bIns="0" rtlCol="0" anchor="t"/>
          <a:lstStyle/>
          <a:p>
            <a:pPr indent="0" marL="0">
              <a:lnSpc>
                <a:spcPct val="104000"/>
              </a:lnSpc>
              <a:buNone/>
            </a:pPr>
            <a:r>
              <a:rPr lang="en-US" sz="1100" dirty="0">
                <a:solidFill>
                  <a:srgbClr val="43507B"/>
                </a:solidFill>
                <a:latin typeface="Aptos" pitchFamily="34" charset="0"/>
                <a:ea typeface="Aptos" pitchFamily="34" charset="-122"/>
                <a:cs typeface="Aptos" pitchFamily="34" charset="-120"/>
              </a:rPr>
              <a:t>Reason across email, files, chats, and meetings in one place.</a:t>
            </a:r>
            <a:endParaRPr lang="en-US" sz="1100" dirty="0"/>
          </a:p>
        </p:txBody>
      </p:sp>
      <p:sp>
        <p:nvSpPr>
          <p:cNvPr id="52" name="Shape 44"/>
          <p:cNvSpPr/>
          <p:nvPr/>
        </p:nvSpPr>
        <p:spPr>
          <a:xfrm>
            <a:off x="6400800" y="5285232"/>
            <a:ext cx="4700016" cy="329184"/>
          </a:xfrm>
          <a:prstGeom prst="roundRect">
            <a:avLst>
              <a:gd name="adj" fmla="val 13889"/>
            </a:avLst>
          </a:prstGeom>
          <a:solidFill>
            <a:srgbClr val="EEF2FB"/>
          </a:solidFill>
          <a:ln/>
        </p:spPr>
      </p:sp>
      <p:sp>
        <p:nvSpPr>
          <p:cNvPr id="53" name="Text 45"/>
          <p:cNvSpPr/>
          <p:nvPr/>
        </p:nvSpPr>
        <p:spPr>
          <a:xfrm>
            <a:off x="6528816" y="5285232"/>
            <a:ext cx="4517136" cy="329184"/>
          </a:xfrm>
          <a:prstGeom prst="rect">
            <a:avLst/>
          </a:prstGeom>
          <a:noFill/>
          <a:ln/>
        </p:spPr>
        <p:txBody>
          <a:bodyPr wrap="square" lIns="0" tIns="0" rIns="0" bIns="0" rtlCol="0" anchor="ctr"/>
          <a:lstStyle/>
          <a:p>
            <a:pPr algn="l" indent="0" marL="0">
              <a:buNone/>
            </a:pPr>
            <a:r>
              <a:rPr lang="en-US" sz="950" b="1" dirty="0">
                <a:solidFill>
                  <a:srgbClr val="2D6CDF"/>
                </a:solidFill>
                <a:latin typeface="Consolas" pitchFamily="34" charset="0"/>
                <a:ea typeface="Consolas" pitchFamily="34" charset="-122"/>
                <a:cs typeface="Consolas" pitchFamily="34" charset="-120"/>
              </a:rPr>
              <a:t>› </a:t>
            </a:r>
            <a:pPr algn="l" indent="0" marL="0">
              <a:buNone/>
            </a:pPr>
            <a:r>
              <a:rPr lang="en-US" sz="950" dirty="0">
                <a:solidFill>
                  <a:srgbClr val="43507B"/>
                </a:solidFill>
                <a:latin typeface="Consolas" pitchFamily="34" charset="0"/>
                <a:ea typeface="Consolas" pitchFamily="34" charset="-122"/>
                <a:cs typeface="Consolas" pitchFamily="34" charset="-120"/>
              </a:rPr>
              <a:t>Based on recent emails and files, prep me for my 1:1 with [name].</a:t>
            </a:r>
            <a:endParaRPr lang="en-US" sz="950" dirty="0"/>
          </a:p>
        </p:txBody>
      </p:sp>
      <p:sp>
        <p:nvSpPr>
          <p:cNvPr id="54" name="Text 46"/>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1 · Foundations</a:t>
            </a:r>
            <a:endParaRPr lang="en-US" sz="900" dirty="0"/>
          </a:p>
        </p:txBody>
      </p:sp>
      <p:sp>
        <p:nvSpPr>
          <p:cNvPr id="55" name="Text 47"/>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2D6CDF"/>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1</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2D6CDF"/>
                </a:solidFill>
                <a:latin typeface="Aptos" pitchFamily="34" charset="0"/>
                <a:ea typeface="Aptos" pitchFamily="34" charset="-122"/>
                <a:cs typeface="Aptos" pitchFamily="34" charset="-120"/>
              </a:rPr>
              <a:t>A SECOND SET OF EYES</a:t>
            </a:r>
            <a:endParaRPr lang="en-US" sz="1200" dirty="0"/>
          </a:p>
        </p:txBody>
      </p:sp>
      <p:sp>
        <p:nvSpPr>
          <p:cNvPr id="5" name="Text 3"/>
          <p:cNvSpPr/>
          <p:nvPr/>
        </p:nvSpPr>
        <p:spPr>
          <a:xfrm>
            <a:off x="786384" y="914400"/>
            <a:ext cx="10058400" cy="548640"/>
          </a:xfrm>
          <a:prstGeom prst="rect">
            <a:avLst/>
          </a:prstGeom>
          <a:noFill/>
          <a:ln/>
        </p:spPr>
        <p:txBody>
          <a:bodyPr wrap="square" lIns="0" tIns="0" rIns="0" bIns="0" rtlCol="0" anchor="ctr"/>
          <a:lstStyle/>
          <a:p>
            <a:pPr indent="0" marL="0">
              <a:buNone/>
            </a:pPr>
            <a:r>
              <a:rPr lang="en-US" sz="3100" b="1" dirty="0">
                <a:solidFill>
                  <a:srgbClr val="0B1437"/>
                </a:solidFill>
                <a:latin typeface="Aptos" pitchFamily="34" charset="0"/>
                <a:ea typeface="Aptos" pitchFamily="34" charset="-122"/>
                <a:cs typeface="Aptos" pitchFamily="34" charset="-120"/>
              </a:rPr>
              <a:t>A second set of eyes</a:t>
            </a:r>
            <a:endParaRPr lang="en-US" sz="3100" dirty="0"/>
          </a:p>
        </p:txBody>
      </p:sp>
      <p:sp>
        <p:nvSpPr>
          <p:cNvPr id="6" name="Text 4"/>
          <p:cNvSpPr/>
          <p:nvPr/>
        </p:nvSpPr>
        <p:spPr>
          <a:xfrm>
            <a:off x="822960" y="1499616"/>
            <a:ext cx="10607040" cy="402336"/>
          </a:xfrm>
          <a:prstGeom prst="rect">
            <a:avLst/>
          </a:prstGeom>
          <a:noFill/>
          <a:ln/>
        </p:spPr>
        <p:txBody>
          <a:bodyPr wrap="square" lIns="0" tIns="0" rIns="0" bIns="0" rtlCol="0" anchor="ctr"/>
          <a:lstStyle/>
          <a:p>
            <a:pPr indent="0" marL="0">
              <a:lnSpc>
                <a:spcPct val="112000"/>
              </a:lnSpc>
              <a:buNone/>
            </a:pPr>
            <a:r>
              <a:rPr lang="en-US" sz="1400" dirty="0">
                <a:solidFill>
                  <a:srgbClr val="43507B"/>
                </a:solidFill>
                <a:latin typeface="Aptos" pitchFamily="34" charset="0"/>
                <a:ea typeface="Aptos" pitchFamily="34" charset="-122"/>
                <a:cs typeface="Aptos" pitchFamily="34" charset="-120"/>
              </a:rPr>
              <a:t>Still just a prompt, no setup required, but this is where prompting earns its keep for a leader: a view that never gets tired, and never tells you only what you want to hear.</a:t>
            </a:r>
            <a:endParaRPr lang="en-US" sz="1400" dirty="0"/>
          </a:p>
        </p:txBody>
      </p:sp>
      <p:sp>
        <p:nvSpPr>
          <p:cNvPr id="7" name="Shape 5"/>
          <p:cNvSpPr/>
          <p:nvPr/>
        </p:nvSpPr>
        <p:spPr>
          <a:xfrm>
            <a:off x="822960" y="2048256"/>
            <a:ext cx="3383280" cy="1828800"/>
          </a:xfrm>
          <a:prstGeom prst="roundRect">
            <a:avLst>
              <a:gd name="adj" fmla="val 5000"/>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8" name="Shape 6"/>
          <p:cNvSpPr/>
          <p:nvPr/>
        </p:nvSpPr>
        <p:spPr>
          <a:xfrm>
            <a:off x="822960" y="2048256"/>
            <a:ext cx="3383280" cy="109728"/>
          </a:xfrm>
          <a:prstGeom prst="rect">
            <a:avLst/>
          </a:prstGeom>
          <a:solidFill>
            <a:srgbClr val="2D6CDF"/>
          </a:solidFill>
          <a:ln/>
        </p:spPr>
      </p:sp>
      <p:sp>
        <p:nvSpPr>
          <p:cNvPr id="9" name="Shape 7"/>
          <p:cNvSpPr/>
          <p:nvPr/>
        </p:nvSpPr>
        <p:spPr>
          <a:xfrm>
            <a:off x="1097280" y="2340864"/>
            <a:ext cx="603504" cy="603504"/>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10" name="Image 0" descr="preencoded.png">    </p:cNvPr>
          <p:cNvPicPr>
            <a:picLocks noChangeAspect="1"/>
          </p:cNvPicPr>
          <p:nvPr/>
        </p:nvPicPr>
        <p:blipFill>
          <a:blip r:embed="rId1"/>
          <a:stretch>
            <a:fillRect/>
          </a:stretch>
        </p:blipFill>
        <p:spPr>
          <a:xfrm>
            <a:off x="1278331" y="2521915"/>
            <a:ext cx="241402" cy="241402"/>
          </a:xfrm>
          <a:prstGeom prst="rect">
            <a:avLst/>
          </a:prstGeom>
        </p:spPr>
      </p:pic>
      <p:sp>
        <p:nvSpPr>
          <p:cNvPr id="11" name="Text 8"/>
          <p:cNvSpPr/>
          <p:nvPr/>
        </p:nvSpPr>
        <p:spPr>
          <a:xfrm>
            <a:off x="1847088" y="2359152"/>
            <a:ext cx="2194560" cy="237744"/>
          </a:xfrm>
          <a:prstGeom prst="rect">
            <a:avLst/>
          </a:prstGeom>
          <a:noFill/>
          <a:ln/>
        </p:spPr>
        <p:txBody>
          <a:bodyPr wrap="square" lIns="0" tIns="0" rIns="0" bIns="0" rtlCol="0" anchor="ctr"/>
          <a:lstStyle/>
          <a:p>
            <a:pPr indent="0" marL="0">
              <a:buNone/>
            </a:pPr>
            <a:r>
              <a:rPr lang="en-US" sz="1000" b="1" spc="200" kern="0" dirty="0">
                <a:solidFill>
                  <a:srgbClr val="2D6CDF"/>
                </a:solidFill>
                <a:latin typeface="Aptos" pitchFamily="34" charset="0"/>
                <a:ea typeface="Aptos" pitchFamily="34" charset="-122"/>
                <a:cs typeface="Aptos" pitchFamily="34" charset="-120"/>
              </a:rPr>
              <a:t>NEW LENS</a:t>
            </a:r>
            <a:endParaRPr lang="en-US" sz="1000" dirty="0"/>
          </a:p>
        </p:txBody>
      </p:sp>
      <p:sp>
        <p:nvSpPr>
          <p:cNvPr id="12" name="Text 9"/>
          <p:cNvSpPr/>
          <p:nvPr/>
        </p:nvSpPr>
        <p:spPr>
          <a:xfrm>
            <a:off x="1847088" y="2578608"/>
            <a:ext cx="2194560" cy="329184"/>
          </a:xfrm>
          <a:prstGeom prst="rect">
            <a:avLst/>
          </a:prstGeom>
          <a:noFill/>
          <a:ln/>
        </p:spPr>
        <p:txBody>
          <a:bodyPr wrap="square" lIns="0" tIns="0" rIns="0" bIns="0" rtlCol="0" anchor="ctr"/>
          <a:lstStyle/>
          <a:p>
            <a:pPr indent="0" marL="0">
              <a:buNone/>
            </a:pPr>
            <a:r>
              <a:rPr lang="en-US" sz="1550" b="1" u="sng" dirty="0">
                <a:solidFill>
                  <a:srgbClr val="0B1437"/>
                </a:solid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Contextual Filter</a:t>
            </a:r>
            <a:endParaRPr lang="en-US" sz="1550" dirty="0"/>
          </a:p>
        </p:txBody>
      </p:sp>
      <p:sp>
        <p:nvSpPr>
          <p:cNvPr id="13" name="Text 10"/>
          <p:cNvSpPr/>
          <p:nvPr/>
        </p:nvSpPr>
        <p:spPr>
          <a:xfrm>
            <a:off x="1097280" y="3127248"/>
            <a:ext cx="2834640" cy="640080"/>
          </a:xfrm>
          <a:prstGeom prst="rect">
            <a:avLst/>
          </a:prstGeom>
          <a:noFill/>
          <a:ln/>
        </p:spPr>
        <p:txBody>
          <a:bodyPr wrap="square" lIns="0" tIns="0" rIns="0" bIns="0" rtlCol="0" anchor="t"/>
          <a:lstStyle/>
          <a:p>
            <a:pPr indent="0" marL="0">
              <a:lnSpc>
                <a:spcPct val="112000"/>
              </a:lnSpc>
              <a:buNone/>
            </a:pPr>
            <a:r>
              <a:rPr lang="en-US" sz="1200" dirty="0">
                <a:solidFill>
                  <a:srgbClr val="43507B"/>
                </a:solidFill>
                <a:latin typeface="Aptos" pitchFamily="34" charset="0"/>
                <a:ea typeface="Aptos" pitchFamily="34" charset="-122"/>
                <a:cs typeface="Aptos" pitchFamily="34" charset="-120"/>
              </a:rPr>
              <a:t>Read any document through the lens of a specific role, and surface only what matters to you.</a:t>
            </a:r>
            <a:endParaRPr lang="en-US" sz="1200" dirty="0"/>
          </a:p>
        </p:txBody>
      </p:sp>
      <p:sp>
        <p:nvSpPr>
          <p:cNvPr id="14" name="Shape 11"/>
          <p:cNvSpPr/>
          <p:nvPr/>
        </p:nvSpPr>
        <p:spPr>
          <a:xfrm>
            <a:off x="4389120" y="2048256"/>
            <a:ext cx="3383280" cy="1828800"/>
          </a:xfrm>
          <a:prstGeom prst="roundRect">
            <a:avLst>
              <a:gd name="adj" fmla="val 5000"/>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5" name="Shape 12"/>
          <p:cNvSpPr/>
          <p:nvPr/>
        </p:nvSpPr>
        <p:spPr>
          <a:xfrm>
            <a:off x="4389120" y="2048256"/>
            <a:ext cx="3383280" cy="109728"/>
          </a:xfrm>
          <a:prstGeom prst="rect">
            <a:avLst/>
          </a:prstGeom>
          <a:solidFill>
            <a:srgbClr val="F0A500"/>
          </a:solidFill>
          <a:ln/>
        </p:spPr>
      </p:sp>
      <p:sp>
        <p:nvSpPr>
          <p:cNvPr id="16" name="Shape 13"/>
          <p:cNvSpPr/>
          <p:nvPr/>
        </p:nvSpPr>
        <p:spPr>
          <a:xfrm>
            <a:off x="4663440" y="2340864"/>
            <a:ext cx="603504" cy="603504"/>
          </a:xfrm>
          <a:prstGeom prst="ellipse">
            <a:avLst/>
          </a:prstGeom>
          <a:solidFill>
            <a:srgbClr val="F0A500"/>
          </a:solidFill>
          <a:ln/>
          <a:effectLst>
            <a:outerShdw sx="100000" sy="100000" kx="0" ky="0" algn="bl" rotWithShape="0" blurRad="114300" dist="38100" dir="5400000">
              <a:srgbClr val="0B1437">
                <a:alpha val="10000"/>
              </a:srgbClr>
            </a:outerShdw>
          </a:effectLst>
        </p:spPr>
      </p:sp>
      <p:pic>
        <p:nvPicPr>
          <p:cNvPr id="17" name="Image 1" descr="preencoded.png">    </p:cNvPr>
          <p:cNvPicPr>
            <a:picLocks noChangeAspect="1"/>
          </p:cNvPicPr>
          <p:nvPr/>
        </p:nvPicPr>
        <p:blipFill>
          <a:blip r:embed="rId3"/>
          <a:stretch>
            <a:fillRect/>
          </a:stretch>
        </p:blipFill>
        <p:spPr>
          <a:xfrm>
            <a:off x="4844491" y="2521915"/>
            <a:ext cx="241402" cy="241402"/>
          </a:xfrm>
          <a:prstGeom prst="rect">
            <a:avLst/>
          </a:prstGeom>
        </p:spPr>
      </p:pic>
      <p:sp>
        <p:nvSpPr>
          <p:cNvPr id="18" name="Text 14"/>
          <p:cNvSpPr/>
          <p:nvPr/>
        </p:nvSpPr>
        <p:spPr>
          <a:xfrm>
            <a:off x="5413248" y="2359152"/>
            <a:ext cx="2194560" cy="237744"/>
          </a:xfrm>
          <a:prstGeom prst="rect">
            <a:avLst/>
          </a:prstGeom>
          <a:noFill/>
          <a:ln/>
        </p:spPr>
        <p:txBody>
          <a:bodyPr wrap="square" lIns="0" tIns="0" rIns="0" bIns="0" rtlCol="0" anchor="ctr"/>
          <a:lstStyle/>
          <a:p>
            <a:pPr indent="0" marL="0">
              <a:buNone/>
            </a:pPr>
            <a:r>
              <a:rPr lang="en-US" sz="1000" b="1" spc="200" kern="0" dirty="0">
                <a:solidFill>
                  <a:srgbClr val="F0A500"/>
                </a:solidFill>
                <a:latin typeface="Aptos" pitchFamily="34" charset="0"/>
                <a:ea typeface="Aptos" pitchFamily="34" charset="-122"/>
                <a:cs typeface="Aptos" pitchFamily="34" charset="-120"/>
              </a:rPr>
              <a:t>PRESSURE TEST</a:t>
            </a:r>
            <a:endParaRPr lang="en-US" sz="1000" dirty="0"/>
          </a:p>
        </p:txBody>
      </p:sp>
      <p:sp>
        <p:nvSpPr>
          <p:cNvPr id="19" name="Text 15"/>
          <p:cNvSpPr/>
          <p:nvPr/>
        </p:nvSpPr>
        <p:spPr>
          <a:xfrm>
            <a:off x="5413248" y="2578608"/>
            <a:ext cx="2194560" cy="329184"/>
          </a:xfrm>
          <a:prstGeom prst="rect">
            <a:avLst/>
          </a:prstGeom>
          <a:noFill/>
          <a:ln/>
        </p:spPr>
        <p:txBody>
          <a:bodyPr wrap="square" lIns="0" tIns="0" rIns="0" bIns="0" rtlCol="0" anchor="ctr"/>
          <a:lstStyle/>
          <a:p>
            <a:pPr indent="0" marL="0">
              <a:buNone/>
            </a:pPr>
            <a:r>
              <a:rPr lang="en-US" sz="1550" b="1" u="sng" dirty="0">
                <a:solidFill>
                  <a:srgbClr val="0B1437"/>
                </a:solidFill>
                <a:latin typeface="Aptos" pitchFamily="34" charset="0"/>
                <a:ea typeface="Aptos" pitchFamily="34" charset="-122"/>
                <a:cs typeface="Aptos"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Devil's Advocate</a:t>
            </a:r>
            <a:endParaRPr lang="en-US" sz="1550" dirty="0"/>
          </a:p>
        </p:txBody>
      </p:sp>
      <p:sp>
        <p:nvSpPr>
          <p:cNvPr id="20" name="Text 16"/>
          <p:cNvSpPr/>
          <p:nvPr/>
        </p:nvSpPr>
        <p:spPr>
          <a:xfrm>
            <a:off x="4663440" y="3127248"/>
            <a:ext cx="2834640" cy="640080"/>
          </a:xfrm>
          <a:prstGeom prst="rect">
            <a:avLst/>
          </a:prstGeom>
          <a:noFill/>
          <a:ln/>
        </p:spPr>
        <p:txBody>
          <a:bodyPr wrap="square" lIns="0" tIns="0" rIns="0" bIns="0" rtlCol="0" anchor="t"/>
          <a:lstStyle/>
          <a:p>
            <a:pPr indent="0" marL="0">
              <a:lnSpc>
                <a:spcPct val="112000"/>
              </a:lnSpc>
              <a:buNone/>
            </a:pPr>
            <a:r>
              <a:rPr lang="en-US" sz="1200" dirty="0">
                <a:solidFill>
                  <a:srgbClr val="43507B"/>
                </a:solidFill>
                <a:latin typeface="Aptos" pitchFamily="34" charset="0"/>
                <a:ea typeface="Aptos" pitchFamily="34" charset="-122"/>
                <a:cs typeface="Aptos" pitchFamily="34" charset="-120"/>
              </a:rPr>
              <a:t>Surface the three most likely reasons a proposal fails, before you walk into the room.</a:t>
            </a:r>
            <a:endParaRPr lang="en-US" sz="1200" dirty="0"/>
          </a:p>
        </p:txBody>
      </p:sp>
      <p:sp>
        <p:nvSpPr>
          <p:cNvPr id="21" name="Shape 17"/>
          <p:cNvSpPr/>
          <p:nvPr/>
        </p:nvSpPr>
        <p:spPr>
          <a:xfrm>
            <a:off x="7955280" y="2048256"/>
            <a:ext cx="3383280" cy="1828800"/>
          </a:xfrm>
          <a:prstGeom prst="roundRect">
            <a:avLst>
              <a:gd name="adj" fmla="val 5000"/>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2" name="Shape 18"/>
          <p:cNvSpPr/>
          <p:nvPr/>
        </p:nvSpPr>
        <p:spPr>
          <a:xfrm>
            <a:off x="7955280" y="2048256"/>
            <a:ext cx="3383280" cy="109728"/>
          </a:xfrm>
          <a:prstGeom prst="rect">
            <a:avLst/>
          </a:prstGeom>
          <a:solidFill>
            <a:srgbClr val="12B886"/>
          </a:solidFill>
          <a:ln/>
        </p:spPr>
      </p:sp>
      <p:sp>
        <p:nvSpPr>
          <p:cNvPr id="23" name="Shape 19"/>
          <p:cNvSpPr/>
          <p:nvPr/>
        </p:nvSpPr>
        <p:spPr>
          <a:xfrm>
            <a:off x="8229600" y="2340864"/>
            <a:ext cx="603504" cy="603504"/>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24" name="Image 2" descr="preencoded.png">    </p:cNvPr>
          <p:cNvPicPr>
            <a:picLocks noChangeAspect="1"/>
          </p:cNvPicPr>
          <p:nvPr/>
        </p:nvPicPr>
        <p:blipFill>
          <a:blip r:embed="rId5"/>
          <a:stretch>
            <a:fillRect/>
          </a:stretch>
        </p:blipFill>
        <p:spPr>
          <a:xfrm>
            <a:off x="8410651" y="2521915"/>
            <a:ext cx="241402" cy="241402"/>
          </a:xfrm>
          <a:prstGeom prst="rect">
            <a:avLst/>
          </a:prstGeom>
        </p:spPr>
      </p:pic>
      <p:sp>
        <p:nvSpPr>
          <p:cNvPr id="25" name="Text 20"/>
          <p:cNvSpPr/>
          <p:nvPr/>
        </p:nvSpPr>
        <p:spPr>
          <a:xfrm>
            <a:off x="8979408" y="2359152"/>
            <a:ext cx="2194560" cy="237744"/>
          </a:xfrm>
          <a:prstGeom prst="rect">
            <a:avLst/>
          </a:prstGeom>
          <a:noFill/>
          <a:ln/>
        </p:spPr>
        <p:txBody>
          <a:bodyPr wrap="square" lIns="0" tIns="0" rIns="0" bIns="0" rtlCol="0" anchor="ctr"/>
          <a:lstStyle/>
          <a:p>
            <a:pPr indent="0" marL="0">
              <a:buNone/>
            </a:pPr>
            <a:r>
              <a:rPr lang="en-US" sz="1000" b="1" spc="200" kern="0" dirty="0">
                <a:solidFill>
                  <a:srgbClr val="12B886"/>
                </a:solidFill>
                <a:latin typeface="Aptos" pitchFamily="34" charset="0"/>
                <a:ea typeface="Aptos" pitchFamily="34" charset="-122"/>
                <a:cs typeface="Aptos" pitchFamily="34" charset="-120"/>
              </a:rPr>
              <a:t>YOUR VOICE</a:t>
            </a:r>
            <a:endParaRPr lang="en-US" sz="1000" dirty="0"/>
          </a:p>
        </p:txBody>
      </p:sp>
      <p:sp>
        <p:nvSpPr>
          <p:cNvPr id="26" name="Text 21"/>
          <p:cNvSpPr/>
          <p:nvPr/>
        </p:nvSpPr>
        <p:spPr>
          <a:xfrm>
            <a:off x="8979408" y="2578608"/>
            <a:ext cx="2194560" cy="329184"/>
          </a:xfrm>
          <a:prstGeom prst="rect">
            <a:avLst/>
          </a:prstGeom>
          <a:noFill/>
          <a:ln/>
        </p:spPr>
        <p:txBody>
          <a:bodyPr wrap="square" lIns="0" tIns="0" rIns="0" bIns="0" rtlCol="0" anchor="ctr"/>
          <a:lstStyle/>
          <a:p>
            <a:pPr indent="0" marL="0">
              <a:buNone/>
            </a:pPr>
            <a:r>
              <a:rPr lang="en-US" sz="1550" b="1" u="sng" dirty="0">
                <a:solidFill>
                  <a:srgbClr val="0B1437"/>
                </a:solidFill>
                <a:latin typeface="Aptos" pitchFamily="34" charset="0"/>
                <a:ea typeface="Aptos" pitchFamily="34" charset="-122"/>
                <a:cs typeface="Aptos" pitchFamily="34" charset="-120"/>
                <a:hlinkClick r:id="rId6" invalidUrl="" action="" tgtFrame="" tooltip="" history="1" highlightClick="0" endSnd="0">
                  <a:extLst>
                    <a:ext uri="{A12FA001-AC4F-418D-AE19-62706E023703}">
                      <ahyp:hlinkClr xmlns:ahyp="http://schemas.microsoft.com/office/drawing/2018/hyperlinkcolor" val="tx"/>
                    </a:ext>
                  </a:extLst>
                </a:hlinkClick>
              </a:rPr>
              <a:t>Voice Distiller</a:t>
            </a:r>
            <a:endParaRPr lang="en-US" sz="1550" dirty="0"/>
          </a:p>
        </p:txBody>
      </p:sp>
      <p:sp>
        <p:nvSpPr>
          <p:cNvPr id="27" name="Text 22"/>
          <p:cNvSpPr/>
          <p:nvPr/>
        </p:nvSpPr>
        <p:spPr>
          <a:xfrm>
            <a:off x="8229600" y="3127248"/>
            <a:ext cx="2834640" cy="640080"/>
          </a:xfrm>
          <a:prstGeom prst="rect">
            <a:avLst/>
          </a:prstGeom>
          <a:noFill/>
          <a:ln/>
        </p:spPr>
        <p:txBody>
          <a:bodyPr wrap="square" lIns="0" tIns="0" rIns="0" bIns="0" rtlCol="0" anchor="t"/>
          <a:lstStyle/>
          <a:p>
            <a:pPr indent="0" marL="0">
              <a:lnSpc>
                <a:spcPct val="112000"/>
              </a:lnSpc>
              <a:buNone/>
            </a:pPr>
            <a:r>
              <a:rPr lang="en-US" sz="1200" dirty="0">
                <a:solidFill>
                  <a:srgbClr val="43507B"/>
                </a:solidFill>
                <a:latin typeface="Aptos" pitchFamily="34" charset="0"/>
                <a:ea typeface="Aptos" pitchFamily="34" charset="-122"/>
                <a:cs typeface="Aptos" pitchFamily="34" charset="-120"/>
              </a:rPr>
              <a:t>Mine a year of your communications into a leadership style Copilot can write in.</a:t>
            </a:r>
            <a:endParaRPr lang="en-US" sz="1200" dirty="0"/>
          </a:p>
        </p:txBody>
      </p:sp>
      <p:sp>
        <p:nvSpPr>
          <p:cNvPr id="28" name="Shape 23"/>
          <p:cNvSpPr/>
          <p:nvPr/>
        </p:nvSpPr>
        <p:spPr>
          <a:xfrm>
            <a:off x="822960" y="4059936"/>
            <a:ext cx="5175504" cy="1417320"/>
          </a:xfrm>
          <a:prstGeom prst="roundRect">
            <a:avLst>
              <a:gd name="adj" fmla="val 7097"/>
            </a:avLst>
          </a:prstGeom>
          <a:solidFill>
            <a:srgbClr val="111C44"/>
          </a:solidFill>
          <a:ln w="12700">
            <a:solidFill>
              <a:srgbClr val="26326A"/>
            </a:solidFill>
            <a:prstDash val="solid"/>
          </a:ln>
          <a:effectLst>
            <a:outerShdw sx="100000" sy="100000" kx="0" ky="0" algn="bl" rotWithShape="0" blurRad="114300" dist="38100" dir="5400000">
              <a:srgbClr val="0B1437">
                <a:alpha val="10000"/>
              </a:srgbClr>
            </a:outerShdw>
          </a:effectLst>
        </p:spPr>
      </p:sp>
      <p:sp>
        <p:nvSpPr>
          <p:cNvPr id="29" name="Shape 24"/>
          <p:cNvSpPr/>
          <p:nvPr/>
        </p:nvSpPr>
        <p:spPr>
          <a:xfrm>
            <a:off x="822960" y="4187952"/>
            <a:ext cx="64008" cy="1161288"/>
          </a:xfrm>
          <a:prstGeom prst="rect">
            <a:avLst/>
          </a:prstGeom>
          <a:solidFill>
            <a:srgbClr val="2D6CDF"/>
          </a:solidFill>
          <a:ln/>
        </p:spPr>
      </p:sp>
      <p:sp>
        <p:nvSpPr>
          <p:cNvPr id="30" name="Text 25"/>
          <p:cNvSpPr/>
          <p:nvPr/>
        </p:nvSpPr>
        <p:spPr>
          <a:xfrm>
            <a:off x="1097280" y="4206240"/>
            <a:ext cx="4626864" cy="274320"/>
          </a:xfrm>
          <a:prstGeom prst="rect">
            <a:avLst/>
          </a:prstGeom>
          <a:noFill/>
          <a:ln/>
        </p:spPr>
        <p:txBody>
          <a:bodyPr wrap="square" lIns="0" tIns="0" rIns="0" bIns="0" rtlCol="0" anchor="ctr"/>
          <a:lstStyle/>
          <a:p>
            <a:pPr algn="l" indent="0" marL="0">
              <a:buNone/>
            </a:pPr>
            <a:r>
              <a:rPr lang="en-US" sz="1100" b="1" dirty="0">
                <a:solidFill>
                  <a:srgbClr val="2D6CDF"/>
                </a:solidFill>
                <a:latin typeface="Consolas" pitchFamily="34" charset="0"/>
                <a:ea typeface="Consolas" pitchFamily="34" charset="-122"/>
                <a:cs typeface="Consolas" pitchFamily="34" charset="-120"/>
              </a:rPr>
              <a:t>›_  </a:t>
            </a:r>
            <a:pPr algn="l" indent="0" marL="0">
              <a:buNone/>
            </a:pPr>
            <a:r>
              <a:rPr lang="en-US" sz="1100" b="1" spc="200" kern="0" dirty="0">
                <a:solidFill>
                  <a:srgbClr val="2D6CDF"/>
                </a:solidFill>
                <a:latin typeface="Aptos" pitchFamily="34" charset="0"/>
                <a:ea typeface="Aptos" pitchFamily="34" charset="-122"/>
                <a:cs typeface="Aptos" pitchFamily="34" charset="-120"/>
              </a:rPr>
              <a:t>READ AS A ROLE</a:t>
            </a:r>
            <a:endParaRPr lang="en-US" sz="1100" dirty="0"/>
          </a:p>
        </p:txBody>
      </p:sp>
      <p:sp>
        <p:nvSpPr>
          <p:cNvPr id="31" name="Text 26"/>
          <p:cNvSpPr/>
          <p:nvPr/>
        </p:nvSpPr>
        <p:spPr>
          <a:xfrm>
            <a:off x="1115568" y="4535424"/>
            <a:ext cx="4608576" cy="758952"/>
          </a:xfrm>
          <a:prstGeom prst="rect">
            <a:avLst/>
          </a:prstGeom>
          <a:noFill/>
          <a:ln/>
        </p:spPr>
        <p:txBody>
          <a:bodyPr wrap="square" lIns="0" tIns="0" rIns="0" bIns="0" rtlCol="0" anchor="t"/>
          <a:lstStyle/>
          <a:p>
            <a:pPr algn="l" indent="0" marL="0">
              <a:lnSpc>
                <a:spcPct val="112000"/>
              </a:lnSpc>
              <a:buNone/>
            </a:pPr>
            <a:r>
              <a:rPr lang="en-US" sz="1200" dirty="0">
                <a:solidFill>
                  <a:srgbClr val="E7ECFF"/>
                </a:solidFill>
                <a:latin typeface="Consolas" pitchFamily="34" charset="0"/>
                <a:ea typeface="Consolas" pitchFamily="34" charset="-122"/>
                <a:cs typeface="Consolas" pitchFamily="34" charset="-120"/>
              </a:rPr>
              <a:t>Read this document as my CFO. Surface only the financial risks and the questions I should be ready to answer.</a:t>
            </a:r>
            <a:endParaRPr lang="en-US" sz="1200" dirty="0"/>
          </a:p>
        </p:txBody>
      </p:sp>
      <p:sp>
        <p:nvSpPr>
          <p:cNvPr id="32" name="Shape 27"/>
          <p:cNvSpPr/>
          <p:nvPr/>
        </p:nvSpPr>
        <p:spPr>
          <a:xfrm>
            <a:off x="6163056" y="4059936"/>
            <a:ext cx="5175504" cy="1417320"/>
          </a:xfrm>
          <a:prstGeom prst="roundRect">
            <a:avLst>
              <a:gd name="adj" fmla="val 7097"/>
            </a:avLst>
          </a:prstGeom>
          <a:solidFill>
            <a:srgbClr val="111C44"/>
          </a:solidFill>
          <a:ln w="12700">
            <a:solidFill>
              <a:srgbClr val="26326A"/>
            </a:solidFill>
            <a:prstDash val="solid"/>
          </a:ln>
          <a:effectLst>
            <a:outerShdw sx="100000" sy="100000" kx="0" ky="0" algn="bl" rotWithShape="0" blurRad="114300" dist="38100" dir="5400000">
              <a:srgbClr val="0B1437">
                <a:alpha val="10000"/>
              </a:srgbClr>
            </a:outerShdw>
          </a:effectLst>
        </p:spPr>
      </p:sp>
      <p:sp>
        <p:nvSpPr>
          <p:cNvPr id="33" name="Shape 28"/>
          <p:cNvSpPr/>
          <p:nvPr/>
        </p:nvSpPr>
        <p:spPr>
          <a:xfrm>
            <a:off x="6163056" y="4187952"/>
            <a:ext cx="64008" cy="1161288"/>
          </a:xfrm>
          <a:prstGeom prst="rect">
            <a:avLst/>
          </a:prstGeom>
          <a:solidFill>
            <a:srgbClr val="F0A500"/>
          </a:solidFill>
          <a:ln/>
        </p:spPr>
      </p:sp>
      <p:sp>
        <p:nvSpPr>
          <p:cNvPr id="34" name="Text 29"/>
          <p:cNvSpPr/>
          <p:nvPr/>
        </p:nvSpPr>
        <p:spPr>
          <a:xfrm>
            <a:off x="6437376" y="4206240"/>
            <a:ext cx="4626864" cy="274320"/>
          </a:xfrm>
          <a:prstGeom prst="rect">
            <a:avLst/>
          </a:prstGeom>
          <a:noFill/>
          <a:ln/>
        </p:spPr>
        <p:txBody>
          <a:bodyPr wrap="square" lIns="0" tIns="0" rIns="0" bIns="0" rtlCol="0" anchor="ctr"/>
          <a:lstStyle/>
          <a:p>
            <a:pPr algn="l" indent="0" marL="0">
              <a:buNone/>
            </a:pPr>
            <a:r>
              <a:rPr lang="en-US" sz="1100" b="1" dirty="0">
                <a:solidFill>
                  <a:srgbClr val="F0A500"/>
                </a:solidFill>
                <a:latin typeface="Consolas" pitchFamily="34" charset="0"/>
                <a:ea typeface="Consolas" pitchFamily="34" charset="-122"/>
                <a:cs typeface="Consolas" pitchFamily="34" charset="-120"/>
              </a:rPr>
              <a:t>›_  </a:t>
            </a:r>
            <a:pPr algn="l" indent="0" marL="0">
              <a:buNone/>
            </a:pPr>
            <a:r>
              <a:rPr lang="en-US" sz="1100" b="1" spc="200" kern="0" dirty="0">
                <a:solidFill>
                  <a:srgbClr val="F0A500"/>
                </a:solidFill>
                <a:latin typeface="Aptos" pitchFamily="34" charset="0"/>
                <a:ea typeface="Aptos" pitchFamily="34" charset="-122"/>
                <a:cs typeface="Aptos" pitchFamily="34" charset="-120"/>
              </a:rPr>
              <a:t>BEFORE YOU COMMIT</a:t>
            </a:r>
            <a:endParaRPr lang="en-US" sz="1100" dirty="0"/>
          </a:p>
        </p:txBody>
      </p:sp>
      <p:sp>
        <p:nvSpPr>
          <p:cNvPr id="35" name="Text 30"/>
          <p:cNvSpPr/>
          <p:nvPr/>
        </p:nvSpPr>
        <p:spPr>
          <a:xfrm>
            <a:off x="6455664" y="4535424"/>
            <a:ext cx="4608576" cy="758952"/>
          </a:xfrm>
          <a:prstGeom prst="rect">
            <a:avLst/>
          </a:prstGeom>
          <a:noFill/>
          <a:ln/>
        </p:spPr>
        <p:txBody>
          <a:bodyPr wrap="square" lIns="0" tIns="0" rIns="0" bIns="0" rtlCol="0" anchor="t"/>
          <a:lstStyle/>
          <a:p>
            <a:pPr algn="l" indent="0" marL="0">
              <a:lnSpc>
                <a:spcPct val="112000"/>
              </a:lnSpc>
              <a:buNone/>
            </a:pPr>
            <a:r>
              <a:rPr lang="en-US" sz="1200" dirty="0">
                <a:solidFill>
                  <a:srgbClr val="E7ECFF"/>
                </a:solidFill>
                <a:latin typeface="Consolas" pitchFamily="34" charset="0"/>
                <a:ea typeface="Consolas" pitchFamily="34" charset="-122"/>
                <a:cs typeface="Consolas" pitchFamily="34" charset="-120"/>
              </a:rPr>
              <a:t>Pressure-test this plan. Give me the strongest case against it and the one thing most likely to go wrong.</a:t>
            </a:r>
            <a:endParaRPr lang="en-US" sz="1200" dirty="0"/>
          </a:p>
        </p:txBody>
      </p:sp>
      <p:sp>
        <p:nvSpPr>
          <p:cNvPr id="36" name="Text 31"/>
          <p:cNvSpPr/>
          <p:nvPr/>
        </p:nvSpPr>
        <p:spPr>
          <a:xfrm>
            <a:off x="822960" y="5650992"/>
            <a:ext cx="10515600" cy="320040"/>
          </a:xfrm>
          <a:prstGeom prst="rect">
            <a:avLst/>
          </a:prstGeom>
          <a:noFill/>
          <a:ln/>
        </p:spPr>
        <p:txBody>
          <a:bodyPr wrap="square" lIns="0" tIns="0" rIns="0" bIns="0" rtlCol="0" anchor="ctr"/>
          <a:lstStyle/>
          <a:p>
            <a:pPr algn="l" indent="0" marL="0">
              <a:buNone/>
            </a:pPr>
            <a:r>
              <a:rPr lang="en-US" sz="1200" b="1" dirty="0">
                <a:solidFill>
                  <a:srgbClr val="0B1437"/>
                </a:solidFill>
                <a:latin typeface="Aptos" pitchFamily="34" charset="0"/>
                <a:ea typeface="Aptos" pitchFamily="34" charset="-122"/>
                <a:cs typeface="Aptos" pitchFamily="34" charset="-120"/>
              </a:rPr>
              <a:t>Curated set:  </a:t>
            </a:r>
            <a:pPr algn="l" indent="0" marL="0">
              <a:buNone/>
            </a:pPr>
            <a:r>
              <a:rPr lang="en-US" sz="1200" b="1" u="sng" dirty="0">
                <a:solidFill>
                  <a:srgbClr val="2D6CDF"/>
                </a:solidFill>
                <a:latin typeface="Aptos" pitchFamily="34" charset="0"/>
                <a:ea typeface="Aptos" pitchFamily="34" charset="-122"/>
                <a:cs typeface="Aptos" pitchFamily="34" charset="-120"/>
                <a:hlinkClick r:id="rId7" invalidUrl="" action="" tgtFrame="" tooltip="" history="1" highlightClick="0" endSnd="0">
                  <a:extLst>
                    <a:ext uri="{A12FA001-AC4F-418D-AE19-62706E023703}">
                      <ahyp:hlinkClr xmlns:ahyp="http://schemas.microsoft.com/office/drawing/2018/hyperlinkcolor" val="tx"/>
                    </a:ext>
                  </a:extLst>
                </a:hlinkClick>
              </a:rPr>
              <a:t>10 Prompts for Executives</a:t>
            </a:r>
            <a:pPr algn="l" indent="0" marL="0">
              <a:buNone/>
            </a:pPr>
            <a:r>
              <a:rPr lang="en-US" sz="1200" dirty="0">
                <a:solidFill>
                  <a:srgbClr val="43507B"/>
                </a:solidFill>
                <a:latin typeface="Aptos" pitchFamily="34" charset="0"/>
                <a:ea typeface="Aptos" pitchFamily="34" charset="-122"/>
                <a:cs typeface="Aptos" pitchFamily="34" charset="-120"/>
              </a:rPr>
              <a:t>, in the resource library of your playbook.</a:t>
            </a:r>
            <a:endParaRPr lang="en-US" sz="1200" dirty="0"/>
          </a:p>
        </p:txBody>
      </p:sp>
      <p:sp>
        <p:nvSpPr>
          <p:cNvPr id="37" name="Text 32"/>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1 · Foundations</a:t>
            </a:r>
            <a:endParaRPr lang="en-US" sz="900" dirty="0"/>
          </a:p>
        </p:txBody>
      </p:sp>
      <p:sp>
        <p:nvSpPr>
          <p:cNvPr id="38" name="Text 33"/>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10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437"/>
        </a:solidFill>
      </p:bgPr>
    </p:bg>
    <p:spTree>
      <p:nvGrpSpPr>
        <p:cNvPr id="1" name=""/>
        <p:cNvGrpSpPr/>
        <p:nvPr/>
      </p:nvGrpSpPr>
      <p:grpSpPr>
        <a:xfrm>
          <a:off x="0" y="0"/>
          <a:ext cx="0" cy="0"/>
          <a:chOff x="0" y="0"/>
          <a:chExt cx="0" cy="0"/>
        </a:xfrm>
      </p:grpSpPr>
      <p:sp>
        <p:nvSpPr>
          <p:cNvPr id="2" name="Shape 0"/>
          <p:cNvSpPr/>
          <p:nvPr/>
        </p:nvSpPr>
        <p:spPr>
          <a:xfrm>
            <a:off x="8778240" y="-2194560"/>
            <a:ext cx="5943600" cy="5943600"/>
          </a:xfrm>
          <a:prstGeom prst="ellipse">
            <a:avLst/>
          </a:prstGeom>
          <a:solidFill>
            <a:srgbClr val="2D6CDF">
              <a:alpha val="14000"/>
            </a:srgbClr>
          </a:solidFill>
          <a:ln/>
        </p:spPr>
      </p:sp>
      <p:sp>
        <p:nvSpPr>
          <p:cNvPr id="3" name="Shape 1"/>
          <p:cNvSpPr/>
          <p:nvPr/>
        </p:nvSpPr>
        <p:spPr>
          <a:xfrm>
            <a:off x="10241280" y="3291840"/>
            <a:ext cx="4754880" cy="4754880"/>
          </a:xfrm>
          <a:prstGeom prst="ellipse">
            <a:avLst/>
          </a:prstGeom>
          <a:solidFill>
            <a:srgbClr val="7C5CFC">
              <a:alpha val="12000"/>
            </a:srgbClr>
          </a:solidFill>
          <a:ln/>
        </p:spPr>
      </p:sp>
      <p:sp>
        <p:nvSpPr>
          <p:cNvPr id="4" name="Shape 2"/>
          <p:cNvSpPr/>
          <p:nvPr/>
        </p:nvSpPr>
        <p:spPr>
          <a:xfrm>
            <a:off x="0" y="0"/>
            <a:ext cx="146304" cy="6858000"/>
          </a:xfrm>
          <a:prstGeom prst="rect">
            <a:avLst/>
          </a:prstGeom>
          <a:solidFill>
            <a:srgbClr val="7C5CFC"/>
          </a:solidFill>
          <a:ln/>
        </p:spPr>
      </p:sp>
      <p:sp>
        <p:nvSpPr>
          <p:cNvPr id="5" name="Shape 3"/>
          <p:cNvSpPr/>
          <p:nvPr/>
        </p:nvSpPr>
        <p:spPr>
          <a:xfrm>
            <a:off x="868680" y="2148840"/>
            <a:ext cx="2377440" cy="1371600"/>
          </a:xfrm>
          <a:prstGeom prst="roundRect">
            <a:avLst>
              <a:gd name="adj" fmla="val 8000"/>
            </a:avLst>
          </a:prstGeom>
          <a:solidFill>
            <a:srgbClr val="111C44"/>
          </a:solidFill>
          <a:ln w="19050">
            <a:solidFill>
              <a:srgbClr val="7C5CFC"/>
            </a:solidFill>
            <a:prstDash val="solid"/>
          </a:ln>
        </p:spPr>
      </p:sp>
      <p:sp>
        <p:nvSpPr>
          <p:cNvPr id="6" name="Text 4"/>
          <p:cNvSpPr/>
          <p:nvPr/>
        </p:nvSpPr>
        <p:spPr>
          <a:xfrm>
            <a:off x="868680" y="2331720"/>
            <a:ext cx="2377440" cy="365760"/>
          </a:xfrm>
          <a:prstGeom prst="rect">
            <a:avLst/>
          </a:prstGeom>
          <a:noFill/>
          <a:ln/>
        </p:spPr>
        <p:txBody>
          <a:bodyPr wrap="square" lIns="0" tIns="0" rIns="0" bIns="0" rtlCol="0" anchor="ctr"/>
          <a:lstStyle/>
          <a:p>
            <a:pPr algn="ctr" indent="0" marL="0">
              <a:buNone/>
            </a:pPr>
            <a:r>
              <a:rPr lang="en-US" sz="1500" b="1" spc="400" kern="0" dirty="0">
                <a:solidFill>
                  <a:srgbClr val="BBA6FF"/>
                </a:solidFill>
                <a:latin typeface="Aptos" pitchFamily="34" charset="0"/>
                <a:ea typeface="Aptos" pitchFamily="34" charset="-122"/>
                <a:cs typeface="Aptos" pitchFamily="34" charset="-120"/>
              </a:rPr>
              <a:t>TIER</a:t>
            </a:r>
            <a:endParaRPr lang="en-US" sz="1500" dirty="0"/>
          </a:p>
        </p:txBody>
      </p:sp>
      <p:sp>
        <p:nvSpPr>
          <p:cNvPr id="7" name="Text 5"/>
          <p:cNvSpPr/>
          <p:nvPr/>
        </p:nvSpPr>
        <p:spPr>
          <a:xfrm>
            <a:off x="868680" y="2578608"/>
            <a:ext cx="2377440" cy="868680"/>
          </a:xfrm>
          <a:prstGeom prst="rect">
            <a:avLst/>
          </a:prstGeom>
          <a:noFill/>
          <a:ln/>
        </p:spPr>
        <p:txBody>
          <a:bodyPr wrap="square" lIns="0" tIns="0" rIns="0" bIns="0" rtlCol="0" anchor="ctr"/>
          <a:lstStyle/>
          <a:p>
            <a:pPr algn="ctr" indent="0" marL="0">
              <a:buNone/>
            </a:pPr>
            <a:r>
              <a:rPr lang="en-US" sz="6000" b="1" dirty="0">
                <a:solidFill>
                  <a:srgbClr val="FFFFFF"/>
                </a:solidFill>
                <a:latin typeface="Aptos" pitchFamily="34" charset="0"/>
                <a:ea typeface="Aptos" pitchFamily="34" charset="-122"/>
                <a:cs typeface="Aptos" pitchFamily="34" charset="-120"/>
              </a:rPr>
              <a:t>2</a:t>
            </a:r>
            <a:endParaRPr lang="en-US" sz="6000" dirty="0"/>
          </a:p>
        </p:txBody>
      </p:sp>
      <p:sp>
        <p:nvSpPr>
          <p:cNvPr id="8" name="Text 6"/>
          <p:cNvSpPr/>
          <p:nvPr/>
        </p:nvSpPr>
        <p:spPr>
          <a:xfrm>
            <a:off x="3520440" y="2286000"/>
            <a:ext cx="7863840" cy="320040"/>
          </a:xfrm>
          <a:prstGeom prst="rect">
            <a:avLst/>
          </a:prstGeom>
          <a:noFill/>
          <a:ln/>
        </p:spPr>
        <p:txBody>
          <a:bodyPr wrap="square" lIns="0" tIns="0" rIns="0" bIns="0" rtlCol="0" anchor="ctr"/>
          <a:lstStyle/>
          <a:p>
            <a:pPr indent="0" marL="0">
              <a:buNone/>
            </a:pPr>
            <a:r>
              <a:rPr lang="en-US" sz="1300" b="1" spc="300" kern="0" dirty="0">
                <a:solidFill>
                  <a:srgbClr val="BBA6FF"/>
                </a:solidFill>
                <a:latin typeface="Aptos" pitchFamily="34" charset="0"/>
                <a:ea typeface="Aptos" pitchFamily="34" charset="-122"/>
                <a:cs typeface="Aptos" pitchFamily="34" charset="-120"/>
              </a:rPr>
              <a:t>TIER 2 · DEEPER VALUE</a:t>
            </a:r>
            <a:endParaRPr lang="en-US" sz="1300" dirty="0"/>
          </a:p>
        </p:txBody>
      </p:sp>
      <p:sp>
        <p:nvSpPr>
          <p:cNvPr id="9" name="Text 7"/>
          <p:cNvSpPr/>
          <p:nvPr/>
        </p:nvSpPr>
        <p:spPr>
          <a:xfrm>
            <a:off x="3474720" y="2606040"/>
            <a:ext cx="8046720" cy="1280160"/>
          </a:xfrm>
          <a:prstGeom prst="rect">
            <a:avLst/>
          </a:prstGeom>
          <a:noFill/>
          <a:ln/>
        </p:spPr>
        <p:txBody>
          <a:bodyPr wrap="square" lIns="0" tIns="0" rIns="0" bIns="0" rtlCol="0" anchor="t"/>
          <a:lstStyle/>
          <a:p>
            <a:pPr indent="0" marL="0">
              <a:lnSpc>
                <a:spcPct val="100000"/>
              </a:lnSpc>
              <a:buNone/>
            </a:pPr>
            <a:r>
              <a:rPr lang="en-US" sz="3400" b="1" dirty="0">
                <a:solidFill>
                  <a:srgbClr val="FFFFFF"/>
                </a:solidFill>
                <a:latin typeface="Aptos" pitchFamily="34" charset="0"/>
                <a:ea typeface="Aptos" pitchFamily="34" charset="-122"/>
                <a:cs typeface="Aptos" pitchFamily="34" charset="-120"/>
              </a:rPr>
              <a:t>Agents that do the heavy thinking</a:t>
            </a:r>
            <a:endParaRPr lang="en-US" sz="3400" dirty="0"/>
          </a:p>
        </p:txBody>
      </p:sp>
      <p:sp>
        <p:nvSpPr>
          <p:cNvPr id="10" name="Text 8"/>
          <p:cNvSpPr/>
          <p:nvPr/>
        </p:nvSpPr>
        <p:spPr>
          <a:xfrm>
            <a:off x="3520440" y="3886200"/>
            <a:ext cx="7772400" cy="914400"/>
          </a:xfrm>
          <a:prstGeom prst="rect">
            <a:avLst/>
          </a:prstGeom>
          <a:noFill/>
          <a:ln/>
        </p:spPr>
        <p:txBody>
          <a:bodyPr wrap="square" lIns="0" tIns="0" rIns="0" bIns="0" rtlCol="0" anchor="t"/>
          <a:lstStyle/>
          <a:p>
            <a:pPr indent="0" marL="0">
              <a:lnSpc>
                <a:spcPct val="116000"/>
              </a:lnSpc>
              <a:buNone/>
            </a:pPr>
            <a:r>
              <a:rPr lang="en-US" sz="1550" dirty="0">
                <a:solidFill>
                  <a:srgbClr val="AEB7DA"/>
                </a:solidFill>
                <a:latin typeface="Aptos" pitchFamily="34" charset="0"/>
                <a:ea typeface="Aptos" pitchFamily="34" charset="-122"/>
                <a:cs typeface="Aptos" pitchFamily="34" charset="-120"/>
              </a:rPr>
              <a:t>Beyond a plain prompt: purpose-built reasoning agents that research and analyze, the work that used to take an analyst a week.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7C5CFC"/>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2</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7C5CFC"/>
                </a:solidFill>
                <a:latin typeface="Aptos" pitchFamily="34" charset="0"/>
                <a:ea typeface="Aptos" pitchFamily="34" charset="-122"/>
                <a:cs typeface="Aptos" pitchFamily="34" charset="-120"/>
              </a:rPr>
              <a:t>PREMIUM REASONING AGENTS</a:t>
            </a:r>
            <a:endParaRPr lang="en-US" sz="1200" dirty="0"/>
          </a:p>
        </p:txBody>
      </p:sp>
      <p:sp>
        <p:nvSpPr>
          <p:cNvPr id="5" name="Text 3"/>
          <p:cNvSpPr/>
          <p:nvPr/>
        </p:nvSpPr>
        <p:spPr>
          <a:xfrm>
            <a:off x="786384" y="914400"/>
            <a:ext cx="11155680" cy="566928"/>
          </a:xfrm>
          <a:prstGeom prst="rect">
            <a:avLst/>
          </a:prstGeom>
          <a:noFill/>
          <a:ln/>
        </p:spPr>
        <p:txBody>
          <a:bodyPr wrap="square" lIns="0" tIns="0" rIns="0" bIns="0" rtlCol="0" anchor="ctr"/>
          <a:lstStyle/>
          <a:p>
            <a:pPr indent="0" marL="0">
              <a:buNone/>
            </a:pPr>
            <a:r>
              <a:rPr lang="en-US" sz="2700" b="1" dirty="0">
                <a:solidFill>
                  <a:srgbClr val="0B1437"/>
                </a:solidFill>
                <a:latin typeface="Aptos" pitchFamily="34" charset="0"/>
                <a:ea typeface="Aptos" pitchFamily="34" charset="-122"/>
                <a:cs typeface="Aptos" pitchFamily="34" charset="-120"/>
              </a:rPr>
              <a:t>Two agents that do the work behind the answer</a:t>
            </a:r>
            <a:endParaRPr lang="en-US" sz="2700" dirty="0"/>
          </a:p>
        </p:txBody>
      </p:sp>
      <p:sp>
        <p:nvSpPr>
          <p:cNvPr id="6" name="Text 4"/>
          <p:cNvSpPr/>
          <p:nvPr/>
        </p:nvSpPr>
        <p:spPr>
          <a:xfrm>
            <a:off x="822960" y="1499616"/>
            <a:ext cx="10607040" cy="402336"/>
          </a:xfrm>
          <a:prstGeom prst="rect">
            <a:avLst/>
          </a:prstGeom>
          <a:noFill/>
          <a:ln/>
        </p:spPr>
        <p:txBody>
          <a:bodyPr wrap="square" lIns="0" tIns="0" rIns="0" bIns="0" rtlCol="0" anchor="ctr"/>
          <a:lstStyle/>
          <a:p>
            <a:pPr indent="0" marL="0">
              <a:lnSpc>
                <a:spcPct val="112000"/>
              </a:lnSpc>
              <a:buNone/>
            </a:pPr>
            <a:r>
              <a:rPr lang="en-US" sz="1400" dirty="0">
                <a:solidFill>
                  <a:srgbClr val="43507B"/>
                </a:solidFill>
                <a:latin typeface="Aptos" pitchFamily="34" charset="0"/>
                <a:ea typeface="Aptos" pitchFamily="34" charset="-122"/>
                <a:cs typeface="Aptos" pitchFamily="34" charset="-120"/>
              </a:rPr>
              <a:t>Most prompts hand you an answer. These two do the work behind it, the kind you used to hand an analyst and wait a week for.</a:t>
            </a:r>
            <a:endParaRPr lang="en-US" sz="1400" dirty="0"/>
          </a:p>
        </p:txBody>
      </p:sp>
      <p:sp>
        <p:nvSpPr>
          <p:cNvPr id="7" name="Shape 5"/>
          <p:cNvSpPr/>
          <p:nvPr/>
        </p:nvSpPr>
        <p:spPr>
          <a:xfrm>
            <a:off x="822960" y="2029968"/>
            <a:ext cx="5175504" cy="3154680"/>
          </a:xfrm>
          <a:prstGeom prst="roundRect">
            <a:avLst>
              <a:gd name="adj" fmla="val 2899"/>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8" name="Shape 6"/>
          <p:cNvSpPr/>
          <p:nvPr/>
        </p:nvSpPr>
        <p:spPr>
          <a:xfrm>
            <a:off x="822960" y="2029968"/>
            <a:ext cx="5175504" cy="109728"/>
          </a:xfrm>
          <a:prstGeom prst="rect">
            <a:avLst/>
          </a:prstGeom>
          <a:solidFill>
            <a:srgbClr val="2D6CDF"/>
          </a:solidFill>
          <a:ln/>
        </p:spPr>
      </p:sp>
      <p:sp>
        <p:nvSpPr>
          <p:cNvPr id="9" name="Shape 7"/>
          <p:cNvSpPr/>
          <p:nvPr/>
        </p:nvSpPr>
        <p:spPr>
          <a:xfrm>
            <a:off x="1115568" y="2340864"/>
            <a:ext cx="749808" cy="749808"/>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10" name="Image 0" descr="preencoded.png">    </p:cNvPr>
          <p:cNvPicPr>
            <a:picLocks noChangeAspect="1"/>
          </p:cNvPicPr>
          <p:nvPr/>
        </p:nvPicPr>
        <p:blipFill>
          <a:blip r:embed="rId1"/>
          <a:stretch>
            <a:fillRect/>
          </a:stretch>
        </p:blipFill>
        <p:spPr>
          <a:xfrm>
            <a:off x="1340510" y="2565806"/>
            <a:ext cx="299923" cy="299923"/>
          </a:xfrm>
          <a:prstGeom prst="rect">
            <a:avLst/>
          </a:prstGeom>
        </p:spPr>
      </p:pic>
      <p:sp>
        <p:nvSpPr>
          <p:cNvPr id="11" name="Text 8"/>
          <p:cNvSpPr/>
          <p:nvPr/>
        </p:nvSpPr>
        <p:spPr>
          <a:xfrm>
            <a:off x="2103120" y="2322576"/>
            <a:ext cx="3712464" cy="402336"/>
          </a:xfrm>
          <a:prstGeom prst="rect">
            <a:avLst/>
          </a:prstGeom>
          <a:noFill/>
          <a:ln/>
        </p:spPr>
        <p:txBody>
          <a:bodyPr wrap="square" lIns="0" tIns="0" rIns="0" bIns="0" rtlCol="0" anchor="ctr"/>
          <a:lstStyle/>
          <a:p>
            <a:pPr indent="0" marL="0">
              <a:buNone/>
            </a:pPr>
            <a:r>
              <a:rPr lang="en-US" sz="2100" b="1" dirty="0">
                <a:solidFill>
                  <a:srgbClr val="2D6CDF"/>
                </a:solidFill>
                <a:latin typeface="Aptos" pitchFamily="34" charset="0"/>
                <a:ea typeface="Aptos" pitchFamily="34" charset="-122"/>
                <a:cs typeface="Aptos" pitchFamily="34" charset="-120"/>
              </a:rPr>
              <a:t>Researcher</a:t>
            </a:r>
            <a:endParaRPr lang="en-US" sz="2100" dirty="0"/>
          </a:p>
        </p:txBody>
      </p:sp>
      <p:sp>
        <p:nvSpPr>
          <p:cNvPr id="12" name="Text 9"/>
          <p:cNvSpPr/>
          <p:nvPr/>
        </p:nvSpPr>
        <p:spPr>
          <a:xfrm>
            <a:off x="2103120" y="2761488"/>
            <a:ext cx="3712464" cy="274320"/>
          </a:xfrm>
          <a:prstGeom prst="rect">
            <a:avLst/>
          </a:prstGeom>
          <a:noFill/>
          <a:ln/>
        </p:spPr>
        <p:txBody>
          <a:bodyPr wrap="square" lIns="0" tIns="0" rIns="0" bIns="0" rtlCol="0" anchor="ctr"/>
          <a:lstStyle/>
          <a:p>
            <a:pPr indent="0" marL="0">
              <a:buNone/>
            </a:pPr>
            <a:r>
              <a:rPr lang="en-US" sz="1200" b="1" dirty="0">
                <a:solidFill>
                  <a:srgbClr val="8A93B8"/>
                </a:solidFill>
                <a:latin typeface="Aptos" pitchFamily="34" charset="0"/>
                <a:ea typeface="Aptos" pitchFamily="34" charset="-122"/>
                <a:cs typeface="Aptos" pitchFamily="34" charset="-120"/>
              </a:rPr>
              <a:t>Your strategy analyst</a:t>
            </a:r>
            <a:endParaRPr lang="en-US" sz="1200" dirty="0"/>
          </a:p>
        </p:txBody>
      </p:sp>
      <p:sp>
        <p:nvSpPr>
          <p:cNvPr id="13" name="Text 10"/>
          <p:cNvSpPr/>
          <p:nvPr/>
        </p:nvSpPr>
        <p:spPr>
          <a:xfrm>
            <a:off x="1133856" y="3291840"/>
            <a:ext cx="4572000" cy="914400"/>
          </a:xfrm>
          <a:prstGeom prst="rect">
            <a:avLst/>
          </a:prstGeom>
          <a:noFill/>
          <a:ln/>
        </p:spPr>
        <p:txBody>
          <a:bodyPr wrap="square" lIns="0" tIns="0" rIns="0" bIns="0" rtlCol="0" anchor="t"/>
          <a:lstStyle/>
          <a:p>
            <a:pPr indent="0" marL="0">
              <a:lnSpc>
                <a:spcPct val="114000"/>
              </a:lnSpc>
              <a:buNone/>
            </a:pPr>
            <a:r>
              <a:rPr lang="en-US" sz="1250" dirty="0">
                <a:solidFill>
                  <a:srgbClr val="43507B"/>
                </a:solidFill>
                <a:latin typeface="Aptos" pitchFamily="34" charset="0"/>
                <a:ea typeface="Aptos" pitchFamily="34" charset="-122"/>
                <a:cs typeface="Aptos" pitchFamily="34" charset="-120"/>
              </a:rPr>
              <a:t>Runs deep, multi-step research across your work and the web, then hands back a structured, cited briefing.</a:t>
            </a:r>
            <a:endParaRPr lang="en-US" sz="1250" dirty="0"/>
          </a:p>
        </p:txBody>
      </p:sp>
      <p:sp>
        <p:nvSpPr>
          <p:cNvPr id="14" name="Shape 11"/>
          <p:cNvSpPr/>
          <p:nvPr/>
        </p:nvSpPr>
        <p:spPr>
          <a:xfrm>
            <a:off x="1152144" y="4361688"/>
            <a:ext cx="137160" cy="137160"/>
          </a:xfrm>
          <a:prstGeom prst="ellipse">
            <a:avLst/>
          </a:prstGeom>
          <a:solidFill>
            <a:srgbClr val="2D6CDF"/>
          </a:solidFill>
          <a:ln/>
        </p:spPr>
      </p:sp>
      <p:sp>
        <p:nvSpPr>
          <p:cNvPr id="15" name="Text 12"/>
          <p:cNvSpPr/>
          <p:nvPr/>
        </p:nvSpPr>
        <p:spPr>
          <a:xfrm>
            <a:off x="1389888" y="427024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Combines your documents with the web</a:t>
            </a:r>
            <a:endParaRPr lang="en-US" sz="1150" dirty="0"/>
          </a:p>
        </p:txBody>
      </p:sp>
      <p:sp>
        <p:nvSpPr>
          <p:cNvPr id="16" name="Shape 13"/>
          <p:cNvSpPr/>
          <p:nvPr/>
        </p:nvSpPr>
        <p:spPr>
          <a:xfrm>
            <a:off x="1152144" y="4636008"/>
            <a:ext cx="137160" cy="137160"/>
          </a:xfrm>
          <a:prstGeom prst="ellipse">
            <a:avLst/>
          </a:prstGeom>
          <a:solidFill>
            <a:srgbClr val="2D6CDF"/>
          </a:solidFill>
          <a:ln/>
        </p:spPr>
      </p:sp>
      <p:sp>
        <p:nvSpPr>
          <p:cNvPr id="17" name="Text 14"/>
          <p:cNvSpPr/>
          <p:nvPr/>
        </p:nvSpPr>
        <p:spPr>
          <a:xfrm>
            <a:off x="1389888" y="454456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Reasons in steps, shows its sources</a:t>
            </a:r>
            <a:endParaRPr lang="en-US" sz="1150" dirty="0"/>
          </a:p>
        </p:txBody>
      </p:sp>
      <p:sp>
        <p:nvSpPr>
          <p:cNvPr id="18" name="Shape 15"/>
          <p:cNvSpPr/>
          <p:nvPr/>
        </p:nvSpPr>
        <p:spPr>
          <a:xfrm>
            <a:off x="1152144" y="4910328"/>
            <a:ext cx="137160" cy="137160"/>
          </a:xfrm>
          <a:prstGeom prst="ellipse">
            <a:avLst/>
          </a:prstGeom>
          <a:solidFill>
            <a:srgbClr val="2D6CDF"/>
          </a:solidFill>
          <a:ln/>
        </p:spPr>
      </p:sp>
      <p:sp>
        <p:nvSpPr>
          <p:cNvPr id="19" name="Text 16"/>
          <p:cNvSpPr/>
          <p:nvPr/>
        </p:nvSpPr>
        <p:spPr>
          <a:xfrm>
            <a:off x="1389888" y="481888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Built for strategy, not quick lookups</a:t>
            </a:r>
            <a:endParaRPr lang="en-US" sz="1150" dirty="0"/>
          </a:p>
        </p:txBody>
      </p:sp>
      <p:sp>
        <p:nvSpPr>
          <p:cNvPr id="20" name="Shape 17"/>
          <p:cNvSpPr/>
          <p:nvPr/>
        </p:nvSpPr>
        <p:spPr>
          <a:xfrm>
            <a:off x="6163056" y="2029968"/>
            <a:ext cx="5175504" cy="3154680"/>
          </a:xfrm>
          <a:prstGeom prst="roundRect">
            <a:avLst>
              <a:gd name="adj" fmla="val 2899"/>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1" name="Shape 18"/>
          <p:cNvSpPr/>
          <p:nvPr/>
        </p:nvSpPr>
        <p:spPr>
          <a:xfrm>
            <a:off x="6163056" y="2029968"/>
            <a:ext cx="5175504" cy="109728"/>
          </a:xfrm>
          <a:prstGeom prst="rect">
            <a:avLst/>
          </a:prstGeom>
          <a:solidFill>
            <a:srgbClr val="12B886"/>
          </a:solidFill>
          <a:ln/>
        </p:spPr>
      </p:sp>
      <p:sp>
        <p:nvSpPr>
          <p:cNvPr id="22" name="Shape 19"/>
          <p:cNvSpPr/>
          <p:nvPr/>
        </p:nvSpPr>
        <p:spPr>
          <a:xfrm>
            <a:off x="6455664" y="2340864"/>
            <a:ext cx="749808" cy="749808"/>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23" name="Image 1" descr="preencoded.png">    </p:cNvPr>
          <p:cNvPicPr>
            <a:picLocks noChangeAspect="1"/>
          </p:cNvPicPr>
          <p:nvPr/>
        </p:nvPicPr>
        <p:blipFill>
          <a:blip r:embed="rId2"/>
          <a:stretch>
            <a:fillRect/>
          </a:stretch>
        </p:blipFill>
        <p:spPr>
          <a:xfrm>
            <a:off x="6680606" y="2565806"/>
            <a:ext cx="299923" cy="299923"/>
          </a:xfrm>
          <a:prstGeom prst="rect">
            <a:avLst/>
          </a:prstGeom>
        </p:spPr>
      </p:pic>
      <p:sp>
        <p:nvSpPr>
          <p:cNvPr id="24" name="Text 20"/>
          <p:cNvSpPr/>
          <p:nvPr/>
        </p:nvSpPr>
        <p:spPr>
          <a:xfrm>
            <a:off x="7443216" y="2322576"/>
            <a:ext cx="3712464" cy="402336"/>
          </a:xfrm>
          <a:prstGeom prst="rect">
            <a:avLst/>
          </a:prstGeom>
          <a:noFill/>
          <a:ln/>
        </p:spPr>
        <p:txBody>
          <a:bodyPr wrap="square" lIns="0" tIns="0" rIns="0" bIns="0" rtlCol="0" anchor="ctr"/>
          <a:lstStyle/>
          <a:p>
            <a:pPr indent="0" marL="0">
              <a:buNone/>
            </a:pPr>
            <a:r>
              <a:rPr lang="en-US" sz="2100" b="1" dirty="0">
                <a:solidFill>
                  <a:srgbClr val="12B886"/>
                </a:solidFill>
                <a:latin typeface="Aptos" pitchFamily="34" charset="0"/>
                <a:ea typeface="Aptos" pitchFamily="34" charset="-122"/>
                <a:cs typeface="Aptos" pitchFamily="34" charset="-120"/>
              </a:rPr>
              <a:t>Analyst</a:t>
            </a:r>
            <a:endParaRPr lang="en-US" sz="2100" dirty="0"/>
          </a:p>
        </p:txBody>
      </p:sp>
      <p:sp>
        <p:nvSpPr>
          <p:cNvPr id="25" name="Text 21"/>
          <p:cNvSpPr/>
          <p:nvPr/>
        </p:nvSpPr>
        <p:spPr>
          <a:xfrm>
            <a:off x="7443216" y="2761488"/>
            <a:ext cx="3712464" cy="274320"/>
          </a:xfrm>
          <a:prstGeom prst="rect">
            <a:avLst/>
          </a:prstGeom>
          <a:noFill/>
          <a:ln/>
        </p:spPr>
        <p:txBody>
          <a:bodyPr wrap="square" lIns="0" tIns="0" rIns="0" bIns="0" rtlCol="0" anchor="ctr"/>
          <a:lstStyle/>
          <a:p>
            <a:pPr indent="0" marL="0">
              <a:buNone/>
            </a:pPr>
            <a:r>
              <a:rPr lang="en-US" sz="1200" b="1" dirty="0">
                <a:solidFill>
                  <a:srgbClr val="8A93B8"/>
                </a:solidFill>
                <a:latin typeface="Aptos" pitchFamily="34" charset="0"/>
                <a:ea typeface="Aptos" pitchFamily="34" charset="-122"/>
                <a:cs typeface="Aptos" pitchFamily="34" charset="-120"/>
              </a:rPr>
              <a:t>Your data scientist on demand</a:t>
            </a:r>
            <a:endParaRPr lang="en-US" sz="1200" dirty="0"/>
          </a:p>
        </p:txBody>
      </p:sp>
      <p:sp>
        <p:nvSpPr>
          <p:cNvPr id="26" name="Text 22"/>
          <p:cNvSpPr/>
          <p:nvPr/>
        </p:nvSpPr>
        <p:spPr>
          <a:xfrm>
            <a:off x="6473952" y="3291840"/>
            <a:ext cx="4572000" cy="914400"/>
          </a:xfrm>
          <a:prstGeom prst="rect">
            <a:avLst/>
          </a:prstGeom>
          <a:noFill/>
          <a:ln/>
        </p:spPr>
        <p:txBody>
          <a:bodyPr wrap="square" lIns="0" tIns="0" rIns="0" bIns="0" rtlCol="0" anchor="t"/>
          <a:lstStyle/>
          <a:p>
            <a:pPr indent="0" marL="0">
              <a:lnSpc>
                <a:spcPct val="114000"/>
              </a:lnSpc>
              <a:buNone/>
            </a:pPr>
            <a:r>
              <a:rPr lang="en-US" sz="1250" dirty="0">
                <a:solidFill>
                  <a:srgbClr val="43507B"/>
                </a:solidFill>
                <a:latin typeface="Aptos" pitchFamily="34" charset="0"/>
                <a:ea typeface="Aptos" pitchFamily="34" charset="-122"/>
                <a:cs typeface="Aptos" pitchFamily="34" charset="-120"/>
              </a:rPr>
              <a:t>Reasons over raw spreadsheets step by step, writes and runs its own analysis code, and returns the insight.</a:t>
            </a:r>
            <a:endParaRPr lang="en-US" sz="1250" dirty="0"/>
          </a:p>
        </p:txBody>
      </p:sp>
      <p:sp>
        <p:nvSpPr>
          <p:cNvPr id="27" name="Shape 23"/>
          <p:cNvSpPr/>
          <p:nvPr/>
        </p:nvSpPr>
        <p:spPr>
          <a:xfrm>
            <a:off x="6492240" y="4361688"/>
            <a:ext cx="137160" cy="137160"/>
          </a:xfrm>
          <a:prstGeom prst="ellipse">
            <a:avLst/>
          </a:prstGeom>
          <a:solidFill>
            <a:srgbClr val="12B886"/>
          </a:solidFill>
          <a:ln/>
        </p:spPr>
      </p:sp>
      <p:sp>
        <p:nvSpPr>
          <p:cNvPr id="28" name="Text 24"/>
          <p:cNvSpPr/>
          <p:nvPr/>
        </p:nvSpPr>
        <p:spPr>
          <a:xfrm>
            <a:off x="6729984" y="427024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Works on your raw Excel or CSV data</a:t>
            </a:r>
            <a:endParaRPr lang="en-US" sz="1150" dirty="0"/>
          </a:p>
        </p:txBody>
      </p:sp>
      <p:sp>
        <p:nvSpPr>
          <p:cNvPr id="29" name="Shape 25"/>
          <p:cNvSpPr/>
          <p:nvPr/>
        </p:nvSpPr>
        <p:spPr>
          <a:xfrm>
            <a:off x="6492240" y="4636008"/>
            <a:ext cx="137160" cy="137160"/>
          </a:xfrm>
          <a:prstGeom prst="ellipse">
            <a:avLst/>
          </a:prstGeom>
          <a:solidFill>
            <a:srgbClr val="12B886"/>
          </a:solidFill>
          <a:ln/>
        </p:spPr>
      </p:sp>
      <p:sp>
        <p:nvSpPr>
          <p:cNvPr id="30" name="Text 26"/>
          <p:cNvSpPr/>
          <p:nvPr/>
        </p:nvSpPr>
        <p:spPr>
          <a:xfrm>
            <a:off x="6729984" y="454456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Writes and runs live analysis code</a:t>
            </a:r>
            <a:endParaRPr lang="en-US" sz="1150" dirty="0"/>
          </a:p>
        </p:txBody>
      </p:sp>
      <p:sp>
        <p:nvSpPr>
          <p:cNvPr id="31" name="Shape 27"/>
          <p:cNvSpPr/>
          <p:nvPr/>
        </p:nvSpPr>
        <p:spPr>
          <a:xfrm>
            <a:off x="6492240" y="4910328"/>
            <a:ext cx="137160" cy="137160"/>
          </a:xfrm>
          <a:prstGeom prst="ellipse">
            <a:avLst/>
          </a:prstGeom>
          <a:solidFill>
            <a:srgbClr val="12B886"/>
          </a:solidFill>
          <a:ln/>
        </p:spPr>
      </p:sp>
      <p:sp>
        <p:nvSpPr>
          <p:cNvPr id="32" name="Text 28"/>
          <p:cNvSpPr/>
          <p:nvPr/>
        </p:nvSpPr>
        <p:spPr>
          <a:xfrm>
            <a:off x="6729984" y="4818888"/>
            <a:ext cx="4297680" cy="274320"/>
          </a:xfrm>
          <a:prstGeom prst="rect">
            <a:avLst/>
          </a:prstGeom>
          <a:noFill/>
          <a:ln/>
        </p:spPr>
        <p:txBody>
          <a:bodyPr wrap="square" lIns="0" tIns="0" rIns="0" bIns="0" rtlCol="0" anchor="ctr"/>
          <a:lstStyle/>
          <a:p>
            <a:pPr indent="0" marL="0">
              <a:buNone/>
            </a:pPr>
            <a:r>
              <a:rPr lang="en-US" sz="1150" dirty="0">
                <a:solidFill>
                  <a:srgbClr val="0B1437"/>
                </a:solidFill>
                <a:latin typeface="Aptos" pitchFamily="34" charset="0"/>
                <a:ea typeface="Aptos" pitchFamily="34" charset="-122"/>
                <a:cs typeface="Aptos" pitchFamily="34" charset="-120"/>
              </a:rPr>
              <a:t>Returns trends, tables, and visuals</a:t>
            </a:r>
            <a:endParaRPr lang="en-US" sz="1150" dirty="0"/>
          </a:p>
        </p:txBody>
      </p:sp>
      <p:sp>
        <p:nvSpPr>
          <p:cNvPr id="33" name="Shape 29"/>
          <p:cNvSpPr/>
          <p:nvPr/>
        </p:nvSpPr>
        <p:spPr>
          <a:xfrm>
            <a:off x="822960" y="5321808"/>
            <a:ext cx="10515600" cy="603504"/>
          </a:xfrm>
          <a:prstGeom prst="roundRect">
            <a:avLst>
              <a:gd name="adj" fmla="val 13636"/>
            </a:avLst>
          </a:prstGeom>
          <a:solidFill>
            <a:srgbClr val="F2EEFF"/>
          </a:solidFill>
          <a:ln w="12700">
            <a:solidFill>
              <a:srgbClr val="DDD2FB"/>
            </a:solidFill>
            <a:prstDash val="solid"/>
          </a:ln>
        </p:spPr>
      </p:sp>
      <p:sp>
        <p:nvSpPr>
          <p:cNvPr id="34" name="Text 30"/>
          <p:cNvSpPr/>
          <p:nvPr/>
        </p:nvSpPr>
        <p:spPr>
          <a:xfrm>
            <a:off x="1143000" y="5321808"/>
            <a:ext cx="10058400" cy="603504"/>
          </a:xfrm>
          <a:prstGeom prst="rect">
            <a:avLst/>
          </a:prstGeom>
          <a:noFill/>
          <a:ln/>
        </p:spPr>
        <p:txBody>
          <a:bodyPr wrap="square" lIns="0" tIns="0" rIns="0" bIns="0" rtlCol="0" anchor="ctr"/>
          <a:lstStyle/>
          <a:p>
            <a:pPr algn="l" indent="0" marL="0">
              <a:buNone/>
            </a:pPr>
            <a:r>
              <a:rPr lang="en-US" sz="1300" b="1" dirty="0">
                <a:solidFill>
                  <a:srgbClr val="5B45C8"/>
                </a:solidFill>
                <a:latin typeface="Aptos" pitchFamily="34" charset="0"/>
                <a:ea typeface="Aptos" pitchFamily="34" charset="-122"/>
                <a:cs typeface="Aptos" pitchFamily="34" charset="-120"/>
              </a:rPr>
              <a:t>The executive move:  </a:t>
            </a:r>
            <a:pPr algn="l" indent="0" marL="0">
              <a:buNone/>
            </a:pPr>
            <a:r>
              <a:rPr lang="en-US" sz="1300" dirty="0">
                <a:solidFill>
                  <a:srgbClr val="43507B"/>
                </a:solidFill>
                <a:latin typeface="Aptos" pitchFamily="34" charset="0"/>
                <a:ea typeface="Aptos" pitchFamily="34" charset="-122"/>
                <a:cs typeface="Aptos" pitchFamily="34" charset="-120"/>
              </a:rPr>
              <a:t>point Researcher at a decision, point Analyst at your data, and walk in with the thinking already done.</a:t>
            </a:r>
            <a:endParaRPr lang="en-US" sz="1300" dirty="0"/>
          </a:p>
        </p:txBody>
      </p:sp>
      <p:sp>
        <p:nvSpPr>
          <p:cNvPr id="35" name="Text 31"/>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2 · Deeper value</a:t>
            </a:r>
            <a:endParaRPr lang="en-US" sz="900" dirty="0"/>
          </a:p>
        </p:txBody>
      </p:sp>
      <p:sp>
        <p:nvSpPr>
          <p:cNvPr id="36" name="Text 32"/>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11</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7C5CFC"/>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2</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7C5CFC"/>
                </a:solidFill>
                <a:latin typeface="Aptos" pitchFamily="34" charset="0"/>
                <a:ea typeface="Aptos" pitchFamily="34" charset="-122"/>
                <a:cs typeface="Aptos" pitchFamily="34" charset="-120"/>
              </a:rPr>
              <a:t>LIVE DEMO · RESEARCHER + ANALYST</a:t>
            </a:r>
            <a:endParaRPr lang="en-US" sz="1200" dirty="0"/>
          </a:p>
        </p:txBody>
      </p:sp>
      <p:sp>
        <p:nvSpPr>
          <p:cNvPr id="5" name="Text 3"/>
          <p:cNvSpPr/>
          <p:nvPr/>
        </p:nvSpPr>
        <p:spPr>
          <a:xfrm>
            <a:off x="786384" y="914400"/>
            <a:ext cx="9509760" cy="548640"/>
          </a:xfrm>
          <a:prstGeom prst="rect">
            <a:avLst/>
          </a:prstGeom>
          <a:noFill/>
          <a:ln/>
        </p:spPr>
        <p:txBody>
          <a:bodyPr wrap="square" lIns="0" tIns="0" rIns="0" bIns="0" rtlCol="0" anchor="ctr"/>
          <a:lstStyle/>
          <a:p>
            <a:pPr indent="0" marL="0">
              <a:buNone/>
            </a:pPr>
            <a:r>
              <a:rPr lang="en-US" sz="2900" b="1" dirty="0">
                <a:solidFill>
                  <a:srgbClr val="0B1437"/>
                </a:solidFill>
                <a:latin typeface="Aptos" pitchFamily="34" charset="0"/>
                <a:ea typeface="Aptos" pitchFamily="34" charset="-122"/>
                <a:cs typeface="Aptos" pitchFamily="34" charset="-120"/>
              </a:rPr>
              <a:t>One question, a board-ready briefing</a:t>
            </a:r>
            <a:endParaRPr lang="en-US" sz="2900" dirty="0"/>
          </a:p>
        </p:txBody>
      </p:sp>
      <p:sp>
        <p:nvSpPr>
          <p:cNvPr id="6" name="Text 4"/>
          <p:cNvSpPr/>
          <p:nvPr/>
        </p:nvSpPr>
        <p:spPr>
          <a:xfrm>
            <a:off x="822960" y="1481328"/>
            <a:ext cx="9418320" cy="548640"/>
          </a:xfrm>
          <a:prstGeom prst="rect">
            <a:avLst/>
          </a:prstGeom>
          <a:noFill/>
          <a:ln/>
        </p:spPr>
        <p:txBody>
          <a:bodyPr wrap="square" lIns="0" tIns="0" rIns="0" bIns="0" rtlCol="0" anchor="ctr"/>
          <a:lstStyle/>
          <a:p>
            <a:pPr indent="0" marL="0">
              <a:lnSpc>
                <a:spcPct val="112000"/>
              </a:lnSpc>
              <a:buNone/>
            </a:pPr>
            <a:r>
              <a:rPr lang="en-US" sz="1350" dirty="0">
                <a:solidFill>
                  <a:srgbClr val="43507B"/>
                </a:solidFill>
                <a:latin typeface="Aptos" pitchFamily="34" charset="0"/>
                <a:ea typeface="Aptos" pitchFamily="34" charset="-122"/>
                <a:cs typeface="Aptos" pitchFamily="34" charset="-120"/>
              </a:rPr>
              <a:t>Hand a strategic question to Researcher, then point Analyst at your own numbers. Swap in a real decision you are weighing right now.</a:t>
            </a:r>
            <a:endParaRPr lang="en-US" sz="1350" dirty="0"/>
          </a:p>
        </p:txBody>
      </p:sp>
      <p:sp>
        <p:nvSpPr>
          <p:cNvPr id="7" name="Shape 5"/>
          <p:cNvSpPr/>
          <p:nvPr/>
        </p:nvSpPr>
        <p:spPr>
          <a:xfrm>
            <a:off x="10561320" y="868680"/>
            <a:ext cx="822960" cy="822960"/>
          </a:xfrm>
          <a:prstGeom prst="ellipse">
            <a:avLst/>
          </a:prstGeom>
          <a:solidFill>
            <a:srgbClr val="7C5CFC"/>
          </a:solidFill>
          <a:ln/>
          <a:effectLst>
            <a:outerShdw sx="100000" sy="100000" kx="0" ky="0" algn="bl" rotWithShape="0" blurRad="114300" dist="38100" dir="5400000">
              <a:srgbClr val="0B1437">
                <a:alpha val="10000"/>
              </a:srgbClr>
            </a:outerShdw>
          </a:effectLst>
        </p:spPr>
      </p:sp>
      <p:pic>
        <p:nvPicPr>
          <p:cNvPr id="8" name="Image 0" descr="preencoded.png">    </p:cNvPr>
          <p:cNvPicPr>
            <a:picLocks noChangeAspect="1"/>
          </p:cNvPicPr>
          <p:nvPr/>
        </p:nvPicPr>
        <p:blipFill>
          <a:blip r:embed="rId1"/>
          <a:stretch>
            <a:fillRect/>
          </a:stretch>
        </p:blipFill>
        <p:spPr>
          <a:xfrm>
            <a:off x="10808208" y="1115568"/>
            <a:ext cx="329184" cy="329184"/>
          </a:xfrm>
          <a:prstGeom prst="rect">
            <a:avLst/>
          </a:prstGeom>
        </p:spPr>
      </p:pic>
      <p:sp>
        <p:nvSpPr>
          <p:cNvPr id="9" name="Shape 6"/>
          <p:cNvSpPr/>
          <p:nvPr/>
        </p:nvSpPr>
        <p:spPr>
          <a:xfrm>
            <a:off x="822960" y="2139696"/>
            <a:ext cx="10515600" cy="1920240"/>
          </a:xfrm>
          <a:prstGeom prst="roundRect">
            <a:avLst>
              <a:gd name="adj" fmla="val 5238"/>
            </a:avLst>
          </a:prstGeom>
          <a:solidFill>
            <a:srgbClr val="111C44"/>
          </a:solidFill>
          <a:ln w="12700">
            <a:solidFill>
              <a:srgbClr val="26326A"/>
            </a:solidFill>
            <a:prstDash val="solid"/>
          </a:ln>
          <a:effectLst>
            <a:outerShdw sx="100000" sy="100000" kx="0" ky="0" algn="bl" rotWithShape="0" blurRad="114300" dist="38100" dir="5400000">
              <a:srgbClr val="0B1437">
                <a:alpha val="10000"/>
              </a:srgbClr>
            </a:outerShdw>
          </a:effectLst>
        </p:spPr>
      </p:sp>
      <p:sp>
        <p:nvSpPr>
          <p:cNvPr id="10" name="Shape 7"/>
          <p:cNvSpPr/>
          <p:nvPr/>
        </p:nvSpPr>
        <p:spPr>
          <a:xfrm>
            <a:off x="822960" y="2267712"/>
            <a:ext cx="64008" cy="1664208"/>
          </a:xfrm>
          <a:prstGeom prst="rect">
            <a:avLst/>
          </a:prstGeom>
          <a:solidFill>
            <a:srgbClr val="7C5CFC"/>
          </a:solidFill>
          <a:ln/>
        </p:spPr>
      </p:sp>
      <p:sp>
        <p:nvSpPr>
          <p:cNvPr id="11" name="Text 8"/>
          <p:cNvSpPr/>
          <p:nvPr/>
        </p:nvSpPr>
        <p:spPr>
          <a:xfrm>
            <a:off x="1097280" y="2286000"/>
            <a:ext cx="9966960" cy="274320"/>
          </a:xfrm>
          <a:prstGeom prst="rect">
            <a:avLst/>
          </a:prstGeom>
          <a:noFill/>
          <a:ln/>
        </p:spPr>
        <p:txBody>
          <a:bodyPr wrap="square" lIns="0" tIns="0" rIns="0" bIns="0" rtlCol="0" anchor="ctr"/>
          <a:lstStyle/>
          <a:p>
            <a:pPr algn="l" indent="0" marL="0">
              <a:buNone/>
            </a:pPr>
            <a:r>
              <a:rPr lang="en-US" sz="1100" b="1" dirty="0">
                <a:solidFill>
                  <a:srgbClr val="7C5CFC"/>
                </a:solidFill>
                <a:latin typeface="Consolas" pitchFamily="34" charset="0"/>
                <a:ea typeface="Consolas" pitchFamily="34" charset="-122"/>
                <a:cs typeface="Consolas" pitchFamily="34" charset="-120"/>
              </a:rPr>
              <a:t>›_  </a:t>
            </a:r>
            <a:pPr algn="l" indent="0" marL="0">
              <a:buNone/>
            </a:pPr>
            <a:r>
              <a:rPr lang="en-US" sz="1100" b="1" spc="200" kern="0" dirty="0">
                <a:solidFill>
                  <a:srgbClr val="7C5CFC"/>
                </a:solidFill>
                <a:latin typeface="Aptos" pitchFamily="34" charset="0"/>
                <a:ea typeface="Aptos" pitchFamily="34" charset="-122"/>
                <a:cs typeface="Aptos" pitchFamily="34" charset="-120"/>
              </a:rPr>
              <a:t>RESEARCHER · TRY THIS</a:t>
            </a:r>
            <a:endParaRPr lang="en-US" sz="1100" dirty="0"/>
          </a:p>
        </p:txBody>
      </p:sp>
      <p:sp>
        <p:nvSpPr>
          <p:cNvPr id="12" name="Text 9"/>
          <p:cNvSpPr/>
          <p:nvPr/>
        </p:nvSpPr>
        <p:spPr>
          <a:xfrm>
            <a:off x="1115568" y="2615184"/>
            <a:ext cx="9948672" cy="1261872"/>
          </a:xfrm>
          <a:prstGeom prst="rect">
            <a:avLst/>
          </a:prstGeom>
          <a:noFill/>
          <a:ln/>
        </p:spPr>
        <p:txBody>
          <a:bodyPr wrap="square" lIns="0" tIns="0" rIns="0" bIns="0" rtlCol="0" anchor="t"/>
          <a:lstStyle/>
          <a:p>
            <a:pPr algn="l" indent="0" marL="0">
              <a:lnSpc>
                <a:spcPct val="112000"/>
              </a:lnSpc>
              <a:buNone/>
            </a:pPr>
            <a:r>
              <a:rPr lang="en-US" sz="1300" dirty="0">
                <a:solidFill>
                  <a:srgbClr val="E7ECFF"/>
                </a:solidFill>
                <a:latin typeface="Consolas" pitchFamily="34" charset="0"/>
                <a:ea typeface="Consolas" pitchFamily="34" charset="-122"/>
                <a:cs typeface="Consolas" pitchFamily="34" charset="-120"/>
              </a:rPr>
              <a:t>Act as my strategy analyst. Research how leading health systems are using AI to improve </a:t>
            </a:r>
            <a:pPr algn="l" indent="0" marL="0">
              <a:lnSpc>
                <a:spcPct val="112000"/>
              </a:lnSpc>
              <a:buNone/>
            </a:pPr>
            <a:r>
              <a:rPr lang="en-US" sz="1300" b="1" dirty="0">
                <a:solidFill>
                  <a:srgbClr val="6FE3E6"/>
                </a:solidFill>
                <a:latin typeface="Consolas" pitchFamily="34" charset="0"/>
                <a:ea typeface="Consolas" pitchFamily="34" charset="-122"/>
                <a:cs typeface="Consolas" pitchFamily="34" charset="-120"/>
              </a:rPr>
              <a:t>[patient access and operational efficiency]</a:t>
            </a:r>
            <a:pPr algn="l" indent="0" marL="0">
              <a:lnSpc>
                <a:spcPct val="112000"/>
              </a:lnSpc>
              <a:buNone/>
            </a:pPr>
            <a:r>
              <a:rPr lang="en-US" sz="1300" dirty="0">
                <a:solidFill>
                  <a:srgbClr val="E7ECFF"/>
                </a:solidFill>
                <a:latin typeface="Consolas" pitchFamily="34" charset="0"/>
                <a:ea typeface="Consolas" pitchFamily="34" charset="-122"/>
                <a:cs typeface="Consolas" pitchFamily="34" charset="-120"/>
              </a:rPr>
              <a:t>. Ground it in our own board and strategy materials where you can, then add the open web. Give me </a:t>
            </a:r>
            <a:pPr algn="l" indent="0" marL="0">
              <a:lnSpc>
                <a:spcPct val="112000"/>
              </a:lnSpc>
              <a:buNone/>
            </a:pPr>
            <a:r>
              <a:rPr lang="en-US" sz="1300" dirty="0">
                <a:solidFill>
                  <a:srgbClr val="FFCB6B"/>
                </a:solidFill>
                <a:latin typeface="Consolas" pitchFamily="34" charset="0"/>
                <a:ea typeface="Consolas" pitchFamily="34" charset="-122"/>
                <a:cs typeface="Consolas" pitchFamily="34" charset="-120"/>
              </a:rPr>
              <a:t>the three highest-value opportunities, what peer systems did, the risks to watch, and a one-page recommendation I can take to the board.</a:t>
            </a:r>
            <a:endParaRPr lang="en-US" sz="1300" dirty="0"/>
          </a:p>
        </p:txBody>
      </p:sp>
      <p:sp>
        <p:nvSpPr>
          <p:cNvPr id="13" name="Shape 10"/>
          <p:cNvSpPr/>
          <p:nvPr/>
        </p:nvSpPr>
        <p:spPr>
          <a:xfrm>
            <a:off x="822960" y="4187952"/>
            <a:ext cx="10515600" cy="1371600"/>
          </a:xfrm>
          <a:prstGeom prst="roundRect">
            <a:avLst>
              <a:gd name="adj" fmla="val 7333"/>
            </a:avLst>
          </a:prstGeom>
          <a:solidFill>
            <a:srgbClr val="111C44"/>
          </a:solidFill>
          <a:ln w="12700">
            <a:solidFill>
              <a:srgbClr val="26326A"/>
            </a:solidFill>
            <a:prstDash val="solid"/>
          </a:ln>
          <a:effectLst>
            <a:outerShdw sx="100000" sy="100000" kx="0" ky="0" algn="bl" rotWithShape="0" blurRad="114300" dist="38100" dir="5400000">
              <a:srgbClr val="0B1437">
                <a:alpha val="10000"/>
              </a:srgbClr>
            </a:outerShdw>
          </a:effectLst>
        </p:spPr>
      </p:sp>
      <p:sp>
        <p:nvSpPr>
          <p:cNvPr id="14" name="Shape 11"/>
          <p:cNvSpPr/>
          <p:nvPr/>
        </p:nvSpPr>
        <p:spPr>
          <a:xfrm>
            <a:off x="822960" y="4315968"/>
            <a:ext cx="64008" cy="1115568"/>
          </a:xfrm>
          <a:prstGeom prst="rect">
            <a:avLst/>
          </a:prstGeom>
          <a:solidFill>
            <a:srgbClr val="12B886"/>
          </a:solidFill>
          <a:ln/>
        </p:spPr>
      </p:sp>
      <p:sp>
        <p:nvSpPr>
          <p:cNvPr id="15" name="Text 12"/>
          <p:cNvSpPr/>
          <p:nvPr/>
        </p:nvSpPr>
        <p:spPr>
          <a:xfrm>
            <a:off x="1097280" y="4334256"/>
            <a:ext cx="9966960" cy="274320"/>
          </a:xfrm>
          <a:prstGeom prst="rect">
            <a:avLst/>
          </a:prstGeom>
          <a:noFill/>
          <a:ln/>
        </p:spPr>
        <p:txBody>
          <a:bodyPr wrap="square" lIns="0" tIns="0" rIns="0" bIns="0" rtlCol="0" anchor="ctr"/>
          <a:lstStyle/>
          <a:p>
            <a:pPr algn="l" indent="0" marL="0">
              <a:buNone/>
            </a:pPr>
            <a:r>
              <a:rPr lang="en-US" sz="1100" b="1" dirty="0">
                <a:solidFill>
                  <a:srgbClr val="12B886"/>
                </a:solidFill>
                <a:latin typeface="Consolas" pitchFamily="34" charset="0"/>
                <a:ea typeface="Consolas" pitchFamily="34" charset="-122"/>
                <a:cs typeface="Consolas" pitchFamily="34" charset="-120"/>
              </a:rPr>
              <a:t>›_  </a:t>
            </a:r>
            <a:pPr algn="l" indent="0" marL="0">
              <a:buNone/>
            </a:pPr>
            <a:r>
              <a:rPr lang="en-US" sz="1100" b="1" spc="200" kern="0" dirty="0">
                <a:solidFill>
                  <a:srgbClr val="12B886"/>
                </a:solidFill>
                <a:latin typeface="Aptos" pitchFamily="34" charset="0"/>
                <a:ea typeface="Aptos" pitchFamily="34" charset="-122"/>
                <a:cs typeface="Aptos" pitchFamily="34" charset="-120"/>
              </a:rPr>
              <a:t>THEN PAIR IT WITH ANALYST</a:t>
            </a:r>
            <a:endParaRPr lang="en-US" sz="1100" dirty="0"/>
          </a:p>
        </p:txBody>
      </p:sp>
      <p:sp>
        <p:nvSpPr>
          <p:cNvPr id="16" name="Text 13"/>
          <p:cNvSpPr/>
          <p:nvPr/>
        </p:nvSpPr>
        <p:spPr>
          <a:xfrm>
            <a:off x="1115568" y="4663440"/>
            <a:ext cx="9948672" cy="713232"/>
          </a:xfrm>
          <a:prstGeom prst="rect">
            <a:avLst/>
          </a:prstGeom>
          <a:noFill/>
          <a:ln/>
        </p:spPr>
        <p:txBody>
          <a:bodyPr wrap="square" lIns="0" tIns="0" rIns="0" bIns="0" rtlCol="0" anchor="t"/>
          <a:lstStyle/>
          <a:p>
            <a:pPr algn="l" indent="0" marL="0">
              <a:lnSpc>
                <a:spcPct val="112000"/>
              </a:lnSpc>
              <a:buNone/>
            </a:pPr>
            <a:r>
              <a:rPr lang="en-US" sz="1250" dirty="0">
                <a:solidFill>
                  <a:srgbClr val="E7ECFF"/>
                </a:solidFill>
                <a:latin typeface="Consolas" pitchFamily="34" charset="0"/>
                <a:ea typeface="Consolas" pitchFamily="34" charset="-122"/>
                <a:cs typeface="Consolas" pitchFamily="34" charset="-120"/>
              </a:rPr>
              <a:t>Analyze this workbook of service-line volumes and time-to-appointment across our sites. Show me where demand and access differ most, flag anything that looks off, and tell me where to focus first.</a:t>
            </a:r>
            <a:endParaRPr lang="en-US" sz="1250" dirty="0"/>
          </a:p>
        </p:txBody>
      </p:sp>
      <p:sp>
        <p:nvSpPr>
          <p:cNvPr id="17" name="Shape 14"/>
          <p:cNvSpPr/>
          <p:nvPr/>
        </p:nvSpPr>
        <p:spPr>
          <a:xfrm>
            <a:off x="822960" y="5650992"/>
            <a:ext cx="10515600" cy="457200"/>
          </a:xfrm>
          <a:prstGeom prst="roundRect">
            <a:avLst>
              <a:gd name="adj" fmla="val 16000"/>
            </a:avLst>
          </a:prstGeom>
          <a:solidFill>
            <a:srgbClr val="F2EEFF"/>
          </a:solidFill>
          <a:ln w="12700">
            <a:solidFill>
              <a:srgbClr val="DDD2FB"/>
            </a:solidFill>
            <a:prstDash val="solid"/>
          </a:ln>
        </p:spPr>
      </p:sp>
      <p:sp>
        <p:nvSpPr>
          <p:cNvPr id="18" name="Text 15"/>
          <p:cNvSpPr/>
          <p:nvPr/>
        </p:nvSpPr>
        <p:spPr>
          <a:xfrm>
            <a:off x="1097280" y="5650992"/>
            <a:ext cx="10058400" cy="457200"/>
          </a:xfrm>
          <a:prstGeom prst="rect">
            <a:avLst/>
          </a:prstGeom>
          <a:noFill/>
          <a:ln/>
        </p:spPr>
        <p:txBody>
          <a:bodyPr wrap="square" lIns="0" tIns="0" rIns="0" bIns="0" rtlCol="0" anchor="ctr"/>
          <a:lstStyle/>
          <a:p>
            <a:pPr algn="l" indent="0" marL="0">
              <a:buNone/>
            </a:pPr>
            <a:r>
              <a:rPr lang="en-US" sz="1150" b="1" dirty="0">
                <a:solidFill>
                  <a:srgbClr val="5B45C8"/>
                </a:solidFill>
                <a:latin typeface="Aptos" pitchFamily="34" charset="0"/>
                <a:ea typeface="Aptos" pitchFamily="34" charset="-122"/>
                <a:cs typeface="Aptos" pitchFamily="34" charset="-120"/>
              </a:rPr>
              <a:t>What you'll see:  </a:t>
            </a:r>
            <a:pPr algn="l" indent="0" marL="0">
              <a:buNone/>
            </a:pPr>
            <a:r>
              <a:rPr lang="en-US" sz="1150" dirty="0">
                <a:solidFill>
                  <a:srgbClr val="43507B"/>
                </a:solidFill>
                <a:latin typeface="Aptos" pitchFamily="34" charset="0"/>
                <a:ea typeface="Aptos" pitchFamily="34" charset="-122"/>
                <a:cs typeface="Aptos" pitchFamily="34" charset="-120"/>
              </a:rPr>
              <a:t>a cited briefing that blends your materials with the market, plus a recommendation you could act on, not just a summary.</a:t>
            </a:r>
            <a:endParaRPr lang="en-US" sz="1150" dirty="0"/>
          </a:p>
        </p:txBody>
      </p:sp>
      <p:sp>
        <p:nvSpPr>
          <p:cNvPr id="19" name="Text 16"/>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2 · Deeper value</a:t>
            </a:r>
            <a:endParaRPr lang="en-US" sz="900" dirty="0"/>
          </a:p>
        </p:txBody>
      </p:sp>
      <p:sp>
        <p:nvSpPr>
          <p:cNvPr id="20" name="Text 17"/>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12</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437"/>
        </a:solidFill>
      </p:bgPr>
    </p:bg>
    <p:spTree>
      <p:nvGrpSpPr>
        <p:cNvPr id="1" name=""/>
        <p:cNvGrpSpPr/>
        <p:nvPr/>
      </p:nvGrpSpPr>
      <p:grpSpPr>
        <a:xfrm>
          <a:off x="0" y="0"/>
          <a:ext cx="0" cy="0"/>
          <a:chOff x="0" y="0"/>
          <a:chExt cx="0" cy="0"/>
        </a:xfrm>
      </p:grpSpPr>
      <p:sp>
        <p:nvSpPr>
          <p:cNvPr id="2" name="Shape 0"/>
          <p:cNvSpPr/>
          <p:nvPr/>
        </p:nvSpPr>
        <p:spPr>
          <a:xfrm>
            <a:off x="8778240" y="-2194560"/>
            <a:ext cx="5943600" cy="5943600"/>
          </a:xfrm>
          <a:prstGeom prst="ellipse">
            <a:avLst/>
          </a:prstGeom>
          <a:solidFill>
            <a:srgbClr val="2D6CDF">
              <a:alpha val="14000"/>
            </a:srgbClr>
          </a:solidFill>
          <a:ln/>
        </p:spPr>
      </p:sp>
      <p:sp>
        <p:nvSpPr>
          <p:cNvPr id="3" name="Shape 1"/>
          <p:cNvSpPr/>
          <p:nvPr/>
        </p:nvSpPr>
        <p:spPr>
          <a:xfrm>
            <a:off x="10241280" y="3291840"/>
            <a:ext cx="4754880" cy="4754880"/>
          </a:xfrm>
          <a:prstGeom prst="ellipse">
            <a:avLst/>
          </a:prstGeom>
          <a:solidFill>
            <a:srgbClr val="7C5CFC">
              <a:alpha val="12000"/>
            </a:srgbClr>
          </a:solidFill>
          <a:ln/>
        </p:spPr>
      </p:sp>
      <p:sp>
        <p:nvSpPr>
          <p:cNvPr id="4" name="Shape 2"/>
          <p:cNvSpPr/>
          <p:nvPr/>
        </p:nvSpPr>
        <p:spPr>
          <a:xfrm>
            <a:off x="0" y="0"/>
            <a:ext cx="146304" cy="6858000"/>
          </a:xfrm>
          <a:prstGeom prst="rect">
            <a:avLst/>
          </a:prstGeom>
          <a:solidFill>
            <a:srgbClr val="F0A500"/>
          </a:solidFill>
          <a:ln/>
        </p:spPr>
      </p:sp>
      <p:sp>
        <p:nvSpPr>
          <p:cNvPr id="5" name="Shape 3"/>
          <p:cNvSpPr/>
          <p:nvPr/>
        </p:nvSpPr>
        <p:spPr>
          <a:xfrm>
            <a:off x="868680" y="2148840"/>
            <a:ext cx="2377440" cy="1371600"/>
          </a:xfrm>
          <a:prstGeom prst="roundRect">
            <a:avLst>
              <a:gd name="adj" fmla="val 8000"/>
            </a:avLst>
          </a:prstGeom>
          <a:solidFill>
            <a:srgbClr val="111C44"/>
          </a:solidFill>
          <a:ln w="19050">
            <a:solidFill>
              <a:srgbClr val="F0A500"/>
            </a:solidFill>
            <a:prstDash val="solid"/>
          </a:ln>
        </p:spPr>
      </p:sp>
      <p:sp>
        <p:nvSpPr>
          <p:cNvPr id="6" name="Text 4"/>
          <p:cNvSpPr/>
          <p:nvPr/>
        </p:nvSpPr>
        <p:spPr>
          <a:xfrm>
            <a:off x="868680" y="2331720"/>
            <a:ext cx="2377440" cy="365760"/>
          </a:xfrm>
          <a:prstGeom prst="rect">
            <a:avLst/>
          </a:prstGeom>
          <a:noFill/>
          <a:ln/>
        </p:spPr>
        <p:txBody>
          <a:bodyPr wrap="square" lIns="0" tIns="0" rIns="0" bIns="0" rtlCol="0" anchor="ctr"/>
          <a:lstStyle/>
          <a:p>
            <a:pPr algn="ctr" indent="0" marL="0">
              <a:buNone/>
            </a:pPr>
            <a:r>
              <a:rPr lang="en-US" sz="1500" b="1" spc="400" kern="0" dirty="0">
                <a:solidFill>
                  <a:srgbClr val="FFCB6B"/>
                </a:solidFill>
                <a:latin typeface="Aptos" pitchFamily="34" charset="0"/>
                <a:ea typeface="Aptos" pitchFamily="34" charset="-122"/>
                <a:cs typeface="Aptos" pitchFamily="34" charset="-120"/>
              </a:rPr>
              <a:t>TIER</a:t>
            </a:r>
            <a:endParaRPr lang="en-US" sz="1500" dirty="0"/>
          </a:p>
        </p:txBody>
      </p:sp>
      <p:sp>
        <p:nvSpPr>
          <p:cNvPr id="7" name="Text 5"/>
          <p:cNvSpPr/>
          <p:nvPr/>
        </p:nvSpPr>
        <p:spPr>
          <a:xfrm>
            <a:off x="868680" y="2578608"/>
            <a:ext cx="2377440" cy="868680"/>
          </a:xfrm>
          <a:prstGeom prst="rect">
            <a:avLst/>
          </a:prstGeom>
          <a:noFill/>
          <a:ln/>
        </p:spPr>
        <p:txBody>
          <a:bodyPr wrap="square" lIns="0" tIns="0" rIns="0" bIns="0" rtlCol="0" anchor="ctr"/>
          <a:lstStyle/>
          <a:p>
            <a:pPr algn="ctr" indent="0" marL="0">
              <a:buNone/>
            </a:pPr>
            <a:r>
              <a:rPr lang="en-US" sz="6000" b="1" dirty="0">
                <a:solidFill>
                  <a:srgbClr val="FFFFFF"/>
                </a:solidFill>
                <a:latin typeface="Aptos" pitchFamily="34" charset="0"/>
                <a:ea typeface="Aptos" pitchFamily="34" charset="-122"/>
                <a:cs typeface="Aptos" pitchFamily="34" charset="-120"/>
              </a:rPr>
              <a:t>3</a:t>
            </a:r>
            <a:endParaRPr lang="en-US" sz="6000" dirty="0"/>
          </a:p>
        </p:txBody>
      </p:sp>
      <p:sp>
        <p:nvSpPr>
          <p:cNvPr id="8" name="Text 6"/>
          <p:cNvSpPr/>
          <p:nvPr/>
        </p:nvSpPr>
        <p:spPr>
          <a:xfrm>
            <a:off x="3520440" y="2286000"/>
            <a:ext cx="7863840" cy="320040"/>
          </a:xfrm>
          <a:prstGeom prst="rect">
            <a:avLst/>
          </a:prstGeom>
          <a:noFill/>
          <a:ln/>
        </p:spPr>
        <p:txBody>
          <a:bodyPr wrap="square" lIns="0" tIns="0" rIns="0" bIns="0" rtlCol="0" anchor="ctr"/>
          <a:lstStyle/>
          <a:p>
            <a:pPr indent="0" marL="0">
              <a:buNone/>
            </a:pPr>
            <a:r>
              <a:rPr lang="en-US" sz="1300" b="1" spc="300" kern="0" dirty="0">
                <a:solidFill>
                  <a:srgbClr val="FFCB6B"/>
                </a:solidFill>
                <a:latin typeface="Aptos" pitchFamily="34" charset="0"/>
                <a:ea typeface="Aptos" pitchFamily="34" charset="-122"/>
                <a:cs typeface="Aptos" pitchFamily="34" charset="-120"/>
              </a:rPr>
              <a:t>TIER 3 · MAKE IT YOURS</a:t>
            </a:r>
            <a:endParaRPr lang="en-US" sz="1300" dirty="0"/>
          </a:p>
        </p:txBody>
      </p:sp>
      <p:sp>
        <p:nvSpPr>
          <p:cNvPr id="9" name="Text 7"/>
          <p:cNvSpPr/>
          <p:nvPr/>
        </p:nvSpPr>
        <p:spPr>
          <a:xfrm>
            <a:off x="3474720" y="2606040"/>
            <a:ext cx="8046720" cy="1280160"/>
          </a:xfrm>
          <a:prstGeom prst="rect">
            <a:avLst/>
          </a:prstGeom>
          <a:noFill/>
          <a:ln/>
        </p:spPr>
        <p:txBody>
          <a:bodyPr wrap="square" lIns="0" tIns="0" rIns="0" bIns="0" rtlCol="0" anchor="t"/>
          <a:lstStyle/>
          <a:p>
            <a:pPr indent="0" marL="0">
              <a:lnSpc>
                <a:spcPct val="100000"/>
              </a:lnSpc>
              <a:buNone/>
            </a:pPr>
            <a:r>
              <a:rPr lang="en-US" sz="3400" b="1" dirty="0">
                <a:solidFill>
                  <a:srgbClr val="FFFFFF"/>
                </a:solidFill>
                <a:latin typeface="Aptos" pitchFamily="34" charset="0"/>
                <a:ea typeface="Aptos" pitchFamily="34" charset="-122"/>
                <a:cs typeface="Aptos" pitchFamily="34" charset="-120"/>
              </a:rPr>
              <a:t>Build a Copilot that comes to you</a:t>
            </a:r>
            <a:endParaRPr lang="en-US" sz="3400" dirty="0"/>
          </a:p>
        </p:txBody>
      </p:sp>
      <p:sp>
        <p:nvSpPr>
          <p:cNvPr id="10" name="Text 8"/>
          <p:cNvSpPr/>
          <p:nvPr/>
        </p:nvSpPr>
        <p:spPr>
          <a:xfrm>
            <a:off x="3520440" y="3886200"/>
            <a:ext cx="7772400" cy="914400"/>
          </a:xfrm>
          <a:prstGeom prst="rect">
            <a:avLst/>
          </a:prstGeom>
          <a:noFill/>
          <a:ln/>
        </p:spPr>
        <p:txBody>
          <a:bodyPr wrap="square" lIns="0" tIns="0" rIns="0" bIns="0" rtlCol="0" anchor="t"/>
          <a:lstStyle/>
          <a:p>
            <a:pPr indent="0" marL="0">
              <a:lnSpc>
                <a:spcPct val="116000"/>
              </a:lnSpc>
              <a:buNone/>
            </a:pPr>
            <a:r>
              <a:rPr lang="en-US" sz="1550" dirty="0">
                <a:solidFill>
                  <a:srgbClr val="AEB7DA"/>
                </a:solidFill>
                <a:latin typeface="Aptos" pitchFamily="34" charset="0"/>
                <a:ea typeface="Aptos" pitchFamily="34" charset="-122"/>
                <a:cs typeface="Aptos" pitchFamily="34" charset="-120"/>
              </a:rPr>
              <a:t>Fifteen minutes of setup turns a helpful tool into a trusted operator. This is the chief-of-staff move.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F0A500"/>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3</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F0A500"/>
                </a:solidFill>
                <a:latin typeface="Aptos" pitchFamily="34" charset="0"/>
                <a:ea typeface="Aptos" pitchFamily="34" charset="-122"/>
                <a:cs typeface="Aptos" pitchFamily="34" charset="-120"/>
              </a:rPr>
              <a:t>COPILOT AS YOUR CHIEF OF STAFF</a:t>
            </a:r>
            <a:endParaRPr lang="en-US" sz="1200" dirty="0"/>
          </a:p>
        </p:txBody>
      </p:sp>
      <p:sp>
        <p:nvSpPr>
          <p:cNvPr id="5" name="Text 3"/>
          <p:cNvSpPr/>
          <p:nvPr/>
        </p:nvSpPr>
        <p:spPr>
          <a:xfrm>
            <a:off x="786384" y="914400"/>
            <a:ext cx="10972800" cy="548640"/>
          </a:xfrm>
          <a:prstGeom prst="rect">
            <a:avLst/>
          </a:prstGeom>
          <a:noFill/>
          <a:ln/>
        </p:spPr>
        <p:txBody>
          <a:bodyPr wrap="square" lIns="0" tIns="0" rIns="0" bIns="0" rtlCol="0" anchor="ctr"/>
          <a:lstStyle/>
          <a:p>
            <a:pPr indent="0" marL="0">
              <a:buNone/>
            </a:pPr>
            <a:r>
              <a:rPr lang="en-US" sz="2900" b="1" dirty="0">
                <a:solidFill>
                  <a:srgbClr val="0B1437"/>
                </a:solidFill>
                <a:latin typeface="Aptos" pitchFamily="34" charset="0"/>
                <a:ea typeface="Aptos" pitchFamily="34" charset="-122"/>
                <a:cs typeface="Aptos" pitchFamily="34" charset="-120"/>
              </a:rPr>
              <a:t>Set it up once, and it comes to you</a:t>
            </a:r>
            <a:endParaRPr lang="en-US" sz="2900" dirty="0"/>
          </a:p>
        </p:txBody>
      </p:sp>
      <p:sp>
        <p:nvSpPr>
          <p:cNvPr id="6" name="Shape 4"/>
          <p:cNvSpPr/>
          <p:nvPr/>
        </p:nvSpPr>
        <p:spPr>
          <a:xfrm>
            <a:off x="822960" y="1572768"/>
            <a:ext cx="5175504" cy="1664208"/>
          </a:xfrm>
          <a:prstGeom prst="roundRect">
            <a:avLst>
              <a:gd name="adj" fmla="val 4396"/>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7" name="Shape 5"/>
          <p:cNvSpPr/>
          <p:nvPr/>
        </p:nvSpPr>
        <p:spPr>
          <a:xfrm>
            <a:off x="822960" y="1700784"/>
            <a:ext cx="64008" cy="1408176"/>
          </a:xfrm>
          <a:prstGeom prst="rect">
            <a:avLst/>
          </a:prstGeom>
          <a:solidFill>
            <a:srgbClr val="2D6CDF"/>
          </a:solidFill>
          <a:ln/>
        </p:spPr>
      </p:sp>
      <p:sp>
        <p:nvSpPr>
          <p:cNvPr id="8" name="Shape 6"/>
          <p:cNvSpPr/>
          <p:nvPr/>
        </p:nvSpPr>
        <p:spPr>
          <a:xfrm>
            <a:off x="1097280" y="1883664"/>
            <a:ext cx="658368" cy="658368"/>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9" name="Image 0" descr="preencoded.png">    </p:cNvPr>
          <p:cNvPicPr>
            <a:picLocks noChangeAspect="1"/>
          </p:cNvPicPr>
          <p:nvPr/>
        </p:nvPicPr>
        <p:blipFill>
          <a:blip r:embed="rId1"/>
          <a:stretch>
            <a:fillRect/>
          </a:stretch>
        </p:blipFill>
        <p:spPr>
          <a:xfrm>
            <a:off x="1294790" y="2081174"/>
            <a:ext cx="263347" cy="263347"/>
          </a:xfrm>
          <a:prstGeom prst="rect">
            <a:avLst/>
          </a:prstGeom>
        </p:spPr>
      </p:pic>
      <p:sp>
        <p:nvSpPr>
          <p:cNvPr id="10" name="Text 7"/>
          <p:cNvSpPr/>
          <p:nvPr/>
        </p:nvSpPr>
        <p:spPr>
          <a:xfrm>
            <a:off x="1993392" y="1847088"/>
            <a:ext cx="3803904" cy="365760"/>
          </a:xfrm>
          <a:prstGeom prst="rect">
            <a:avLst/>
          </a:prstGeom>
          <a:noFill/>
          <a:ln/>
        </p:spPr>
        <p:txBody>
          <a:bodyPr wrap="square" lIns="0" tIns="0" rIns="0" bIns="0" rtlCol="0" anchor="ctr"/>
          <a:lstStyle/>
          <a:p>
            <a:pPr indent="0" marL="0">
              <a:buNone/>
            </a:pPr>
            <a:r>
              <a:rPr lang="en-US" sz="1500" b="1" dirty="0">
                <a:solidFill>
                  <a:srgbClr val="2D6CDF"/>
                </a:solidFill>
                <a:latin typeface="Aptos" pitchFamily="34" charset="0"/>
                <a:ea typeface="Aptos" pitchFamily="34" charset="-122"/>
                <a:cs typeface="Aptos" pitchFamily="34" charset="-120"/>
              </a:rPr>
              <a:t>1   </a:t>
            </a:r>
            <a:pPr indent="0" marL="0">
              <a:buNone/>
            </a:pPr>
            <a:r>
              <a:rPr lang="en-US" sz="1600" b="1" u="sng" dirty="0">
                <a:solidFill>
                  <a:srgbClr val="0B1437"/>
                </a:solid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Tell it who you are</a:t>
            </a:r>
            <a:endParaRPr lang="en-US" sz="1600" dirty="0"/>
          </a:p>
        </p:txBody>
      </p:sp>
      <p:sp>
        <p:nvSpPr>
          <p:cNvPr id="11" name="Text 8"/>
          <p:cNvSpPr/>
          <p:nvPr/>
        </p:nvSpPr>
        <p:spPr>
          <a:xfrm>
            <a:off x="1993392" y="2249424"/>
            <a:ext cx="3758184" cy="868680"/>
          </a:xfrm>
          <a:prstGeom prst="rect">
            <a:avLst/>
          </a:prstGeom>
          <a:noFill/>
          <a:ln/>
        </p:spPr>
        <p:txBody>
          <a:bodyPr wrap="square" lIns="0" tIns="0" rIns="0" bIns="0" rtlCol="0" anchor="t"/>
          <a:lstStyle/>
          <a:p>
            <a:pPr indent="0" marL="0">
              <a:lnSpc>
                <a:spcPct val="112000"/>
              </a:lnSpc>
              <a:buNone/>
            </a:pPr>
            <a:r>
              <a:rPr lang="en-US" sz="1250" dirty="0">
                <a:solidFill>
                  <a:srgbClr val="43507B"/>
                </a:solidFill>
                <a:latin typeface="Aptos" pitchFamily="34" charset="0"/>
                <a:ea typeface="Aptos" pitchFamily="34" charset="-122"/>
                <a:cs typeface="Aptos" pitchFamily="34" charset="-120"/>
              </a:rPr>
              <a:t>A short profile: your role, priorities, and how you like things written.</a:t>
            </a:r>
            <a:endParaRPr lang="en-US" sz="1250" dirty="0"/>
          </a:p>
        </p:txBody>
      </p:sp>
      <p:sp>
        <p:nvSpPr>
          <p:cNvPr id="12" name="Shape 9"/>
          <p:cNvSpPr/>
          <p:nvPr/>
        </p:nvSpPr>
        <p:spPr>
          <a:xfrm>
            <a:off x="6163056" y="1572768"/>
            <a:ext cx="5175504" cy="1664208"/>
          </a:xfrm>
          <a:prstGeom prst="roundRect">
            <a:avLst>
              <a:gd name="adj" fmla="val 4396"/>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3" name="Shape 10"/>
          <p:cNvSpPr/>
          <p:nvPr/>
        </p:nvSpPr>
        <p:spPr>
          <a:xfrm>
            <a:off x="6163056" y="1700784"/>
            <a:ext cx="64008" cy="1408176"/>
          </a:xfrm>
          <a:prstGeom prst="rect">
            <a:avLst/>
          </a:prstGeom>
          <a:solidFill>
            <a:srgbClr val="7C5CFC"/>
          </a:solidFill>
          <a:ln/>
        </p:spPr>
      </p:sp>
      <p:sp>
        <p:nvSpPr>
          <p:cNvPr id="14" name="Shape 11"/>
          <p:cNvSpPr/>
          <p:nvPr/>
        </p:nvSpPr>
        <p:spPr>
          <a:xfrm>
            <a:off x="6437376" y="1883664"/>
            <a:ext cx="658368" cy="658368"/>
          </a:xfrm>
          <a:prstGeom prst="ellipse">
            <a:avLst/>
          </a:prstGeom>
          <a:solidFill>
            <a:srgbClr val="7C5CFC"/>
          </a:solidFill>
          <a:ln/>
          <a:effectLst>
            <a:outerShdw sx="100000" sy="100000" kx="0" ky="0" algn="bl" rotWithShape="0" blurRad="114300" dist="38100" dir="5400000">
              <a:srgbClr val="0B1437">
                <a:alpha val="10000"/>
              </a:srgbClr>
            </a:outerShdw>
          </a:effectLst>
        </p:spPr>
      </p:sp>
      <p:pic>
        <p:nvPicPr>
          <p:cNvPr id="15" name="Image 1" descr="preencoded.png">    </p:cNvPr>
          <p:cNvPicPr>
            <a:picLocks noChangeAspect="1"/>
          </p:cNvPicPr>
          <p:nvPr/>
        </p:nvPicPr>
        <p:blipFill>
          <a:blip r:embed="rId3"/>
          <a:stretch>
            <a:fillRect/>
          </a:stretch>
        </p:blipFill>
        <p:spPr>
          <a:xfrm>
            <a:off x="6634886" y="2081174"/>
            <a:ext cx="263347" cy="263347"/>
          </a:xfrm>
          <a:prstGeom prst="rect">
            <a:avLst/>
          </a:prstGeom>
        </p:spPr>
      </p:pic>
      <p:sp>
        <p:nvSpPr>
          <p:cNvPr id="16" name="Text 12"/>
          <p:cNvSpPr/>
          <p:nvPr/>
        </p:nvSpPr>
        <p:spPr>
          <a:xfrm>
            <a:off x="7333488" y="1847088"/>
            <a:ext cx="3803904" cy="365760"/>
          </a:xfrm>
          <a:prstGeom prst="rect">
            <a:avLst/>
          </a:prstGeom>
          <a:noFill/>
          <a:ln/>
        </p:spPr>
        <p:txBody>
          <a:bodyPr wrap="square" lIns="0" tIns="0" rIns="0" bIns="0" rtlCol="0" anchor="ctr"/>
          <a:lstStyle/>
          <a:p>
            <a:pPr indent="0" marL="0">
              <a:buNone/>
            </a:pPr>
            <a:r>
              <a:rPr lang="en-US" sz="1500" b="1" dirty="0">
                <a:solidFill>
                  <a:srgbClr val="7C5CFC"/>
                </a:solidFill>
                <a:latin typeface="Aptos" pitchFamily="34" charset="0"/>
                <a:ea typeface="Aptos" pitchFamily="34" charset="-122"/>
                <a:cs typeface="Aptos" pitchFamily="34" charset="-120"/>
              </a:rPr>
              <a:t>2   </a:t>
            </a:r>
            <a:pPr indent="0" marL="0">
              <a:buNone/>
            </a:pPr>
            <a:r>
              <a:rPr lang="en-US" sz="1600" b="1" u="sng" dirty="0">
                <a:solidFill>
                  <a:srgbClr val="0B1437"/>
                </a:solidFill>
                <a:latin typeface="Aptos" pitchFamily="34" charset="0"/>
                <a:ea typeface="Aptos" pitchFamily="34" charset="-122"/>
                <a:cs typeface="Aptos" pitchFamily="34" charset="-120"/>
                <a:hlinkClick r:id="rId4" invalidUrl="" action="" tgtFrame="" tooltip="" history="1" highlightClick="0" endSnd="0">
                  <a:extLst>
                    <a:ext uri="{A12FA001-AC4F-418D-AE19-62706E023703}">
                      <ahyp:hlinkClr xmlns:ahyp="http://schemas.microsoft.com/office/drawing/2018/hyperlinkcolor" val="tx"/>
                    </a:ext>
                  </a:extLst>
                </a:hlinkClick>
              </a:rPr>
              <a:t>Let it remember</a:t>
            </a:r>
            <a:endParaRPr lang="en-US" sz="1600" dirty="0"/>
          </a:p>
        </p:txBody>
      </p:sp>
      <p:sp>
        <p:nvSpPr>
          <p:cNvPr id="17" name="Text 13"/>
          <p:cNvSpPr/>
          <p:nvPr/>
        </p:nvSpPr>
        <p:spPr>
          <a:xfrm>
            <a:off x="7333488" y="2249424"/>
            <a:ext cx="3758184" cy="868680"/>
          </a:xfrm>
          <a:prstGeom prst="rect">
            <a:avLst/>
          </a:prstGeom>
          <a:noFill/>
          <a:ln/>
        </p:spPr>
        <p:txBody>
          <a:bodyPr wrap="square" lIns="0" tIns="0" rIns="0" bIns="0" rtlCol="0" anchor="t"/>
          <a:lstStyle/>
          <a:p>
            <a:pPr indent="0" marL="0">
              <a:lnSpc>
                <a:spcPct val="112000"/>
              </a:lnSpc>
              <a:buNone/>
            </a:pPr>
            <a:r>
              <a:rPr lang="en-US" sz="1250" dirty="0">
                <a:solidFill>
                  <a:srgbClr val="43507B"/>
                </a:solidFill>
                <a:latin typeface="Aptos" pitchFamily="34" charset="0"/>
                <a:ea typeface="Aptos" pitchFamily="34" charset="-122"/>
                <a:cs typeface="Aptos" pitchFamily="34" charset="-120"/>
              </a:rPr>
              <a:t>Copilot Memory keeps your context so you do not repeat yourself.</a:t>
            </a:r>
            <a:endParaRPr lang="en-US" sz="1250" dirty="0"/>
          </a:p>
        </p:txBody>
      </p:sp>
      <p:sp>
        <p:nvSpPr>
          <p:cNvPr id="18" name="Shape 14"/>
          <p:cNvSpPr/>
          <p:nvPr/>
        </p:nvSpPr>
        <p:spPr>
          <a:xfrm>
            <a:off x="822960" y="3419856"/>
            <a:ext cx="5175504" cy="1664208"/>
          </a:xfrm>
          <a:prstGeom prst="roundRect">
            <a:avLst>
              <a:gd name="adj" fmla="val 4396"/>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9" name="Shape 15"/>
          <p:cNvSpPr/>
          <p:nvPr/>
        </p:nvSpPr>
        <p:spPr>
          <a:xfrm>
            <a:off x="822960" y="3547872"/>
            <a:ext cx="64008" cy="1408176"/>
          </a:xfrm>
          <a:prstGeom prst="rect">
            <a:avLst/>
          </a:prstGeom>
          <a:solidFill>
            <a:srgbClr val="F0A500"/>
          </a:solidFill>
          <a:ln/>
        </p:spPr>
      </p:sp>
      <p:sp>
        <p:nvSpPr>
          <p:cNvPr id="20" name="Shape 16"/>
          <p:cNvSpPr/>
          <p:nvPr/>
        </p:nvSpPr>
        <p:spPr>
          <a:xfrm>
            <a:off x="1097280" y="3730752"/>
            <a:ext cx="658368" cy="658368"/>
          </a:xfrm>
          <a:prstGeom prst="ellipse">
            <a:avLst/>
          </a:prstGeom>
          <a:solidFill>
            <a:srgbClr val="F0A500"/>
          </a:solidFill>
          <a:ln/>
          <a:effectLst>
            <a:outerShdw sx="100000" sy="100000" kx="0" ky="0" algn="bl" rotWithShape="0" blurRad="114300" dist="38100" dir="5400000">
              <a:srgbClr val="0B1437">
                <a:alpha val="10000"/>
              </a:srgbClr>
            </a:outerShdw>
          </a:effectLst>
        </p:spPr>
      </p:sp>
      <p:pic>
        <p:nvPicPr>
          <p:cNvPr id="21" name="Image 2" descr="preencoded.png">    </p:cNvPr>
          <p:cNvPicPr>
            <a:picLocks noChangeAspect="1"/>
          </p:cNvPicPr>
          <p:nvPr/>
        </p:nvPicPr>
        <p:blipFill>
          <a:blip r:embed="rId5"/>
          <a:stretch>
            <a:fillRect/>
          </a:stretch>
        </p:blipFill>
        <p:spPr>
          <a:xfrm>
            <a:off x="1294790" y="3928262"/>
            <a:ext cx="263347" cy="263347"/>
          </a:xfrm>
          <a:prstGeom prst="rect">
            <a:avLst/>
          </a:prstGeom>
        </p:spPr>
      </p:pic>
      <p:sp>
        <p:nvSpPr>
          <p:cNvPr id="22" name="Text 17"/>
          <p:cNvSpPr/>
          <p:nvPr/>
        </p:nvSpPr>
        <p:spPr>
          <a:xfrm>
            <a:off x="1993392" y="3694176"/>
            <a:ext cx="3803904" cy="365760"/>
          </a:xfrm>
          <a:prstGeom prst="rect">
            <a:avLst/>
          </a:prstGeom>
          <a:noFill/>
          <a:ln/>
        </p:spPr>
        <p:txBody>
          <a:bodyPr wrap="square" lIns="0" tIns="0" rIns="0" bIns="0" rtlCol="0" anchor="ctr"/>
          <a:lstStyle/>
          <a:p>
            <a:pPr indent="0" marL="0">
              <a:buNone/>
            </a:pPr>
            <a:r>
              <a:rPr lang="en-US" sz="1500" b="1" dirty="0">
                <a:solidFill>
                  <a:srgbClr val="F0A500"/>
                </a:solidFill>
                <a:latin typeface="Aptos" pitchFamily="34" charset="0"/>
                <a:ea typeface="Aptos" pitchFamily="34" charset="-122"/>
                <a:cs typeface="Aptos" pitchFamily="34" charset="-120"/>
              </a:rPr>
              <a:t>3   </a:t>
            </a:r>
            <a:pPr indent="0" marL="0">
              <a:buNone/>
            </a:pPr>
            <a:r>
              <a:rPr lang="en-US" sz="1600" b="1" u="sng" dirty="0">
                <a:solidFill>
                  <a:srgbClr val="0B1437"/>
                </a:solidFill>
                <a:latin typeface="Aptos" pitchFamily="34" charset="0"/>
                <a:ea typeface="Aptos" pitchFamily="34" charset="-122"/>
                <a:cs typeface="Aptos" pitchFamily="34" charset="-120"/>
                <a:hlinkClick r:id="rId6" invalidUrl="" action="" tgtFrame="" tooltip="" history="1" highlightClick="0" endSnd="0">
                  <a:extLst>
                    <a:ext uri="{A12FA001-AC4F-418D-AE19-62706E023703}">
                      <ahyp:hlinkClr xmlns:ahyp="http://schemas.microsoft.com/office/drawing/2018/hyperlinkcolor" val="tx"/>
                    </a:ext>
                  </a:extLst>
                </a:hlinkClick>
              </a:rPr>
              <a:t>Give it a standing job</a:t>
            </a:r>
            <a:endParaRPr lang="en-US" sz="1600" dirty="0"/>
          </a:p>
        </p:txBody>
      </p:sp>
      <p:sp>
        <p:nvSpPr>
          <p:cNvPr id="23" name="Text 18"/>
          <p:cNvSpPr/>
          <p:nvPr/>
        </p:nvSpPr>
        <p:spPr>
          <a:xfrm>
            <a:off x="1993392" y="4096512"/>
            <a:ext cx="3758184" cy="868680"/>
          </a:xfrm>
          <a:prstGeom prst="rect">
            <a:avLst/>
          </a:prstGeom>
          <a:noFill/>
          <a:ln/>
        </p:spPr>
        <p:txBody>
          <a:bodyPr wrap="square" lIns="0" tIns="0" rIns="0" bIns="0" rtlCol="0" anchor="t"/>
          <a:lstStyle/>
          <a:p>
            <a:pPr indent="0" marL="0">
              <a:lnSpc>
                <a:spcPct val="112000"/>
              </a:lnSpc>
              <a:buNone/>
            </a:pPr>
            <a:r>
              <a:rPr lang="en-US" sz="1250" dirty="0">
                <a:solidFill>
                  <a:srgbClr val="43507B"/>
                </a:solidFill>
                <a:latin typeface="Aptos" pitchFamily="34" charset="0"/>
                <a:ea typeface="Aptos" pitchFamily="34" charset="-122"/>
                <a:cs typeface="Aptos" pitchFamily="34" charset="-120"/>
              </a:rPr>
              <a:t>Build a reusable agent that protects your time and thinks at your altitude.</a:t>
            </a:r>
            <a:endParaRPr lang="en-US" sz="1250" dirty="0"/>
          </a:p>
        </p:txBody>
      </p:sp>
      <p:sp>
        <p:nvSpPr>
          <p:cNvPr id="24" name="Shape 19"/>
          <p:cNvSpPr/>
          <p:nvPr/>
        </p:nvSpPr>
        <p:spPr>
          <a:xfrm>
            <a:off x="6163056" y="3419856"/>
            <a:ext cx="5175504" cy="1664208"/>
          </a:xfrm>
          <a:prstGeom prst="roundRect">
            <a:avLst>
              <a:gd name="adj" fmla="val 4396"/>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5" name="Shape 20"/>
          <p:cNvSpPr/>
          <p:nvPr/>
        </p:nvSpPr>
        <p:spPr>
          <a:xfrm>
            <a:off x="6163056" y="3547872"/>
            <a:ext cx="64008" cy="1408176"/>
          </a:xfrm>
          <a:prstGeom prst="rect">
            <a:avLst/>
          </a:prstGeom>
          <a:solidFill>
            <a:srgbClr val="12B886"/>
          </a:solidFill>
          <a:ln/>
        </p:spPr>
      </p:sp>
      <p:sp>
        <p:nvSpPr>
          <p:cNvPr id="26" name="Shape 21"/>
          <p:cNvSpPr/>
          <p:nvPr/>
        </p:nvSpPr>
        <p:spPr>
          <a:xfrm>
            <a:off x="6437376" y="3730752"/>
            <a:ext cx="658368" cy="658368"/>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27" name="Image 3" descr="preencoded.png">    </p:cNvPr>
          <p:cNvPicPr>
            <a:picLocks noChangeAspect="1"/>
          </p:cNvPicPr>
          <p:nvPr/>
        </p:nvPicPr>
        <p:blipFill>
          <a:blip r:embed="rId7"/>
          <a:stretch>
            <a:fillRect/>
          </a:stretch>
        </p:blipFill>
        <p:spPr>
          <a:xfrm>
            <a:off x="6634886" y="3928262"/>
            <a:ext cx="263347" cy="263347"/>
          </a:xfrm>
          <a:prstGeom prst="rect">
            <a:avLst/>
          </a:prstGeom>
        </p:spPr>
      </p:pic>
      <p:sp>
        <p:nvSpPr>
          <p:cNvPr id="28" name="Text 22"/>
          <p:cNvSpPr/>
          <p:nvPr/>
        </p:nvSpPr>
        <p:spPr>
          <a:xfrm>
            <a:off x="7333488" y="3694176"/>
            <a:ext cx="3803904" cy="365760"/>
          </a:xfrm>
          <a:prstGeom prst="rect">
            <a:avLst/>
          </a:prstGeom>
          <a:noFill/>
          <a:ln/>
        </p:spPr>
        <p:txBody>
          <a:bodyPr wrap="square" lIns="0" tIns="0" rIns="0" bIns="0" rtlCol="0" anchor="ctr"/>
          <a:lstStyle/>
          <a:p>
            <a:pPr indent="0" marL="0">
              <a:buNone/>
            </a:pPr>
            <a:r>
              <a:rPr lang="en-US" sz="1500" b="1" dirty="0">
                <a:solidFill>
                  <a:srgbClr val="12B886"/>
                </a:solidFill>
                <a:latin typeface="Aptos" pitchFamily="34" charset="0"/>
                <a:ea typeface="Aptos" pitchFamily="34" charset="-122"/>
                <a:cs typeface="Aptos" pitchFamily="34" charset="-120"/>
              </a:rPr>
              <a:t>4   </a:t>
            </a:r>
            <a:pPr indent="0" marL="0">
              <a:buNone/>
            </a:pPr>
            <a:r>
              <a:rPr lang="en-US" sz="1600" b="1" u="sng" dirty="0">
                <a:solidFill>
                  <a:srgbClr val="0B1437"/>
                </a:solidFill>
                <a:latin typeface="Aptos" pitchFamily="34" charset="0"/>
                <a:ea typeface="Aptos" pitchFamily="34" charset="-122"/>
                <a:cs typeface="Aptos" pitchFamily="34" charset="-120"/>
                <a:hlinkClick r:id="rId8" invalidUrl="" action="" tgtFrame="" tooltip="" history="1" highlightClick="0" endSnd="0">
                  <a:extLst>
                    <a:ext uri="{A12FA001-AC4F-418D-AE19-62706E023703}">
                      <ahyp:hlinkClr xmlns:ahyp="http://schemas.microsoft.com/office/drawing/2018/hyperlinkcolor" val="tx"/>
                    </a:ext>
                  </a:extLst>
                </a:hlinkClick>
              </a:rPr>
              <a:t>Put it on a schedule</a:t>
            </a:r>
            <a:endParaRPr lang="en-US" sz="1600" dirty="0"/>
          </a:p>
        </p:txBody>
      </p:sp>
      <p:sp>
        <p:nvSpPr>
          <p:cNvPr id="29" name="Text 23"/>
          <p:cNvSpPr/>
          <p:nvPr/>
        </p:nvSpPr>
        <p:spPr>
          <a:xfrm>
            <a:off x="7333488" y="4096512"/>
            <a:ext cx="3758184" cy="868680"/>
          </a:xfrm>
          <a:prstGeom prst="rect">
            <a:avLst/>
          </a:prstGeom>
          <a:noFill/>
          <a:ln/>
        </p:spPr>
        <p:txBody>
          <a:bodyPr wrap="square" lIns="0" tIns="0" rIns="0" bIns="0" rtlCol="0" anchor="t"/>
          <a:lstStyle/>
          <a:p>
            <a:pPr indent="0" marL="0">
              <a:lnSpc>
                <a:spcPct val="112000"/>
              </a:lnSpc>
              <a:buNone/>
            </a:pPr>
            <a:r>
              <a:rPr lang="en-US" sz="1250" dirty="0">
                <a:solidFill>
                  <a:srgbClr val="43507B"/>
                </a:solidFill>
                <a:latin typeface="Aptos" pitchFamily="34" charset="0"/>
                <a:ea typeface="Aptos" pitchFamily="34" charset="-122"/>
                <a:cs typeface="Aptos" pitchFamily="34" charset="-120"/>
              </a:rPr>
              <a:t>A morning brief that runs on its own and reaches you before you open the laptop.</a:t>
            </a:r>
            <a:endParaRPr lang="en-US" sz="1250" dirty="0"/>
          </a:p>
        </p:txBody>
      </p:sp>
      <p:sp>
        <p:nvSpPr>
          <p:cNvPr id="30" name="Shape 24"/>
          <p:cNvSpPr/>
          <p:nvPr/>
        </p:nvSpPr>
        <p:spPr>
          <a:xfrm>
            <a:off x="822960" y="5230368"/>
            <a:ext cx="10515600" cy="658368"/>
          </a:xfrm>
          <a:prstGeom prst="roundRect">
            <a:avLst>
              <a:gd name="adj" fmla="val 12500"/>
            </a:avLst>
          </a:prstGeom>
          <a:solidFill>
            <a:srgbClr val="FEF6E6"/>
          </a:solidFill>
          <a:ln w="12700">
            <a:solidFill>
              <a:srgbClr val="F5DFA8"/>
            </a:solidFill>
            <a:prstDash val="solid"/>
          </a:ln>
        </p:spPr>
      </p:sp>
      <p:sp>
        <p:nvSpPr>
          <p:cNvPr id="31" name="Shape 25"/>
          <p:cNvSpPr/>
          <p:nvPr/>
        </p:nvSpPr>
        <p:spPr>
          <a:xfrm>
            <a:off x="822960" y="5340096"/>
            <a:ext cx="64008" cy="438912"/>
          </a:xfrm>
          <a:prstGeom prst="rect">
            <a:avLst/>
          </a:prstGeom>
          <a:solidFill>
            <a:srgbClr val="F0A500"/>
          </a:solidFill>
          <a:ln/>
        </p:spPr>
      </p:sp>
      <p:sp>
        <p:nvSpPr>
          <p:cNvPr id="32" name="Text 26"/>
          <p:cNvSpPr/>
          <p:nvPr/>
        </p:nvSpPr>
        <p:spPr>
          <a:xfrm>
            <a:off x="1097280" y="5230368"/>
            <a:ext cx="10058400" cy="658368"/>
          </a:xfrm>
          <a:prstGeom prst="rect">
            <a:avLst/>
          </a:prstGeom>
          <a:noFill/>
          <a:ln/>
        </p:spPr>
        <p:txBody>
          <a:bodyPr wrap="square" lIns="0" tIns="0" rIns="0" bIns="0" rtlCol="0" anchor="ctr"/>
          <a:lstStyle/>
          <a:p>
            <a:pPr algn="l" indent="0" marL="0">
              <a:buNone/>
            </a:pPr>
            <a:r>
              <a:rPr lang="en-US" sz="1400" b="1" dirty="0">
                <a:solidFill>
                  <a:srgbClr val="9A6A00"/>
                </a:solidFill>
                <a:latin typeface="Aptos" pitchFamily="34" charset="0"/>
                <a:ea typeface="Aptos" pitchFamily="34" charset="-122"/>
                <a:cs typeface="Aptos" pitchFamily="34" charset="-120"/>
              </a:rPr>
              <a:t>That is the chief-of-staff move:  </a:t>
            </a:r>
            <a:pPr algn="l" indent="0" marL="0">
              <a:buNone/>
            </a:pPr>
            <a:r>
              <a:rPr lang="en-US" sz="1400" dirty="0">
                <a:solidFill>
                  <a:srgbClr val="43507B"/>
                </a:solidFill>
                <a:latin typeface="Aptos" pitchFamily="34" charset="0"/>
                <a:ea typeface="Aptos" pitchFamily="34" charset="-122"/>
                <a:cs typeface="Aptos" pitchFamily="34" charset="-120"/>
              </a:rPr>
              <a:t>the brief comes to you, before you ask for it.</a:t>
            </a:r>
            <a:endParaRPr lang="en-US" sz="1400" dirty="0"/>
          </a:p>
        </p:txBody>
      </p:sp>
      <p:sp>
        <p:nvSpPr>
          <p:cNvPr id="33" name="Text 27"/>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3 · Make it yours</a:t>
            </a:r>
            <a:endParaRPr lang="en-US" sz="900" dirty="0"/>
          </a:p>
        </p:txBody>
      </p:sp>
      <p:sp>
        <p:nvSpPr>
          <p:cNvPr id="34" name="Text 28"/>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13</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E"/>
        </a:solidFill>
      </p:bgPr>
    </p:bg>
    <p:spTree>
      <p:nvGrpSpPr>
        <p:cNvPr id="1" name=""/>
        <p:cNvGrpSpPr/>
        <p:nvPr/>
      </p:nvGrpSpPr>
      <p:grpSpPr>
        <a:xfrm>
          <a:off x="0" y="0"/>
          <a:ext cx="0" cy="0"/>
          <a:chOff x="0" y="0"/>
          <a:chExt cx="0" cy="0"/>
        </a:xfrm>
      </p:grpSpPr>
      <p:sp>
        <p:nvSpPr>
          <p:cNvPr id="2" name="Shape 0"/>
          <p:cNvSpPr/>
          <p:nvPr/>
        </p:nvSpPr>
        <p:spPr>
          <a:xfrm>
            <a:off x="822960" y="566928"/>
            <a:ext cx="1170432" cy="310896"/>
          </a:xfrm>
          <a:prstGeom prst="roundRect">
            <a:avLst>
              <a:gd name="adj" fmla="val 50000"/>
            </a:avLst>
          </a:prstGeom>
          <a:solidFill>
            <a:srgbClr val="F0A500"/>
          </a:solidFill>
          <a:ln/>
        </p:spPr>
      </p:sp>
      <p:sp>
        <p:nvSpPr>
          <p:cNvPr id="3" name="Text 1"/>
          <p:cNvSpPr/>
          <p:nvPr/>
        </p:nvSpPr>
        <p:spPr>
          <a:xfrm>
            <a:off x="822960" y="566928"/>
            <a:ext cx="1170432"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Aptos" pitchFamily="34" charset="0"/>
                <a:ea typeface="Aptos" pitchFamily="34" charset="-122"/>
                <a:cs typeface="Aptos" pitchFamily="34" charset="-120"/>
              </a:rPr>
              <a:t>TIER 3</a:t>
            </a:r>
            <a:endParaRPr lang="en-US" sz="1100" dirty="0"/>
          </a:p>
        </p:txBody>
      </p:sp>
      <p:sp>
        <p:nvSpPr>
          <p:cNvPr id="4" name="Text 2"/>
          <p:cNvSpPr/>
          <p:nvPr/>
        </p:nvSpPr>
        <p:spPr>
          <a:xfrm>
            <a:off x="2121408" y="566928"/>
            <a:ext cx="8686800" cy="310896"/>
          </a:xfrm>
          <a:prstGeom prst="rect">
            <a:avLst/>
          </a:prstGeom>
          <a:noFill/>
          <a:ln/>
        </p:spPr>
        <p:txBody>
          <a:bodyPr wrap="square" lIns="0" tIns="0" rIns="0" bIns="0" rtlCol="0" anchor="ctr"/>
          <a:lstStyle/>
          <a:p>
            <a:pPr algn="l" indent="0" marL="0">
              <a:buNone/>
            </a:pPr>
            <a:r>
              <a:rPr lang="en-US" sz="1200" b="1" spc="200" kern="0" dirty="0">
                <a:solidFill>
                  <a:srgbClr val="F0A500"/>
                </a:solidFill>
                <a:latin typeface="Aptos" pitchFamily="34" charset="0"/>
                <a:ea typeface="Aptos" pitchFamily="34" charset="-122"/>
                <a:cs typeface="Aptos" pitchFamily="34" charset="-120"/>
              </a:rPr>
              <a:t>AGENTS WORTH BUILDING FIRST</a:t>
            </a:r>
            <a:endParaRPr lang="en-US" sz="1200" dirty="0"/>
          </a:p>
        </p:txBody>
      </p:sp>
      <p:sp>
        <p:nvSpPr>
          <p:cNvPr id="5" name="Text 3"/>
          <p:cNvSpPr/>
          <p:nvPr/>
        </p:nvSpPr>
        <p:spPr>
          <a:xfrm>
            <a:off x="786384" y="914400"/>
            <a:ext cx="10058400" cy="548640"/>
          </a:xfrm>
          <a:prstGeom prst="rect">
            <a:avLst/>
          </a:prstGeom>
          <a:noFill/>
          <a:ln/>
        </p:spPr>
        <p:txBody>
          <a:bodyPr wrap="square" lIns="0" tIns="0" rIns="0" bIns="0" rtlCol="0" anchor="ctr"/>
          <a:lstStyle/>
          <a:p>
            <a:pPr indent="0" marL="0">
              <a:buNone/>
            </a:pPr>
            <a:r>
              <a:rPr lang="en-US" sz="3100" b="1" dirty="0">
                <a:solidFill>
                  <a:srgbClr val="0B1437"/>
                </a:solidFill>
                <a:latin typeface="Aptos" pitchFamily="34" charset="0"/>
                <a:ea typeface="Aptos" pitchFamily="34" charset="-122"/>
                <a:cs typeface="Aptos" pitchFamily="34" charset="-120"/>
              </a:rPr>
              <a:t>Four to start with</a:t>
            </a:r>
            <a:endParaRPr lang="en-US" sz="3100" dirty="0"/>
          </a:p>
        </p:txBody>
      </p:sp>
      <p:sp>
        <p:nvSpPr>
          <p:cNvPr id="6" name="Text 4"/>
          <p:cNvSpPr/>
          <p:nvPr/>
        </p:nvSpPr>
        <p:spPr>
          <a:xfrm>
            <a:off x="822960" y="1499616"/>
            <a:ext cx="10607040" cy="365760"/>
          </a:xfrm>
          <a:prstGeom prst="rect">
            <a:avLst/>
          </a:prstGeom>
          <a:noFill/>
          <a:ln/>
        </p:spPr>
        <p:txBody>
          <a:bodyPr wrap="square" lIns="0" tIns="0" rIns="0" bIns="0" rtlCol="0" anchor="ctr"/>
          <a:lstStyle/>
          <a:p>
            <a:pPr indent="0" marL="0">
              <a:buNone/>
            </a:pPr>
            <a:r>
              <a:rPr lang="en-US" sz="1400" dirty="0">
                <a:solidFill>
                  <a:srgbClr val="43507B"/>
                </a:solidFill>
                <a:latin typeface="Aptos" pitchFamily="34" charset="0"/>
                <a:ea typeface="Aptos" pitchFamily="34" charset="-122"/>
                <a:cs typeface="Aptos" pitchFamily="34" charset="-120"/>
              </a:rPr>
              <a:t>A focused assistant you set up once for a specific job, and share with your team so everyone gets the same quality.</a:t>
            </a:r>
            <a:endParaRPr lang="en-US" sz="1400" dirty="0"/>
          </a:p>
        </p:txBody>
      </p:sp>
      <p:sp>
        <p:nvSpPr>
          <p:cNvPr id="7" name="Shape 5"/>
          <p:cNvSpPr/>
          <p:nvPr/>
        </p:nvSpPr>
        <p:spPr>
          <a:xfrm>
            <a:off x="822960" y="1993392"/>
            <a:ext cx="5175504" cy="1700784"/>
          </a:xfrm>
          <a:prstGeom prst="roundRect">
            <a:avLst>
              <a:gd name="adj" fmla="val 430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8" name="Shape 6"/>
          <p:cNvSpPr/>
          <p:nvPr/>
        </p:nvSpPr>
        <p:spPr>
          <a:xfrm>
            <a:off x="1115568" y="2304288"/>
            <a:ext cx="713232" cy="713232"/>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9" name="Image 0" descr="preencoded.png">    </p:cNvPr>
          <p:cNvPicPr>
            <a:picLocks noChangeAspect="1"/>
          </p:cNvPicPr>
          <p:nvPr/>
        </p:nvPicPr>
        <p:blipFill>
          <a:blip r:embed="rId1"/>
          <a:stretch>
            <a:fillRect/>
          </a:stretch>
        </p:blipFill>
        <p:spPr>
          <a:xfrm>
            <a:off x="1329538" y="2518258"/>
            <a:ext cx="285293" cy="285293"/>
          </a:xfrm>
          <a:prstGeom prst="rect">
            <a:avLst/>
          </a:prstGeom>
        </p:spPr>
      </p:pic>
      <p:sp>
        <p:nvSpPr>
          <p:cNvPr id="10" name="Text 7"/>
          <p:cNvSpPr/>
          <p:nvPr/>
        </p:nvSpPr>
        <p:spPr>
          <a:xfrm>
            <a:off x="2057400" y="2286000"/>
            <a:ext cx="3712464" cy="365760"/>
          </a:xfrm>
          <a:prstGeom prst="rect">
            <a:avLst/>
          </a:prstGeom>
          <a:noFill/>
          <a:ln/>
        </p:spPr>
        <p:txBody>
          <a:bodyPr wrap="square" lIns="0" tIns="0" rIns="0" bIns="0" rtlCol="0" anchor="ctr"/>
          <a:lstStyle/>
          <a:p>
            <a:pPr indent="0" marL="0">
              <a:buNone/>
            </a:pPr>
            <a:r>
              <a:rPr lang="en-US" sz="1800" b="1" u="sng" dirty="0">
                <a:solidFill>
                  <a:srgbClr val="2D6CDF"/>
                </a:solid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Chief of Staff</a:t>
            </a:r>
            <a:endParaRPr lang="en-US" sz="1800" dirty="0"/>
          </a:p>
        </p:txBody>
      </p:sp>
      <p:sp>
        <p:nvSpPr>
          <p:cNvPr id="11" name="Text 8"/>
          <p:cNvSpPr/>
          <p:nvPr/>
        </p:nvSpPr>
        <p:spPr>
          <a:xfrm>
            <a:off x="2057400" y="2706624"/>
            <a:ext cx="3666744" cy="868680"/>
          </a:xfrm>
          <a:prstGeom prst="rect">
            <a:avLst/>
          </a:prstGeom>
          <a:noFill/>
          <a:ln/>
        </p:spPr>
        <p:txBody>
          <a:bodyPr wrap="square" lIns="0" tIns="0" rIns="0" bIns="0" rtlCol="0" anchor="t"/>
          <a:lstStyle/>
          <a:p>
            <a:pPr indent="0" marL="0">
              <a:lnSpc>
                <a:spcPct val="114000"/>
              </a:lnSpc>
              <a:buNone/>
            </a:pPr>
            <a:r>
              <a:rPr lang="en-US" sz="1250" dirty="0">
                <a:solidFill>
                  <a:srgbClr val="43507B"/>
                </a:solidFill>
                <a:latin typeface="Aptos" pitchFamily="34" charset="0"/>
                <a:ea typeface="Aptos" pitchFamily="34" charset="-122"/>
                <a:cs typeface="Aptos" pitchFamily="34" charset="-120"/>
              </a:rPr>
              <a:t>Protects your time, thinks at your altitude, and sounds like you. Comes with templates.</a:t>
            </a:r>
            <a:endParaRPr lang="en-US" sz="1250" dirty="0"/>
          </a:p>
        </p:txBody>
      </p:sp>
      <p:sp>
        <p:nvSpPr>
          <p:cNvPr id="12" name="Shape 9"/>
          <p:cNvSpPr/>
          <p:nvPr/>
        </p:nvSpPr>
        <p:spPr>
          <a:xfrm>
            <a:off x="6163056" y="1993392"/>
            <a:ext cx="5175504" cy="1700784"/>
          </a:xfrm>
          <a:prstGeom prst="roundRect">
            <a:avLst>
              <a:gd name="adj" fmla="val 430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3" name="Shape 10"/>
          <p:cNvSpPr/>
          <p:nvPr/>
        </p:nvSpPr>
        <p:spPr>
          <a:xfrm>
            <a:off x="6455664" y="2304288"/>
            <a:ext cx="713232" cy="713232"/>
          </a:xfrm>
          <a:prstGeom prst="ellipse">
            <a:avLst/>
          </a:prstGeom>
          <a:solidFill>
            <a:srgbClr val="7C5CFC"/>
          </a:solidFill>
          <a:ln/>
          <a:effectLst>
            <a:outerShdw sx="100000" sy="100000" kx="0" ky="0" algn="bl" rotWithShape="0" blurRad="114300" dist="38100" dir="5400000">
              <a:srgbClr val="0B1437">
                <a:alpha val="10000"/>
              </a:srgbClr>
            </a:outerShdw>
          </a:effectLst>
        </p:spPr>
      </p:sp>
      <p:pic>
        <p:nvPicPr>
          <p:cNvPr id="14" name="Image 1" descr="preencoded.png">    </p:cNvPr>
          <p:cNvPicPr>
            <a:picLocks noChangeAspect="1"/>
          </p:cNvPicPr>
          <p:nvPr/>
        </p:nvPicPr>
        <p:blipFill>
          <a:blip r:embed="rId3"/>
          <a:stretch>
            <a:fillRect/>
          </a:stretch>
        </p:blipFill>
        <p:spPr>
          <a:xfrm>
            <a:off x="6669634" y="2518258"/>
            <a:ext cx="285293" cy="285293"/>
          </a:xfrm>
          <a:prstGeom prst="rect">
            <a:avLst/>
          </a:prstGeom>
        </p:spPr>
      </p:pic>
      <p:sp>
        <p:nvSpPr>
          <p:cNvPr id="15" name="Text 11"/>
          <p:cNvSpPr/>
          <p:nvPr/>
        </p:nvSpPr>
        <p:spPr>
          <a:xfrm>
            <a:off x="7397496" y="2286000"/>
            <a:ext cx="3712464" cy="365760"/>
          </a:xfrm>
          <a:prstGeom prst="rect">
            <a:avLst/>
          </a:prstGeom>
          <a:noFill/>
          <a:ln/>
        </p:spPr>
        <p:txBody>
          <a:bodyPr wrap="square" lIns="0" tIns="0" rIns="0" bIns="0" rtlCol="0" anchor="ctr"/>
          <a:lstStyle/>
          <a:p>
            <a:pPr indent="0" marL="0">
              <a:buNone/>
            </a:pPr>
            <a:r>
              <a:rPr lang="en-US" sz="1800" b="1" u="sng" dirty="0">
                <a:solidFill>
                  <a:srgbClr val="7C5CFC"/>
                </a:solidFill>
                <a:latin typeface="Aptos" pitchFamily="34" charset="0"/>
                <a:ea typeface="Aptos" pitchFamily="34" charset="-122"/>
                <a:cs typeface="Aptos" pitchFamily="34" charset="-120"/>
                <a:hlinkClick r:id="rId4" invalidUrl="" action="" tgtFrame="" tooltip="" history="1" highlightClick="0" endSnd="0">
                  <a:extLst>
                    <a:ext uri="{A12FA001-AC4F-418D-AE19-62706E023703}">
                      <ahyp:hlinkClr xmlns:ahyp="http://schemas.microsoft.com/office/drawing/2018/hyperlinkcolor" val="tx"/>
                    </a:ext>
                  </a:extLst>
                </a:hlinkClick>
              </a:rPr>
              <a:t>BossBuddy</a:t>
            </a:r>
            <a:endParaRPr lang="en-US" sz="1800" dirty="0"/>
          </a:p>
        </p:txBody>
      </p:sp>
      <p:sp>
        <p:nvSpPr>
          <p:cNvPr id="16" name="Text 12"/>
          <p:cNvSpPr/>
          <p:nvPr/>
        </p:nvSpPr>
        <p:spPr>
          <a:xfrm>
            <a:off x="7397496" y="2706624"/>
            <a:ext cx="3666744" cy="868680"/>
          </a:xfrm>
          <a:prstGeom prst="rect">
            <a:avLst/>
          </a:prstGeom>
          <a:noFill/>
          <a:ln/>
        </p:spPr>
        <p:txBody>
          <a:bodyPr wrap="square" lIns="0" tIns="0" rIns="0" bIns="0" rtlCol="0" anchor="t"/>
          <a:lstStyle/>
          <a:p>
            <a:pPr indent="0" marL="0">
              <a:lnSpc>
                <a:spcPct val="114000"/>
              </a:lnSpc>
              <a:buNone/>
            </a:pPr>
            <a:r>
              <a:rPr lang="en-US" sz="1250" dirty="0">
                <a:solidFill>
                  <a:srgbClr val="43507B"/>
                </a:solidFill>
                <a:latin typeface="Aptos" pitchFamily="34" charset="0"/>
                <a:ea typeface="Aptos" pitchFamily="34" charset="-122"/>
                <a:cs typeface="Aptos" pitchFamily="34" charset="-120"/>
              </a:rPr>
              <a:t>A virtual AI manager for strategy and career-level thinking, and the bigger picture.</a:t>
            </a:r>
            <a:endParaRPr lang="en-US" sz="1250" dirty="0"/>
          </a:p>
        </p:txBody>
      </p:sp>
      <p:sp>
        <p:nvSpPr>
          <p:cNvPr id="17" name="Shape 13"/>
          <p:cNvSpPr/>
          <p:nvPr/>
        </p:nvSpPr>
        <p:spPr>
          <a:xfrm>
            <a:off x="822960" y="3877056"/>
            <a:ext cx="5175504" cy="1700784"/>
          </a:xfrm>
          <a:prstGeom prst="roundRect">
            <a:avLst>
              <a:gd name="adj" fmla="val 430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8" name="Shape 14"/>
          <p:cNvSpPr/>
          <p:nvPr/>
        </p:nvSpPr>
        <p:spPr>
          <a:xfrm>
            <a:off x="1115568" y="4187952"/>
            <a:ext cx="713232" cy="713232"/>
          </a:xfrm>
          <a:prstGeom prst="ellipse">
            <a:avLst/>
          </a:prstGeom>
          <a:solidFill>
            <a:srgbClr val="12B5BC"/>
          </a:solidFill>
          <a:ln/>
          <a:effectLst>
            <a:outerShdw sx="100000" sy="100000" kx="0" ky="0" algn="bl" rotWithShape="0" blurRad="114300" dist="38100" dir="5400000">
              <a:srgbClr val="0B1437">
                <a:alpha val="10000"/>
              </a:srgbClr>
            </a:outerShdw>
          </a:effectLst>
        </p:spPr>
      </p:sp>
      <p:pic>
        <p:nvPicPr>
          <p:cNvPr id="19" name="Image 2" descr="preencoded.png">    </p:cNvPr>
          <p:cNvPicPr>
            <a:picLocks noChangeAspect="1"/>
          </p:cNvPicPr>
          <p:nvPr/>
        </p:nvPicPr>
        <p:blipFill>
          <a:blip r:embed="rId5"/>
          <a:stretch>
            <a:fillRect/>
          </a:stretch>
        </p:blipFill>
        <p:spPr>
          <a:xfrm>
            <a:off x="1329538" y="4401922"/>
            <a:ext cx="285293" cy="285293"/>
          </a:xfrm>
          <a:prstGeom prst="rect">
            <a:avLst/>
          </a:prstGeom>
        </p:spPr>
      </p:pic>
      <p:sp>
        <p:nvSpPr>
          <p:cNvPr id="20" name="Text 15"/>
          <p:cNvSpPr/>
          <p:nvPr/>
        </p:nvSpPr>
        <p:spPr>
          <a:xfrm>
            <a:off x="2057400" y="4169664"/>
            <a:ext cx="3712464" cy="365760"/>
          </a:xfrm>
          <a:prstGeom prst="rect">
            <a:avLst/>
          </a:prstGeom>
          <a:noFill/>
          <a:ln/>
        </p:spPr>
        <p:txBody>
          <a:bodyPr wrap="square" lIns="0" tIns="0" rIns="0" bIns="0" rtlCol="0" anchor="ctr"/>
          <a:lstStyle/>
          <a:p>
            <a:pPr indent="0" marL="0">
              <a:buNone/>
            </a:pPr>
            <a:r>
              <a:rPr lang="en-US" sz="1800" b="1" u="sng" dirty="0">
                <a:solidFill>
                  <a:srgbClr val="12B5BC"/>
                </a:solidFill>
                <a:latin typeface="Aptos" pitchFamily="34" charset="0"/>
                <a:ea typeface="Aptos" pitchFamily="34" charset="-122"/>
                <a:cs typeface="Aptos" pitchFamily="34" charset="-120"/>
                <a:hlinkClick r:id="rId6" invalidUrl="" action="" tgtFrame="" tooltip="" history="1" highlightClick="0" endSnd="0">
                  <a:extLst>
                    <a:ext uri="{A12FA001-AC4F-418D-AE19-62706E023703}">
                      <ahyp:hlinkClr xmlns:ahyp="http://schemas.microsoft.com/office/drawing/2018/hyperlinkcolor" val="tx"/>
                    </a:ext>
                  </a:extLst>
                </a:hlinkClick>
              </a:rPr>
              <a:t>Taskmaster</a:t>
            </a:r>
            <a:endParaRPr lang="en-US" sz="1800" dirty="0"/>
          </a:p>
        </p:txBody>
      </p:sp>
      <p:sp>
        <p:nvSpPr>
          <p:cNvPr id="21" name="Text 16"/>
          <p:cNvSpPr/>
          <p:nvPr/>
        </p:nvSpPr>
        <p:spPr>
          <a:xfrm>
            <a:off x="2057400" y="4590288"/>
            <a:ext cx="3666744" cy="868680"/>
          </a:xfrm>
          <a:prstGeom prst="rect">
            <a:avLst/>
          </a:prstGeom>
          <a:noFill/>
          <a:ln/>
        </p:spPr>
        <p:txBody>
          <a:bodyPr wrap="square" lIns="0" tIns="0" rIns="0" bIns="0" rtlCol="0" anchor="t"/>
          <a:lstStyle/>
          <a:p>
            <a:pPr indent="0" marL="0">
              <a:lnSpc>
                <a:spcPct val="114000"/>
              </a:lnSpc>
              <a:buNone/>
            </a:pPr>
            <a:r>
              <a:rPr lang="en-US" sz="1250" dirty="0">
                <a:solidFill>
                  <a:srgbClr val="43507B"/>
                </a:solidFill>
                <a:latin typeface="Aptos" pitchFamily="34" charset="0"/>
                <a:ea typeface="Aptos" pitchFamily="34" charset="-122"/>
                <a:cs typeface="Aptos" pitchFamily="34" charset="-120"/>
              </a:rPr>
              <a:t>Tracks what needs attention, pulls action items, and moves work forward.</a:t>
            </a:r>
            <a:endParaRPr lang="en-US" sz="1250" dirty="0"/>
          </a:p>
        </p:txBody>
      </p:sp>
      <p:sp>
        <p:nvSpPr>
          <p:cNvPr id="22" name="Shape 17"/>
          <p:cNvSpPr/>
          <p:nvPr/>
        </p:nvSpPr>
        <p:spPr>
          <a:xfrm>
            <a:off x="6163056" y="3877056"/>
            <a:ext cx="5175504" cy="1700784"/>
          </a:xfrm>
          <a:prstGeom prst="roundRect">
            <a:avLst>
              <a:gd name="adj" fmla="val 4301"/>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3" name="Shape 18"/>
          <p:cNvSpPr/>
          <p:nvPr/>
        </p:nvSpPr>
        <p:spPr>
          <a:xfrm>
            <a:off x="6455664" y="4187952"/>
            <a:ext cx="713232" cy="713232"/>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24" name="Image 3" descr="preencoded.png">    </p:cNvPr>
          <p:cNvPicPr>
            <a:picLocks noChangeAspect="1"/>
          </p:cNvPicPr>
          <p:nvPr/>
        </p:nvPicPr>
        <p:blipFill>
          <a:blip r:embed="rId7"/>
          <a:stretch>
            <a:fillRect/>
          </a:stretch>
        </p:blipFill>
        <p:spPr>
          <a:xfrm>
            <a:off x="6669634" y="4401922"/>
            <a:ext cx="285293" cy="285293"/>
          </a:xfrm>
          <a:prstGeom prst="rect">
            <a:avLst/>
          </a:prstGeom>
        </p:spPr>
      </p:pic>
      <p:sp>
        <p:nvSpPr>
          <p:cNvPr id="25" name="Text 19"/>
          <p:cNvSpPr/>
          <p:nvPr/>
        </p:nvSpPr>
        <p:spPr>
          <a:xfrm>
            <a:off x="7397496" y="4169664"/>
            <a:ext cx="3712464" cy="365760"/>
          </a:xfrm>
          <a:prstGeom prst="rect">
            <a:avLst/>
          </a:prstGeom>
          <a:noFill/>
          <a:ln/>
        </p:spPr>
        <p:txBody>
          <a:bodyPr wrap="square" lIns="0" tIns="0" rIns="0" bIns="0" rtlCol="0" anchor="ctr"/>
          <a:lstStyle/>
          <a:p>
            <a:pPr indent="0" marL="0">
              <a:buNone/>
            </a:pPr>
            <a:r>
              <a:rPr lang="en-US" sz="1800" b="1" u="sng" dirty="0">
                <a:solidFill>
                  <a:srgbClr val="12B886"/>
                </a:solidFill>
                <a:latin typeface="Aptos" pitchFamily="34" charset="0"/>
                <a:ea typeface="Aptos" pitchFamily="34" charset="-122"/>
                <a:cs typeface="Aptos" pitchFamily="34" charset="-120"/>
                <a:hlinkClick r:id="rId8" invalidUrl="" action="" tgtFrame="" tooltip="" history="1" highlightClick="0" endSnd="0">
                  <a:extLst>
                    <a:ext uri="{A12FA001-AC4F-418D-AE19-62706E023703}">
                      <ahyp:hlinkClr xmlns:ahyp="http://schemas.microsoft.com/office/drawing/2018/hyperlinkcolor" val="tx"/>
                    </a:ext>
                  </a:extLst>
                </a:hlinkClick>
              </a:rPr>
              <a:t>Impact Check</a:t>
            </a:r>
            <a:endParaRPr lang="en-US" sz="1800" dirty="0"/>
          </a:p>
        </p:txBody>
      </p:sp>
      <p:sp>
        <p:nvSpPr>
          <p:cNvPr id="26" name="Text 20"/>
          <p:cNvSpPr/>
          <p:nvPr/>
        </p:nvSpPr>
        <p:spPr>
          <a:xfrm>
            <a:off x="7397496" y="4590288"/>
            <a:ext cx="3666744" cy="868680"/>
          </a:xfrm>
          <a:prstGeom prst="rect">
            <a:avLst/>
          </a:prstGeom>
          <a:noFill/>
          <a:ln/>
        </p:spPr>
        <p:txBody>
          <a:bodyPr wrap="square" lIns="0" tIns="0" rIns="0" bIns="0" rtlCol="0" anchor="t"/>
          <a:lstStyle/>
          <a:p>
            <a:pPr indent="0" marL="0">
              <a:lnSpc>
                <a:spcPct val="114000"/>
              </a:lnSpc>
              <a:buNone/>
            </a:pPr>
            <a:r>
              <a:rPr lang="en-US" sz="1250" dirty="0">
                <a:solidFill>
                  <a:srgbClr val="43507B"/>
                </a:solidFill>
                <a:latin typeface="Aptos" pitchFamily="34" charset="0"/>
                <a:ea typeface="Aptos" pitchFamily="34" charset="-122"/>
                <a:cs typeface="Aptos" pitchFamily="34" charset="-120"/>
              </a:rPr>
              <a:t>Links across your Microsoft 365 activity so you can see your real influence.</a:t>
            </a:r>
            <a:endParaRPr lang="en-US" sz="1250" dirty="0"/>
          </a:p>
        </p:txBody>
      </p:sp>
      <p:sp>
        <p:nvSpPr>
          <p:cNvPr id="27" name="Text 21"/>
          <p:cNvSpPr/>
          <p:nvPr/>
        </p:nvSpPr>
        <p:spPr>
          <a:xfrm>
            <a:off x="822960" y="5742432"/>
            <a:ext cx="10515600" cy="365760"/>
          </a:xfrm>
          <a:prstGeom prst="rect">
            <a:avLst/>
          </a:prstGeom>
          <a:noFill/>
          <a:ln/>
        </p:spPr>
        <p:txBody>
          <a:bodyPr wrap="square" lIns="0" tIns="0" rIns="0" bIns="0" rtlCol="0" anchor="ctr"/>
          <a:lstStyle/>
          <a:p>
            <a:pPr algn="l" indent="0" marL="0">
              <a:buNone/>
            </a:pPr>
            <a:r>
              <a:rPr lang="en-US" sz="1250" b="1" dirty="0">
                <a:solidFill>
                  <a:srgbClr val="0B1437"/>
                </a:solidFill>
                <a:latin typeface="Aptos" pitchFamily="34" charset="0"/>
                <a:ea typeface="Aptos" pitchFamily="34" charset="-122"/>
                <a:cs typeface="Aptos" pitchFamily="34" charset="-120"/>
              </a:rPr>
              <a:t>Rule of thumb:  </a:t>
            </a:r>
            <a:pPr algn="l" indent="0" marL="0">
              <a:buNone/>
            </a:pPr>
            <a:r>
              <a:rPr lang="en-US" sz="1250" dirty="0">
                <a:solidFill>
                  <a:srgbClr val="43507B"/>
                </a:solidFill>
                <a:latin typeface="Aptos" pitchFamily="34" charset="0"/>
                <a:ea typeface="Aptos" pitchFamily="34" charset="-122"/>
                <a:cs typeface="Aptos" pitchFamily="34" charset="-120"/>
              </a:rPr>
              <a:t>if you are typing a similar prompt more than twice a week, that is an agent waiting to happen.</a:t>
            </a:r>
            <a:endParaRPr lang="en-US" sz="1250" dirty="0"/>
          </a:p>
        </p:txBody>
      </p:sp>
      <p:sp>
        <p:nvSpPr>
          <p:cNvPr id="28" name="Text 22"/>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Tier 3 · Make it yours</a:t>
            </a:r>
            <a:endParaRPr lang="en-US" sz="900" dirty="0"/>
          </a:p>
        </p:txBody>
      </p:sp>
      <p:sp>
        <p:nvSpPr>
          <p:cNvPr id="29" name="Text 23"/>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14</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E"/>
        </a:solidFill>
      </p:bgPr>
    </p:bg>
    <p:spTree>
      <p:nvGrpSpPr>
        <p:cNvPr id="1" name=""/>
        <p:cNvGrpSpPr/>
        <p:nvPr/>
      </p:nvGrpSpPr>
      <p:grpSpPr>
        <a:xfrm>
          <a:off x="0" y="0"/>
          <a:ext cx="0" cy="0"/>
          <a:chOff x="0" y="0"/>
          <a:chExt cx="0" cy="0"/>
        </a:xfrm>
      </p:grpSpPr>
      <p:sp>
        <p:nvSpPr>
          <p:cNvPr id="2" name="Text 0"/>
          <p:cNvSpPr/>
          <p:nvPr/>
        </p:nvSpPr>
        <p:spPr>
          <a:xfrm>
            <a:off x="822960" y="603504"/>
            <a:ext cx="10058400" cy="274320"/>
          </a:xfrm>
          <a:prstGeom prst="rect">
            <a:avLst/>
          </a:prstGeom>
          <a:noFill/>
          <a:ln/>
        </p:spPr>
        <p:txBody>
          <a:bodyPr wrap="square" lIns="0" tIns="0" rIns="0" bIns="0" rtlCol="0" anchor="ctr"/>
          <a:lstStyle/>
          <a:p>
            <a:pPr algn="l" indent="0" marL="0">
              <a:buNone/>
            </a:pPr>
            <a:r>
              <a:rPr lang="en-US" sz="1200" b="1" spc="300" kern="0" dirty="0">
                <a:solidFill>
                  <a:srgbClr val="F0A500"/>
                </a:solidFill>
                <a:latin typeface="Aptos" pitchFamily="34" charset="0"/>
                <a:ea typeface="Aptos" pitchFamily="34" charset="-122"/>
                <a:cs typeface="Aptos" pitchFamily="34" charset="-120"/>
              </a:rPr>
              <a:t>BEFORE WE WRAP · KNOW WHERE THE LINE IS</a:t>
            </a:r>
            <a:endParaRPr lang="en-US" sz="1200" dirty="0"/>
          </a:p>
        </p:txBody>
      </p:sp>
      <p:sp>
        <p:nvSpPr>
          <p:cNvPr id="3" name="Text 1"/>
          <p:cNvSpPr/>
          <p:nvPr/>
        </p:nvSpPr>
        <p:spPr>
          <a:xfrm>
            <a:off x="786384" y="914400"/>
            <a:ext cx="10058400" cy="548640"/>
          </a:xfrm>
          <a:prstGeom prst="rect">
            <a:avLst/>
          </a:prstGeom>
          <a:noFill/>
          <a:ln/>
        </p:spPr>
        <p:txBody>
          <a:bodyPr wrap="square" lIns="0" tIns="0" rIns="0" bIns="0" rtlCol="0" anchor="ctr"/>
          <a:lstStyle/>
          <a:p>
            <a:pPr indent="0" marL="0">
              <a:buNone/>
            </a:pPr>
            <a:r>
              <a:rPr lang="en-US" sz="3100" b="1" dirty="0">
                <a:solidFill>
                  <a:srgbClr val="0B1437"/>
                </a:solidFill>
                <a:latin typeface="Aptos" pitchFamily="34" charset="0"/>
                <a:ea typeface="Aptos" pitchFamily="34" charset="-122"/>
                <a:cs typeface="Aptos" pitchFamily="34" charset="-120"/>
              </a:rPr>
              <a:t>Copilot, not autopilot</a:t>
            </a:r>
            <a:endParaRPr lang="en-US" sz="3100" dirty="0"/>
          </a:p>
        </p:txBody>
      </p:sp>
      <p:sp>
        <p:nvSpPr>
          <p:cNvPr id="4" name="Shape 2"/>
          <p:cNvSpPr/>
          <p:nvPr/>
        </p:nvSpPr>
        <p:spPr>
          <a:xfrm>
            <a:off x="822960" y="1627632"/>
            <a:ext cx="5175504" cy="1554480"/>
          </a:xfrm>
          <a:prstGeom prst="roundRect">
            <a:avLst>
              <a:gd name="adj" fmla="val 4706"/>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5" name="Shape 3"/>
          <p:cNvSpPr/>
          <p:nvPr/>
        </p:nvSpPr>
        <p:spPr>
          <a:xfrm>
            <a:off x="1097280" y="1901952"/>
            <a:ext cx="621792" cy="621792"/>
          </a:xfrm>
          <a:prstGeom prst="ellipse">
            <a:avLst/>
          </a:prstGeom>
          <a:solidFill>
            <a:srgbClr val="2D6CDF"/>
          </a:solidFill>
          <a:ln/>
          <a:effectLst>
            <a:outerShdw sx="100000" sy="100000" kx="0" ky="0" algn="bl" rotWithShape="0" blurRad="114300" dist="38100" dir="5400000">
              <a:srgbClr val="0B1437">
                <a:alpha val="10000"/>
              </a:srgbClr>
            </a:outerShdw>
          </a:effectLst>
        </p:spPr>
      </p:sp>
      <p:pic>
        <p:nvPicPr>
          <p:cNvPr id="6" name="Image 0" descr="preencoded.png">    </p:cNvPr>
          <p:cNvPicPr>
            <a:picLocks noChangeAspect="1"/>
          </p:cNvPicPr>
          <p:nvPr/>
        </p:nvPicPr>
        <p:blipFill>
          <a:blip r:embed="rId1"/>
          <a:stretch>
            <a:fillRect/>
          </a:stretch>
        </p:blipFill>
        <p:spPr>
          <a:xfrm>
            <a:off x="1283818" y="2088490"/>
            <a:ext cx="248717" cy="248717"/>
          </a:xfrm>
          <a:prstGeom prst="rect">
            <a:avLst/>
          </a:prstGeom>
        </p:spPr>
      </p:pic>
      <p:sp>
        <p:nvSpPr>
          <p:cNvPr id="7" name="Text 4"/>
          <p:cNvSpPr/>
          <p:nvPr/>
        </p:nvSpPr>
        <p:spPr>
          <a:xfrm>
            <a:off x="1938528" y="1883664"/>
            <a:ext cx="3849624" cy="310896"/>
          </a:xfrm>
          <a:prstGeom prst="rect">
            <a:avLst/>
          </a:prstGeom>
          <a:noFill/>
          <a:ln/>
        </p:spPr>
        <p:txBody>
          <a:bodyPr wrap="square" lIns="0" tIns="0" rIns="0" bIns="0" rtlCol="0" anchor="ctr"/>
          <a:lstStyle/>
          <a:p>
            <a:pPr indent="0" marL="0">
              <a:buNone/>
            </a:pPr>
            <a:r>
              <a:rPr lang="en-US" sz="1550" b="1" dirty="0">
                <a:solidFill>
                  <a:srgbClr val="0B1437"/>
                </a:solidFill>
                <a:latin typeface="Aptos" pitchFamily="34" charset="0"/>
                <a:ea typeface="Aptos" pitchFamily="34" charset="-122"/>
                <a:cs typeface="Aptos" pitchFamily="34" charset="-120"/>
              </a:rPr>
              <a:t>It drafts, you decide</a:t>
            </a:r>
            <a:endParaRPr lang="en-US" sz="1550" dirty="0"/>
          </a:p>
        </p:txBody>
      </p:sp>
      <p:sp>
        <p:nvSpPr>
          <p:cNvPr id="8" name="Text 5"/>
          <p:cNvSpPr/>
          <p:nvPr/>
        </p:nvSpPr>
        <p:spPr>
          <a:xfrm>
            <a:off x="1938528" y="2212848"/>
            <a:ext cx="3803904" cy="86868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Copilot will not send an email or book a meeting you did not ask for. Your name goes on the output.</a:t>
            </a:r>
            <a:endParaRPr lang="en-US" sz="1200" dirty="0"/>
          </a:p>
        </p:txBody>
      </p:sp>
      <p:sp>
        <p:nvSpPr>
          <p:cNvPr id="9" name="Shape 6"/>
          <p:cNvSpPr/>
          <p:nvPr/>
        </p:nvSpPr>
        <p:spPr>
          <a:xfrm>
            <a:off x="6163056" y="1627632"/>
            <a:ext cx="5175504" cy="1554480"/>
          </a:xfrm>
          <a:prstGeom prst="roundRect">
            <a:avLst>
              <a:gd name="adj" fmla="val 4706"/>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0" name="Shape 7"/>
          <p:cNvSpPr/>
          <p:nvPr/>
        </p:nvSpPr>
        <p:spPr>
          <a:xfrm>
            <a:off x="6437376" y="1901952"/>
            <a:ext cx="621792" cy="621792"/>
          </a:xfrm>
          <a:prstGeom prst="ellipse">
            <a:avLst/>
          </a:prstGeom>
          <a:solidFill>
            <a:srgbClr val="F0A500"/>
          </a:solidFill>
          <a:ln/>
          <a:effectLst>
            <a:outerShdw sx="100000" sy="100000" kx="0" ky="0" algn="bl" rotWithShape="0" blurRad="114300" dist="38100" dir="5400000">
              <a:srgbClr val="0B1437">
                <a:alpha val="10000"/>
              </a:srgbClr>
            </a:outerShdw>
          </a:effectLst>
        </p:spPr>
      </p:sp>
      <p:pic>
        <p:nvPicPr>
          <p:cNvPr id="11" name="Image 1" descr="preencoded.png">    </p:cNvPr>
          <p:cNvPicPr>
            <a:picLocks noChangeAspect="1"/>
          </p:cNvPicPr>
          <p:nvPr/>
        </p:nvPicPr>
        <p:blipFill>
          <a:blip r:embed="rId2"/>
          <a:stretch>
            <a:fillRect/>
          </a:stretch>
        </p:blipFill>
        <p:spPr>
          <a:xfrm>
            <a:off x="6623914" y="2088490"/>
            <a:ext cx="248717" cy="248717"/>
          </a:xfrm>
          <a:prstGeom prst="rect">
            <a:avLst/>
          </a:prstGeom>
        </p:spPr>
      </p:pic>
      <p:sp>
        <p:nvSpPr>
          <p:cNvPr id="12" name="Text 8"/>
          <p:cNvSpPr/>
          <p:nvPr/>
        </p:nvSpPr>
        <p:spPr>
          <a:xfrm>
            <a:off x="7278624" y="1883664"/>
            <a:ext cx="3849624" cy="310896"/>
          </a:xfrm>
          <a:prstGeom prst="rect">
            <a:avLst/>
          </a:prstGeom>
          <a:noFill/>
          <a:ln/>
        </p:spPr>
        <p:txBody>
          <a:bodyPr wrap="square" lIns="0" tIns="0" rIns="0" bIns="0" rtlCol="0" anchor="ctr"/>
          <a:lstStyle/>
          <a:p>
            <a:pPr indent="0" marL="0">
              <a:buNone/>
            </a:pPr>
            <a:r>
              <a:rPr lang="en-US" sz="1550" b="1" dirty="0">
                <a:solidFill>
                  <a:srgbClr val="0B1437"/>
                </a:solidFill>
                <a:latin typeface="Aptos" pitchFamily="34" charset="0"/>
                <a:ea typeface="Aptos" pitchFamily="34" charset="-122"/>
                <a:cs typeface="Aptos" pitchFamily="34" charset="-120"/>
              </a:rPr>
              <a:t>Check the facts that matter</a:t>
            </a:r>
            <a:endParaRPr lang="en-US" sz="1550" dirty="0"/>
          </a:p>
        </p:txBody>
      </p:sp>
      <p:sp>
        <p:nvSpPr>
          <p:cNvPr id="13" name="Text 9"/>
          <p:cNvSpPr/>
          <p:nvPr/>
        </p:nvSpPr>
        <p:spPr>
          <a:xfrm>
            <a:off x="7278624" y="2212848"/>
            <a:ext cx="3803904" cy="86868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It can be confidently wrong. For numbers, names, and commitments, verify before you forward.</a:t>
            </a:r>
            <a:endParaRPr lang="en-US" sz="1200" dirty="0"/>
          </a:p>
        </p:txBody>
      </p:sp>
      <p:sp>
        <p:nvSpPr>
          <p:cNvPr id="14" name="Shape 10"/>
          <p:cNvSpPr/>
          <p:nvPr/>
        </p:nvSpPr>
        <p:spPr>
          <a:xfrm>
            <a:off x="822960" y="3346704"/>
            <a:ext cx="5175504" cy="1554480"/>
          </a:xfrm>
          <a:prstGeom prst="roundRect">
            <a:avLst>
              <a:gd name="adj" fmla="val 4706"/>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5" name="Shape 11"/>
          <p:cNvSpPr/>
          <p:nvPr/>
        </p:nvSpPr>
        <p:spPr>
          <a:xfrm>
            <a:off x="1097280" y="3621024"/>
            <a:ext cx="621792" cy="621792"/>
          </a:xfrm>
          <a:prstGeom prst="ellipse">
            <a:avLst/>
          </a:prstGeom>
          <a:solidFill>
            <a:srgbClr val="7C5CFC"/>
          </a:solidFill>
          <a:ln/>
          <a:effectLst>
            <a:outerShdw sx="100000" sy="100000" kx="0" ky="0" algn="bl" rotWithShape="0" blurRad="114300" dist="38100" dir="5400000">
              <a:srgbClr val="0B1437">
                <a:alpha val="10000"/>
              </a:srgbClr>
            </a:outerShdw>
          </a:effectLst>
        </p:spPr>
      </p:sp>
      <p:pic>
        <p:nvPicPr>
          <p:cNvPr id="16" name="Image 2" descr="preencoded.png">    </p:cNvPr>
          <p:cNvPicPr>
            <a:picLocks noChangeAspect="1"/>
          </p:cNvPicPr>
          <p:nvPr/>
        </p:nvPicPr>
        <p:blipFill>
          <a:blip r:embed="rId3"/>
          <a:stretch>
            <a:fillRect/>
          </a:stretch>
        </p:blipFill>
        <p:spPr>
          <a:xfrm>
            <a:off x="1283818" y="3807562"/>
            <a:ext cx="248717" cy="248717"/>
          </a:xfrm>
          <a:prstGeom prst="rect">
            <a:avLst/>
          </a:prstGeom>
        </p:spPr>
      </p:pic>
      <p:sp>
        <p:nvSpPr>
          <p:cNvPr id="17" name="Text 12"/>
          <p:cNvSpPr/>
          <p:nvPr/>
        </p:nvSpPr>
        <p:spPr>
          <a:xfrm>
            <a:off x="1938528" y="3602736"/>
            <a:ext cx="3849624" cy="310896"/>
          </a:xfrm>
          <a:prstGeom prst="rect">
            <a:avLst/>
          </a:prstGeom>
          <a:noFill/>
          <a:ln/>
        </p:spPr>
        <p:txBody>
          <a:bodyPr wrap="square" lIns="0" tIns="0" rIns="0" bIns="0" rtlCol="0" anchor="ctr"/>
          <a:lstStyle/>
          <a:p>
            <a:pPr indent="0" marL="0">
              <a:buNone/>
            </a:pPr>
            <a:r>
              <a:rPr lang="en-US" sz="1550" b="1" dirty="0">
                <a:solidFill>
                  <a:srgbClr val="0B1437"/>
                </a:solidFill>
                <a:latin typeface="Aptos" pitchFamily="34" charset="0"/>
                <a:ea typeface="Aptos" pitchFamily="34" charset="-122"/>
                <a:cs typeface="Aptos" pitchFamily="34" charset="-120"/>
              </a:rPr>
              <a:t>Only as good as the input</a:t>
            </a:r>
            <a:endParaRPr lang="en-US" sz="1550" dirty="0"/>
          </a:p>
        </p:txBody>
      </p:sp>
      <p:sp>
        <p:nvSpPr>
          <p:cNvPr id="18" name="Text 13"/>
          <p:cNvSpPr/>
          <p:nvPr/>
        </p:nvSpPr>
        <p:spPr>
          <a:xfrm>
            <a:off x="1938528" y="3931920"/>
            <a:ext cx="3803904" cy="86868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Vague prompts and messy files give vague answers. The four-part formula fixes most of it.</a:t>
            </a:r>
            <a:endParaRPr lang="en-US" sz="1200" dirty="0"/>
          </a:p>
        </p:txBody>
      </p:sp>
      <p:sp>
        <p:nvSpPr>
          <p:cNvPr id="19" name="Shape 14"/>
          <p:cNvSpPr/>
          <p:nvPr/>
        </p:nvSpPr>
        <p:spPr>
          <a:xfrm>
            <a:off x="6163056" y="3346704"/>
            <a:ext cx="5175504" cy="1554480"/>
          </a:xfrm>
          <a:prstGeom prst="roundRect">
            <a:avLst>
              <a:gd name="adj" fmla="val 4706"/>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0" name="Shape 15"/>
          <p:cNvSpPr/>
          <p:nvPr/>
        </p:nvSpPr>
        <p:spPr>
          <a:xfrm>
            <a:off x="6437376" y="3621024"/>
            <a:ext cx="621792" cy="621792"/>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21" name="Image 3" descr="preencoded.png">    </p:cNvPr>
          <p:cNvPicPr>
            <a:picLocks noChangeAspect="1"/>
          </p:cNvPicPr>
          <p:nvPr/>
        </p:nvPicPr>
        <p:blipFill>
          <a:blip r:embed="rId4"/>
          <a:stretch>
            <a:fillRect/>
          </a:stretch>
        </p:blipFill>
        <p:spPr>
          <a:xfrm>
            <a:off x="6623914" y="3807562"/>
            <a:ext cx="248717" cy="248717"/>
          </a:xfrm>
          <a:prstGeom prst="rect">
            <a:avLst/>
          </a:prstGeom>
        </p:spPr>
      </p:pic>
      <p:sp>
        <p:nvSpPr>
          <p:cNvPr id="22" name="Text 16"/>
          <p:cNvSpPr/>
          <p:nvPr/>
        </p:nvSpPr>
        <p:spPr>
          <a:xfrm>
            <a:off x="7278624" y="3602736"/>
            <a:ext cx="3849624" cy="310896"/>
          </a:xfrm>
          <a:prstGeom prst="rect">
            <a:avLst/>
          </a:prstGeom>
          <a:noFill/>
          <a:ln/>
        </p:spPr>
        <p:txBody>
          <a:bodyPr wrap="square" lIns="0" tIns="0" rIns="0" bIns="0" rtlCol="0" anchor="ctr"/>
          <a:lstStyle/>
          <a:p>
            <a:pPr indent="0" marL="0">
              <a:buNone/>
            </a:pPr>
            <a:r>
              <a:rPr lang="en-US" sz="1550" b="1" dirty="0">
                <a:solidFill>
                  <a:srgbClr val="0B1437"/>
                </a:solidFill>
                <a:latin typeface="Aptos" pitchFamily="34" charset="0"/>
                <a:ea typeface="Aptos" pitchFamily="34" charset="-122"/>
                <a:cs typeface="Aptos" pitchFamily="34" charset="-120"/>
              </a:rPr>
              <a:t>It is getting better fast</a:t>
            </a:r>
            <a:endParaRPr lang="en-US" sz="1550" dirty="0"/>
          </a:p>
        </p:txBody>
      </p:sp>
      <p:sp>
        <p:nvSpPr>
          <p:cNvPr id="23" name="Text 17"/>
          <p:cNvSpPr/>
          <p:nvPr/>
        </p:nvSpPr>
        <p:spPr>
          <a:xfrm>
            <a:off x="7278624" y="3931920"/>
            <a:ext cx="3803904" cy="868680"/>
          </a:xfrm>
          <a:prstGeom prst="rect">
            <a:avLst/>
          </a:prstGeom>
          <a:noFill/>
          <a:ln/>
        </p:spPr>
        <p:txBody>
          <a:bodyPr wrap="square" lIns="0" tIns="0" rIns="0" bIns="0" rtlCol="0" anchor="t"/>
          <a:lstStyle/>
          <a:p>
            <a:pPr indent="0" marL="0">
              <a:lnSpc>
                <a:spcPct val="110000"/>
              </a:lnSpc>
              <a:buNone/>
            </a:pPr>
            <a:r>
              <a:rPr lang="en-US" sz="1200" dirty="0">
                <a:solidFill>
                  <a:srgbClr val="43507B"/>
                </a:solidFill>
                <a:latin typeface="Aptos" pitchFamily="34" charset="0"/>
                <a:ea typeface="Aptos" pitchFamily="34" charset="-122"/>
                <a:cs typeface="Aptos" pitchFamily="34" charset="-120"/>
              </a:rPr>
              <a:t>Capabilities change month to month. If something felt limited in the spring, look again.</a:t>
            </a:r>
            <a:endParaRPr lang="en-US" sz="1200" dirty="0"/>
          </a:p>
        </p:txBody>
      </p:sp>
      <p:sp>
        <p:nvSpPr>
          <p:cNvPr id="24" name="Shape 18"/>
          <p:cNvSpPr/>
          <p:nvPr/>
        </p:nvSpPr>
        <p:spPr>
          <a:xfrm>
            <a:off x="822960" y="5175504"/>
            <a:ext cx="10515600" cy="731520"/>
          </a:xfrm>
          <a:prstGeom prst="roundRect">
            <a:avLst>
              <a:gd name="adj" fmla="val 11250"/>
            </a:avLst>
          </a:prstGeom>
          <a:solidFill>
            <a:srgbClr val="111C44"/>
          </a:solidFill>
          <a:ln/>
        </p:spPr>
      </p:sp>
      <p:sp>
        <p:nvSpPr>
          <p:cNvPr id="25" name="Shape 19"/>
          <p:cNvSpPr/>
          <p:nvPr/>
        </p:nvSpPr>
        <p:spPr>
          <a:xfrm>
            <a:off x="822960" y="5285232"/>
            <a:ext cx="64008" cy="512064"/>
          </a:xfrm>
          <a:prstGeom prst="rect">
            <a:avLst/>
          </a:prstGeom>
          <a:solidFill>
            <a:srgbClr val="F0A500"/>
          </a:solidFill>
          <a:ln/>
        </p:spPr>
      </p:sp>
      <p:sp>
        <p:nvSpPr>
          <p:cNvPr id="26" name="Text 20"/>
          <p:cNvSpPr/>
          <p:nvPr/>
        </p:nvSpPr>
        <p:spPr>
          <a:xfrm>
            <a:off x="1143000" y="5175504"/>
            <a:ext cx="10058400" cy="731520"/>
          </a:xfrm>
          <a:prstGeom prst="rect">
            <a:avLst/>
          </a:prstGeom>
          <a:noFill/>
          <a:ln/>
        </p:spPr>
        <p:txBody>
          <a:bodyPr wrap="square" lIns="0" tIns="0" rIns="0" bIns="0" rtlCol="0" anchor="ctr"/>
          <a:lstStyle/>
          <a:p>
            <a:pPr indent="0" marL="0">
              <a:buNone/>
            </a:pPr>
            <a:r>
              <a:rPr lang="en-US" sz="1550" b="1" dirty="0">
                <a:solidFill>
                  <a:srgbClr val="FFFFFF"/>
                </a:solidFill>
                <a:latin typeface="Aptos" pitchFamily="34" charset="0"/>
                <a:ea typeface="Aptos" pitchFamily="34" charset="-122"/>
                <a:cs typeface="Aptos" pitchFamily="34" charset="-120"/>
              </a:rPr>
              <a:t>Copilot writes the first draft. You still sign your name to it.</a:t>
            </a:r>
            <a:endParaRPr lang="en-US" sz="1550" dirty="0"/>
          </a:p>
        </p:txBody>
      </p:sp>
      <p:sp>
        <p:nvSpPr>
          <p:cNvPr id="27" name="Text 21"/>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Close</a:t>
            </a:r>
            <a:endParaRPr lang="en-US" sz="900" dirty="0"/>
          </a:p>
        </p:txBody>
      </p:sp>
      <p:sp>
        <p:nvSpPr>
          <p:cNvPr id="28" name="Text 22"/>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15</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E"/>
        </a:solidFill>
      </p:bgPr>
    </p:bg>
    <p:spTree>
      <p:nvGrpSpPr>
        <p:cNvPr id="1" name=""/>
        <p:cNvGrpSpPr/>
        <p:nvPr/>
      </p:nvGrpSpPr>
      <p:grpSpPr>
        <a:xfrm>
          <a:off x="0" y="0"/>
          <a:ext cx="0" cy="0"/>
          <a:chOff x="0" y="0"/>
          <a:chExt cx="0" cy="0"/>
        </a:xfrm>
      </p:grpSpPr>
      <p:sp>
        <p:nvSpPr>
          <p:cNvPr id="2" name="Text 0"/>
          <p:cNvSpPr/>
          <p:nvPr/>
        </p:nvSpPr>
        <p:spPr>
          <a:xfrm>
            <a:off x="822960" y="603504"/>
            <a:ext cx="8229600" cy="274320"/>
          </a:xfrm>
          <a:prstGeom prst="rect">
            <a:avLst/>
          </a:prstGeom>
          <a:noFill/>
          <a:ln/>
        </p:spPr>
        <p:txBody>
          <a:bodyPr wrap="square" lIns="0" tIns="0" rIns="0" bIns="0" rtlCol="0" anchor="ctr"/>
          <a:lstStyle/>
          <a:p>
            <a:pPr algn="l" indent="0" marL="0">
              <a:buNone/>
            </a:pPr>
            <a:r>
              <a:rPr lang="en-US" sz="1200" b="1" spc="300" kern="0" dirty="0">
                <a:solidFill>
                  <a:srgbClr val="12B886"/>
                </a:solidFill>
                <a:latin typeface="Aptos" pitchFamily="34" charset="0"/>
                <a:ea typeface="Aptos" pitchFamily="34" charset="-122"/>
                <a:cs typeface="Aptos" pitchFamily="34" charset="-120"/>
              </a:rPr>
              <a:t>BUILD THE HABIT</a:t>
            </a:r>
            <a:endParaRPr lang="en-US" sz="1200" dirty="0"/>
          </a:p>
        </p:txBody>
      </p:sp>
      <p:sp>
        <p:nvSpPr>
          <p:cNvPr id="3" name="Text 1"/>
          <p:cNvSpPr/>
          <p:nvPr/>
        </p:nvSpPr>
        <p:spPr>
          <a:xfrm>
            <a:off x="786384" y="914400"/>
            <a:ext cx="10058400" cy="548640"/>
          </a:xfrm>
          <a:prstGeom prst="rect">
            <a:avLst/>
          </a:prstGeom>
          <a:noFill/>
          <a:ln/>
        </p:spPr>
        <p:txBody>
          <a:bodyPr wrap="square" lIns="0" tIns="0" rIns="0" bIns="0" rtlCol="0" anchor="ctr"/>
          <a:lstStyle/>
          <a:p>
            <a:pPr indent="0" marL="0">
              <a:buNone/>
            </a:pPr>
            <a:r>
              <a:rPr lang="en-US" sz="3100" b="1" dirty="0">
                <a:solidFill>
                  <a:srgbClr val="0B1437"/>
                </a:solidFill>
                <a:latin typeface="Aptos" pitchFamily="34" charset="0"/>
                <a:ea typeface="Aptos" pitchFamily="34" charset="-122"/>
                <a:cs typeface="Aptos" pitchFamily="34" charset="-120"/>
              </a:rPr>
              <a:t>Your first 30 days</a:t>
            </a:r>
            <a:endParaRPr lang="en-US" sz="3100" dirty="0"/>
          </a:p>
        </p:txBody>
      </p:sp>
      <p:sp>
        <p:nvSpPr>
          <p:cNvPr id="4" name="Text 2"/>
          <p:cNvSpPr/>
          <p:nvPr/>
        </p:nvSpPr>
        <p:spPr>
          <a:xfrm>
            <a:off x="822960" y="1499616"/>
            <a:ext cx="10607040" cy="365760"/>
          </a:xfrm>
          <a:prstGeom prst="rect">
            <a:avLst/>
          </a:prstGeom>
          <a:noFill/>
          <a:ln/>
        </p:spPr>
        <p:txBody>
          <a:bodyPr wrap="square" lIns="0" tIns="0" rIns="0" bIns="0" rtlCol="0" anchor="ctr"/>
          <a:lstStyle/>
          <a:p>
            <a:pPr indent="0" marL="0">
              <a:buNone/>
            </a:pPr>
            <a:r>
              <a:rPr lang="en-US" sz="1400" dirty="0">
                <a:solidFill>
                  <a:srgbClr val="43507B"/>
                </a:solidFill>
                <a:latin typeface="Aptos" pitchFamily="34" charset="0"/>
                <a:ea typeface="Aptos" pitchFamily="34" charset="-122"/>
                <a:cs typeface="Aptos" pitchFamily="34" charset="-120"/>
              </a:rPr>
              <a:t>Adoption dies without a habit. Four weeks, one focus each. Fifteen minutes a day beats a training marathon.</a:t>
            </a:r>
            <a:endParaRPr lang="en-US" sz="1400" dirty="0"/>
          </a:p>
        </p:txBody>
      </p:sp>
      <p:sp>
        <p:nvSpPr>
          <p:cNvPr id="5" name="Shape 3"/>
          <p:cNvSpPr/>
          <p:nvPr/>
        </p:nvSpPr>
        <p:spPr>
          <a:xfrm>
            <a:off x="822960" y="2029968"/>
            <a:ext cx="2615184" cy="2651760"/>
          </a:xfrm>
          <a:prstGeom prst="roundRect">
            <a:avLst>
              <a:gd name="adj" fmla="val 3497"/>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6" name="Shape 4"/>
          <p:cNvSpPr/>
          <p:nvPr/>
        </p:nvSpPr>
        <p:spPr>
          <a:xfrm>
            <a:off x="822960" y="2029968"/>
            <a:ext cx="2615184" cy="621792"/>
          </a:xfrm>
          <a:prstGeom prst="rect">
            <a:avLst/>
          </a:prstGeom>
          <a:solidFill>
            <a:srgbClr val="0B1437"/>
          </a:solidFill>
          <a:ln/>
        </p:spPr>
      </p:sp>
      <p:sp>
        <p:nvSpPr>
          <p:cNvPr id="7" name="Shape 5"/>
          <p:cNvSpPr/>
          <p:nvPr/>
        </p:nvSpPr>
        <p:spPr>
          <a:xfrm>
            <a:off x="822960" y="2029968"/>
            <a:ext cx="2615184" cy="82296"/>
          </a:xfrm>
          <a:prstGeom prst="rect">
            <a:avLst/>
          </a:prstGeom>
          <a:solidFill>
            <a:srgbClr val="2D6CDF"/>
          </a:solidFill>
          <a:ln/>
        </p:spPr>
      </p:sp>
      <p:sp>
        <p:nvSpPr>
          <p:cNvPr id="8" name="Text 6"/>
          <p:cNvSpPr/>
          <p:nvPr/>
        </p:nvSpPr>
        <p:spPr>
          <a:xfrm>
            <a:off x="1024128" y="2139696"/>
            <a:ext cx="2249424" cy="438912"/>
          </a:xfrm>
          <a:prstGeom prst="rect">
            <a:avLst/>
          </a:prstGeom>
          <a:noFill/>
          <a:ln/>
        </p:spPr>
        <p:txBody>
          <a:bodyPr wrap="square" lIns="0" tIns="0" rIns="0" bIns="0" rtlCol="0" anchor="ctr"/>
          <a:lstStyle/>
          <a:p>
            <a:pPr indent="0" marL="0">
              <a:buNone/>
            </a:pPr>
            <a:r>
              <a:rPr lang="en-US" sz="1200" b="1" spc="200" kern="0" dirty="0">
                <a:solidFill>
                  <a:srgbClr val="FFFFFF"/>
                </a:solidFill>
                <a:latin typeface="Aptos" pitchFamily="34" charset="0"/>
                <a:ea typeface="Aptos" pitchFamily="34" charset="-122"/>
                <a:cs typeface="Aptos" pitchFamily="34" charset="-120"/>
              </a:rPr>
              <a:t>WEEK 1</a:t>
            </a:r>
            <a:endParaRPr lang="en-US" sz="1200" dirty="0"/>
          </a:p>
        </p:txBody>
      </p:sp>
      <p:sp>
        <p:nvSpPr>
          <p:cNvPr id="9" name="Text 7"/>
          <p:cNvSpPr/>
          <p:nvPr/>
        </p:nvSpPr>
        <p:spPr>
          <a:xfrm>
            <a:off x="1024128" y="2779776"/>
            <a:ext cx="2212848" cy="457200"/>
          </a:xfrm>
          <a:prstGeom prst="rect">
            <a:avLst/>
          </a:prstGeom>
          <a:noFill/>
          <a:ln/>
        </p:spPr>
        <p:txBody>
          <a:bodyPr wrap="square" lIns="0" tIns="0" rIns="0" bIns="0" rtlCol="0" anchor="t"/>
          <a:lstStyle/>
          <a:p>
            <a:pPr indent="0" marL="0">
              <a:buNone/>
            </a:pPr>
            <a:r>
              <a:rPr lang="en-US" sz="1600" b="1" dirty="0">
                <a:solidFill>
                  <a:srgbClr val="2D6CDF"/>
                </a:solidFill>
                <a:latin typeface="Aptos" pitchFamily="34" charset="0"/>
                <a:ea typeface="Aptos" pitchFamily="34" charset="-122"/>
                <a:cs typeface="Aptos" pitchFamily="34" charset="-120"/>
              </a:rPr>
              <a:t>Find it</a:t>
            </a:r>
            <a:endParaRPr lang="en-US" sz="1600" dirty="0"/>
          </a:p>
        </p:txBody>
      </p:sp>
      <p:sp>
        <p:nvSpPr>
          <p:cNvPr id="10" name="Text 8"/>
          <p:cNvSpPr/>
          <p:nvPr/>
        </p:nvSpPr>
        <p:spPr>
          <a:xfrm>
            <a:off x="1024128" y="3291840"/>
            <a:ext cx="2212848" cy="1280160"/>
          </a:xfrm>
          <a:prstGeom prst="rect">
            <a:avLst/>
          </a:prstGeom>
          <a:noFill/>
          <a:ln/>
        </p:spPr>
        <p:txBody>
          <a:bodyPr wrap="square" lIns="0" tIns="0" rIns="0" bIns="0" rtlCol="0" anchor="t"/>
          <a:lstStyle/>
          <a:p>
            <a:pPr indent="0" marL="0">
              <a:lnSpc>
                <a:spcPct val="114000"/>
              </a:lnSpc>
              <a:buNone/>
            </a:pPr>
            <a:r>
              <a:rPr lang="en-US" sz="1200" dirty="0">
                <a:solidFill>
                  <a:srgbClr val="43507B"/>
                </a:solidFill>
                <a:latin typeface="Aptos" pitchFamily="34" charset="0"/>
                <a:ea typeface="Aptos" pitchFamily="34" charset="-122"/>
                <a:cs typeface="Aptos" pitchFamily="34" charset="-120"/>
              </a:rPr>
              <a:t>One win a day. Catch up on a thread, summarize your inbox, prep one meeting.</a:t>
            </a:r>
            <a:endParaRPr lang="en-US" sz="1200" dirty="0"/>
          </a:p>
        </p:txBody>
      </p:sp>
      <p:sp>
        <p:nvSpPr>
          <p:cNvPr id="11" name="Shape 9"/>
          <p:cNvSpPr/>
          <p:nvPr/>
        </p:nvSpPr>
        <p:spPr>
          <a:xfrm>
            <a:off x="3602736" y="2029968"/>
            <a:ext cx="2615184" cy="2651760"/>
          </a:xfrm>
          <a:prstGeom prst="roundRect">
            <a:avLst>
              <a:gd name="adj" fmla="val 3497"/>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2" name="Shape 10"/>
          <p:cNvSpPr/>
          <p:nvPr/>
        </p:nvSpPr>
        <p:spPr>
          <a:xfrm>
            <a:off x="3602736" y="2029968"/>
            <a:ext cx="2615184" cy="621792"/>
          </a:xfrm>
          <a:prstGeom prst="rect">
            <a:avLst/>
          </a:prstGeom>
          <a:solidFill>
            <a:srgbClr val="0B1437"/>
          </a:solidFill>
          <a:ln/>
        </p:spPr>
      </p:sp>
      <p:sp>
        <p:nvSpPr>
          <p:cNvPr id="13" name="Shape 11"/>
          <p:cNvSpPr/>
          <p:nvPr/>
        </p:nvSpPr>
        <p:spPr>
          <a:xfrm>
            <a:off x="3602736" y="2029968"/>
            <a:ext cx="2615184" cy="82296"/>
          </a:xfrm>
          <a:prstGeom prst="rect">
            <a:avLst/>
          </a:prstGeom>
          <a:solidFill>
            <a:srgbClr val="7C5CFC"/>
          </a:solidFill>
          <a:ln/>
        </p:spPr>
      </p:sp>
      <p:sp>
        <p:nvSpPr>
          <p:cNvPr id="14" name="Text 12"/>
          <p:cNvSpPr/>
          <p:nvPr/>
        </p:nvSpPr>
        <p:spPr>
          <a:xfrm>
            <a:off x="3803904" y="2139696"/>
            <a:ext cx="2249424" cy="438912"/>
          </a:xfrm>
          <a:prstGeom prst="rect">
            <a:avLst/>
          </a:prstGeom>
          <a:noFill/>
          <a:ln/>
        </p:spPr>
        <p:txBody>
          <a:bodyPr wrap="square" lIns="0" tIns="0" rIns="0" bIns="0" rtlCol="0" anchor="ctr"/>
          <a:lstStyle/>
          <a:p>
            <a:pPr indent="0" marL="0">
              <a:buNone/>
            </a:pPr>
            <a:r>
              <a:rPr lang="en-US" sz="1200" b="1" spc="200" kern="0" dirty="0">
                <a:solidFill>
                  <a:srgbClr val="FFFFFF"/>
                </a:solidFill>
                <a:latin typeface="Aptos" pitchFamily="34" charset="0"/>
                <a:ea typeface="Aptos" pitchFamily="34" charset="-122"/>
                <a:cs typeface="Aptos" pitchFamily="34" charset="-120"/>
              </a:rPr>
              <a:t>WEEK 2</a:t>
            </a:r>
            <a:endParaRPr lang="en-US" sz="1200" dirty="0"/>
          </a:p>
        </p:txBody>
      </p:sp>
      <p:sp>
        <p:nvSpPr>
          <p:cNvPr id="15" name="Text 13"/>
          <p:cNvSpPr/>
          <p:nvPr/>
        </p:nvSpPr>
        <p:spPr>
          <a:xfrm>
            <a:off x="3803904" y="2779776"/>
            <a:ext cx="2212848" cy="457200"/>
          </a:xfrm>
          <a:prstGeom prst="rect">
            <a:avLst/>
          </a:prstGeom>
          <a:noFill/>
          <a:ln/>
        </p:spPr>
        <p:txBody>
          <a:bodyPr wrap="square" lIns="0" tIns="0" rIns="0" bIns="0" rtlCol="0" anchor="t"/>
          <a:lstStyle/>
          <a:p>
            <a:pPr indent="0" marL="0">
              <a:buNone/>
            </a:pPr>
            <a:r>
              <a:rPr lang="en-US" sz="1600" b="1" dirty="0">
                <a:solidFill>
                  <a:srgbClr val="7C5CFC"/>
                </a:solidFill>
                <a:latin typeface="Aptos" pitchFamily="34" charset="0"/>
                <a:ea typeface="Aptos" pitchFamily="34" charset="-122"/>
                <a:cs typeface="Aptos" pitchFamily="34" charset="-120"/>
              </a:rPr>
              <a:t>Inbox + meetings</a:t>
            </a:r>
            <a:endParaRPr lang="en-US" sz="1600" dirty="0"/>
          </a:p>
        </p:txBody>
      </p:sp>
      <p:sp>
        <p:nvSpPr>
          <p:cNvPr id="16" name="Text 14"/>
          <p:cNvSpPr/>
          <p:nvPr/>
        </p:nvSpPr>
        <p:spPr>
          <a:xfrm>
            <a:off x="3803904" y="3291840"/>
            <a:ext cx="2212848" cy="1280160"/>
          </a:xfrm>
          <a:prstGeom prst="rect">
            <a:avLst/>
          </a:prstGeom>
          <a:noFill/>
          <a:ln/>
        </p:spPr>
        <p:txBody>
          <a:bodyPr wrap="square" lIns="0" tIns="0" rIns="0" bIns="0" rtlCol="0" anchor="t"/>
          <a:lstStyle/>
          <a:p>
            <a:pPr indent="0" marL="0">
              <a:lnSpc>
                <a:spcPct val="114000"/>
              </a:lnSpc>
              <a:buNone/>
            </a:pPr>
            <a:r>
              <a:rPr lang="en-US" sz="1200" dirty="0">
                <a:solidFill>
                  <a:srgbClr val="43507B"/>
                </a:solidFill>
                <a:latin typeface="Aptos" pitchFamily="34" charset="0"/>
                <a:ea typeface="Aptos" pitchFamily="34" charset="-122"/>
                <a:cs typeface="Aptos" pitchFamily="34" charset="-120"/>
              </a:rPr>
              <a:t>Run your day through it. Turn every meeting into decisions and owners.</a:t>
            </a:r>
            <a:endParaRPr lang="en-US" sz="1200" dirty="0"/>
          </a:p>
        </p:txBody>
      </p:sp>
      <p:sp>
        <p:nvSpPr>
          <p:cNvPr id="17" name="Shape 15"/>
          <p:cNvSpPr/>
          <p:nvPr/>
        </p:nvSpPr>
        <p:spPr>
          <a:xfrm>
            <a:off x="6382512" y="2029968"/>
            <a:ext cx="2615184" cy="2651760"/>
          </a:xfrm>
          <a:prstGeom prst="roundRect">
            <a:avLst>
              <a:gd name="adj" fmla="val 3497"/>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18" name="Shape 16"/>
          <p:cNvSpPr/>
          <p:nvPr/>
        </p:nvSpPr>
        <p:spPr>
          <a:xfrm>
            <a:off x="6382512" y="2029968"/>
            <a:ext cx="2615184" cy="621792"/>
          </a:xfrm>
          <a:prstGeom prst="rect">
            <a:avLst/>
          </a:prstGeom>
          <a:solidFill>
            <a:srgbClr val="0B1437"/>
          </a:solidFill>
          <a:ln/>
        </p:spPr>
      </p:sp>
      <p:sp>
        <p:nvSpPr>
          <p:cNvPr id="19" name="Shape 17"/>
          <p:cNvSpPr/>
          <p:nvPr/>
        </p:nvSpPr>
        <p:spPr>
          <a:xfrm>
            <a:off x="6382512" y="2029968"/>
            <a:ext cx="2615184" cy="82296"/>
          </a:xfrm>
          <a:prstGeom prst="rect">
            <a:avLst/>
          </a:prstGeom>
          <a:solidFill>
            <a:srgbClr val="12B5BC"/>
          </a:solidFill>
          <a:ln/>
        </p:spPr>
      </p:sp>
      <p:sp>
        <p:nvSpPr>
          <p:cNvPr id="20" name="Text 18"/>
          <p:cNvSpPr/>
          <p:nvPr/>
        </p:nvSpPr>
        <p:spPr>
          <a:xfrm>
            <a:off x="6583680" y="2139696"/>
            <a:ext cx="2249424" cy="438912"/>
          </a:xfrm>
          <a:prstGeom prst="rect">
            <a:avLst/>
          </a:prstGeom>
          <a:noFill/>
          <a:ln/>
        </p:spPr>
        <p:txBody>
          <a:bodyPr wrap="square" lIns="0" tIns="0" rIns="0" bIns="0" rtlCol="0" anchor="ctr"/>
          <a:lstStyle/>
          <a:p>
            <a:pPr indent="0" marL="0">
              <a:buNone/>
            </a:pPr>
            <a:r>
              <a:rPr lang="en-US" sz="1200" b="1" spc="200" kern="0" dirty="0">
                <a:solidFill>
                  <a:srgbClr val="FFFFFF"/>
                </a:solidFill>
                <a:latin typeface="Aptos" pitchFamily="34" charset="0"/>
                <a:ea typeface="Aptos" pitchFamily="34" charset="-122"/>
                <a:cs typeface="Aptos" pitchFamily="34" charset="-120"/>
              </a:rPr>
              <a:t>WEEK 3</a:t>
            </a:r>
            <a:endParaRPr lang="en-US" sz="1200" dirty="0"/>
          </a:p>
        </p:txBody>
      </p:sp>
      <p:sp>
        <p:nvSpPr>
          <p:cNvPr id="21" name="Text 19"/>
          <p:cNvSpPr/>
          <p:nvPr/>
        </p:nvSpPr>
        <p:spPr>
          <a:xfrm>
            <a:off x="6583680" y="2779776"/>
            <a:ext cx="2212848" cy="457200"/>
          </a:xfrm>
          <a:prstGeom prst="rect">
            <a:avLst/>
          </a:prstGeom>
          <a:noFill/>
          <a:ln/>
        </p:spPr>
        <p:txBody>
          <a:bodyPr wrap="square" lIns="0" tIns="0" rIns="0" bIns="0" rtlCol="0" anchor="t"/>
          <a:lstStyle/>
          <a:p>
            <a:pPr indent="0" marL="0">
              <a:buNone/>
            </a:pPr>
            <a:r>
              <a:rPr lang="en-US" sz="1600" b="1" dirty="0">
                <a:solidFill>
                  <a:srgbClr val="12B5BC"/>
                </a:solidFill>
                <a:latin typeface="Aptos" pitchFamily="34" charset="0"/>
                <a:ea typeface="Aptos" pitchFamily="34" charset="-122"/>
                <a:cs typeface="Aptos" pitchFamily="34" charset="-120"/>
              </a:rPr>
              <a:t>Your documents</a:t>
            </a:r>
            <a:endParaRPr lang="en-US" sz="1600" dirty="0"/>
          </a:p>
        </p:txBody>
      </p:sp>
      <p:sp>
        <p:nvSpPr>
          <p:cNvPr id="22" name="Text 20"/>
          <p:cNvSpPr/>
          <p:nvPr/>
        </p:nvSpPr>
        <p:spPr>
          <a:xfrm>
            <a:off x="6583680" y="3291840"/>
            <a:ext cx="2212848" cy="1280160"/>
          </a:xfrm>
          <a:prstGeom prst="rect">
            <a:avLst/>
          </a:prstGeom>
          <a:noFill/>
          <a:ln/>
        </p:spPr>
        <p:txBody>
          <a:bodyPr wrap="square" lIns="0" tIns="0" rIns="0" bIns="0" rtlCol="0" anchor="t"/>
          <a:lstStyle/>
          <a:p>
            <a:pPr indent="0" marL="0">
              <a:lnSpc>
                <a:spcPct val="114000"/>
              </a:lnSpc>
              <a:buNone/>
            </a:pPr>
            <a:r>
              <a:rPr lang="en-US" sz="1200" dirty="0">
                <a:solidFill>
                  <a:srgbClr val="43507B"/>
                </a:solidFill>
                <a:latin typeface="Aptos" pitchFamily="34" charset="0"/>
                <a:ea typeface="Aptos" pitchFamily="34" charset="-122"/>
                <a:cs typeface="Aptos" pitchFamily="34" charset="-120"/>
              </a:rPr>
              <a:t>Put it on real work: a report to summarize, a spreadsheet to read, a deck to draft.</a:t>
            </a:r>
            <a:endParaRPr lang="en-US" sz="1200" dirty="0"/>
          </a:p>
        </p:txBody>
      </p:sp>
      <p:sp>
        <p:nvSpPr>
          <p:cNvPr id="23" name="Shape 21"/>
          <p:cNvSpPr/>
          <p:nvPr/>
        </p:nvSpPr>
        <p:spPr>
          <a:xfrm>
            <a:off x="9162288" y="2029968"/>
            <a:ext cx="2615184" cy="2651760"/>
          </a:xfrm>
          <a:prstGeom prst="roundRect">
            <a:avLst>
              <a:gd name="adj" fmla="val 3497"/>
            </a:avLst>
          </a:prstGeom>
          <a:solidFill>
            <a:srgbClr val="FFFFFF"/>
          </a:solidFill>
          <a:ln w="12700">
            <a:solidFill>
              <a:srgbClr val="E4E9F7"/>
            </a:solidFill>
            <a:prstDash val="solid"/>
          </a:ln>
          <a:effectLst>
            <a:outerShdw sx="100000" sy="100000" kx="0" ky="0" algn="bl" rotWithShape="0" blurRad="114300" dist="38100" dir="5400000">
              <a:srgbClr val="0B1437">
                <a:alpha val="10000"/>
              </a:srgbClr>
            </a:outerShdw>
          </a:effectLst>
        </p:spPr>
      </p:sp>
      <p:sp>
        <p:nvSpPr>
          <p:cNvPr id="24" name="Shape 22"/>
          <p:cNvSpPr/>
          <p:nvPr/>
        </p:nvSpPr>
        <p:spPr>
          <a:xfrm>
            <a:off x="9162288" y="2029968"/>
            <a:ext cx="2615184" cy="621792"/>
          </a:xfrm>
          <a:prstGeom prst="rect">
            <a:avLst/>
          </a:prstGeom>
          <a:solidFill>
            <a:srgbClr val="0B1437"/>
          </a:solidFill>
          <a:ln/>
        </p:spPr>
      </p:sp>
      <p:sp>
        <p:nvSpPr>
          <p:cNvPr id="25" name="Shape 23"/>
          <p:cNvSpPr/>
          <p:nvPr/>
        </p:nvSpPr>
        <p:spPr>
          <a:xfrm>
            <a:off x="9162288" y="2029968"/>
            <a:ext cx="2615184" cy="82296"/>
          </a:xfrm>
          <a:prstGeom prst="rect">
            <a:avLst/>
          </a:prstGeom>
          <a:solidFill>
            <a:srgbClr val="F0A500"/>
          </a:solidFill>
          <a:ln/>
        </p:spPr>
      </p:sp>
      <p:sp>
        <p:nvSpPr>
          <p:cNvPr id="26" name="Text 24"/>
          <p:cNvSpPr/>
          <p:nvPr/>
        </p:nvSpPr>
        <p:spPr>
          <a:xfrm>
            <a:off x="9363456" y="2139696"/>
            <a:ext cx="2249424" cy="438912"/>
          </a:xfrm>
          <a:prstGeom prst="rect">
            <a:avLst/>
          </a:prstGeom>
          <a:noFill/>
          <a:ln/>
        </p:spPr>
        <p:txBody>
          <a:bodyPr wrap="square" lIns="0" tIns="0" rIns="0" bIns="0" rtlCol="0" anchor="ctr"/>
          <a:lstStyle/>
          <a:p>
            <a:pPr indent="0" marL="0">
              <a:buNone/>
            </a:pPr>
            <a:r>
              <a:rPr lang="en-US" sz="1200" b="1" spc="200" kern="0" dirty="0">
                <a:solidFill>
                  <a:srgbClr val="FFFFFF"/>
                </a:solidFill>
                <a:latin typeface="Aptos" pitchFamily="34" charset="0"/>
                <a:ea typeface="Aptos" pitchFamily="34" charset="-122"/>
                <a:cs typeface="Aptos" pitchFamily="34" charset="-120"/>
              </a:rPr>
              <a:t>WEEK 4</a:t>
            </a:r>
            <a:endParaRPr lang="en-US" sz="1200" dirty="0"/>
          </a:p>
        </p:txBody>
      </p:sp>
      <p:sp>
        <p:nvSpPr>
          <p:cNvPr id="27" name="Text 25"/>
          <p:cNvSpPr/>
          <p:nvPr/>
        </p:nvSpPr>
        <p:spPr>
          <a:xfrm>
            <a:off x="9363456" y="2779776"/>
            <a:ext cx="2212848" cy="457200"/>
          </a:xfrm>
          <a:prstGeom prst="rect">
            <a:avLst/>
          </a:prstGeom>
          <a:noFill/>
          <a:ln/>
        </p:spPr>
        <p:txBody>
          <a:bodyPr wrap="square" lIns="0" tIns="0" rIns="0" bIns="0" rtlCol="0" anchor="t"/>
          <a:lstStyle/>
          <a:p>
            <a:pPr indent="0" marL="0">
              <a:buNone/>
            </a:pPr>
            <a:r>
              <a:rPr lang="en-US" sz="1600" b="1" dirty="0">
                <a:solidFill>
                  <a:srgbClr val="F0A500"/>
                </a:solidFill>
                <a:latin typeface="Aptos" pitchFamily="34" charset="0"/>
                <a:ea typeface="Aptos" pitchFamily="34" charset="-122"/>
                <a:cs typeface="Aptos" pitchFamily="34" charset="-120"/>
              </a:rPr>
              <a:t>Make it yours</a:t>
            </a:r>
            <a:endParaRPr lang="en-US" sz="1600" dirty="0"/>
          </a:p>
        </p:txBody>
      </p:sp>
      <p:sp>
        <p:nvSpPr>
          <p:cNvPr id="28" name="Text 26"/>
          <p:cNvSpPr/>
          <p:nvPr/>
        </p:nvSpPr>
        <p:spPr>
          <a:xfrm>
            <a:off x="9363456" y="3291840"/>
            <a:ext cx="2212848" cy="1280160"/>
          </a:xfrm>
          <a:prstGeom prst="rect">
            <a:avLst/>
          </a:prstGeom>
          <a:noFill/>
          <a:ln/>
        </p:spPr>
        <p:txBody>
          <a:bodyPr wrap="square" lIns="0" tIns="0" rIns="0" bIns="0" rtlCol="0" anchor="t"/>
          <a:lstStyle/>
          <a:p>
            <a:pPr indent="0" marL="0">
              <a:lnSpc>
                <a:spcPct val="114000"/>
              </a:lnSpc>
              <a:buNone/>
            </a:pPr>
            <a:r>
              <a:rPr lang="en-US" sz="1200" dirty="0">
                <a:solidFill>
                  <a:srgbClr val="43507B"/>
                </a:solidFill>
                <a:latin typeface="Aptos" pitchFamily="34" charset="0"/>
                <a:ea typeface="Aptos" pitchFamily="34" charset="-122"/>
                <a:cs typeface="Aptos" pitchFamily="34" charset="-120"/>
              </a:rPr>
              <a:t>Set personalization, build a Chief of Staff agent, use it for perspective.</a:t>
            </a:r>
            <a:endParaRPr lang="en-US" sz="1200" dirty="0"/>
          </a:p>
        </p:txBody>
      </p:sp>
      <p:sp>
        <p:nvSpPr>
          <p:cNvPr id="29" name="Shape 27"/>
          <p:cNvSpPr/>
          <p:nvPr/>
        </p:nvSpPr>
        <p:spPr>
          <a:xfrm>
            <a:off x="822960" y="4956048"/>
            <a:ext cx="10515600" cy="713232"/>
          </a:xfrm>
          <a:prstGeom prst="roundRect">
            <a:avLst>
              <a:gd name="adj" fmla="val 11538"/>
            </a:avLst>
          </a:prstGeom>
          <a:solidFill>
            <a:srgbClr val="E9FBF3"/>
          </a:solidFill>
          <a:ln w="12700">
            <a:solidFill>
              <a:srgbClr val="BFEBD8"/>
            </a:solidFill>
            <a:prstDash val="solid"/>
          </a:ln>
        </p:spPr>
      </p:sp>
      <p:sp>
        <p:nvSpPr>
          <p:cNvPr id="30" name="Shape 28"/>
          <p:cNvSpPr/>
          <p:nvPr/>
        </p:nvSpPr>
        <p:spPr>
          <a:xfrm>
            <a:off x="1024128" y="5065776"/>
            <a:ext cx="493776" cy="493776"/>
          </a:xfrm>
          <a:prstGeom prst="ellipse">
            <a:avLst/>
          </a:prstGeom>
          <a:solidFill>
            <a:srgbClr val="12B886"/>
          </a:solidFill>
          <a:ln/>
          <a:effectLst>
            <a:outerShdw sx="100000" sy="100000" kx="0" ky="0" algn="bl" rotWithShape="0" blurRad="114300" dist="38100" dir="5400000">
              <a:srgbClr val="0B1437">
                <a:alpha val="10000"/>
              </a:srgbClr>
            </a:outerShdw>
          </a:effectLst>
        </p:spPr>
      </p:sp>
      <p:pic>
        <p:nvPicPr>
          <p:cNvPr id="31" name="Image 0" descr="preencoded.png">    </p:cNvPr>
          <p:cNvPicPr>
            <a:picLocks noChangeAspect="1"/>
          </p:cNvPicPr>
          <p:nvPr/>
        </p:nvPicPr>
        <p:blipFill>
          <a:blip r:embed="rId1"/>
          <a:stretch>
            <a:fillRect/>
          </a:stretch>
        </p:blipFill>
        <p:spPr>
          <a:xfrm>
            <a:off x="1172261" y="5213909"/>
            <a:ext cx="197510" cy="197510"/>
          </a:xfrm>
          <a:prstGeom prst="rect">
            <a:avLst/>
          </a:prstGeom>
        </p:spPr>
      </p:pic>
      <p:sp>
        <p:nvSpPr>
          <p:cNvPr id="32" name="Text 29"/>
          <p:cNvSpPr/>
          <p:nvPr/>
        </p:nvSpPr>
        <p:spPr>
          <a:xfrm>
            <a:off x="1691640" y="4956048"/>
            <a:ext cx="9509760" cy="713232"/>
          </a:xfrm>
          <a:prstGeom prst="rect">
            <a:avLst/>
          </a:prstGeom>
          <a:noFill/>
          <a:ln/>
        </p:spPr>
        <p:txBody>
          <a:bodyPr wrap="square" lIns="0" tIns="0" rIns="0" bIns="0" rtlCol="0" anchor="ctr"/>
          <a:lstStyle/>
          <a:p>
            <a:pPr algn="l" indent="0" marL="0">
              <a:buNone/>
            </a:pPr>
            <a:r>
              <a:rPr lang="en-US" sz="1300" b="1" dirty="0">
                <a:solidFill>
                  <a:srgbClr val="0E7A56"/>
                </a:solidFill>
                <a:latin typeface="Aptos" pitchFamily="34" charset="0"/>
                <a:ea typeface="Aptos" pitchFamily="34" charset="-122"/>
                <a:cs typeface="Aptos" pitchFamily="34" charset="-120"/>
              </a:rPr>
              <a:t>If you work through an assistant, bring them in from day one</a:t>
            </a:r>
            <a:pPr algn="l" indent="0" marL="0">
              <a:buNone/>
            </a:pPr>
            <a:r>
              <a:rPr lang="en-US" sz="1300" dirty="0">
                <a:solidFill>
                  <a:srgbClr val="43507B"/>
                </a:solidFill>
                <a:latin typeface="Aptos" pitchFamily="34" charset="0"/>
                <a:ea typeface="Aptos" pitchFamily="34" charset="-122"/>
                <a:cs typeface="Aptos" pitchFamily="34" charset="-120"/>
              </a:rPr>
              <a:t>  and let them own the daily prep, so you get the summary, not the search.</a:t>
            </a:r>
            <a:endParaRPr lang="en-US" sz="1300" dirty="0"/>
          </a:p>
        </p:txBody>
      </p:sp>
      <p:sp>
        <p:nvSpPr>
          <p:cNvPr id="33" name="Text 30"/>
          <p:cNvSpPr/>
          <p:nvPr/>
        </p:nvSpPr>
        <p:spPr>
          <a:xfrm>
            <a:off x="640080" y="6419088"/>
            <a:ext cx="8229600" cy="274320"/>
          </a:xfrm>
          <a:prstGeom prst="rect">
            <a:avLst/>
          </a:prstGeom>
          <a:noFill/>
          <a:ln/>
        </p:spPr>
        <p:txBody>
          <a:bodyPr wrap="square" lIns="0" tIns="0" rIns="0" bIns="0" rtlCol="0" anchor="ctr"/>
          <a:lstStyle/>
          <a:p>
            <a:pPr algn="l" indent="0" marL="0">
              <a:buNone/>
            </a:pPr>
            <a:r>
              <a:rPr lang="en-US" sz="900" dirty="0">
                <a:solidFill>
                  <a:srgbClr val="8A93B8"/>
                </a:solidFill>
                <a:latin typeface="Aptos" pitchFamily="34" charset="0"/>
                <a:ea typeface="Aptos" pitchFamily="34" charset="-122"/>
                <a:cs typeface="Aptos" pitchFamily="34" charset="-120"/>
              </a:rPr>
              <a:t>Close</a:t>
            </a:r>
            <a:endParaRPr lang="en-US" sz="900" dirty="0"/>
          </a:p>
        </p:txBody>
      </p:sp>
      <p:sp>
        <p:nvSpPr>
          <p:cNvPr id="34" name="Text 31"/>
          <p:cNvSpPr/>
          <p:nvPr/>
        </p:nvSpPr>
        <p:spPr>
          <a:xfrm>
            <a:off x="11155680" y="6419088"/>
            <a:ext cx="640080" cy="274320"/>
          </a:xfrm>
          <a:prstGeom prst="rect">
            <a:avLst/>
          </a:prstGeom>
          <a:noFill/>
          <a:ln/>
        </p:spPr>
        <p:txBody>
          <a:bodyPr wrap="square" lIns="0" tIns="0" rIns="0" bIns="0" rtlCol="0" anchor="ctr"/>
          <a:lstStyle/>
          <a:p>
            <a:pPr algn="r" indent="0" marL="0">
              <a:buNone/>
            </a:pPr>
            <a:r>
              <a:rPr lang="en-US" sz="900" dirty="0">
                <a:solidFill>
                  <a:srgbClr val="8A93B8"/>
                </a:solidFill>
                <a:latin typeface="Aptos" pitchFamily="34" charset="0"/>
                <a:ea typeface="Aptos" pitchFamily="34" charset="-122"/>
                <a:cs typeface="Aptos" pitchFamily="34" charset="-120"/>
              </a:rPr>
              <a:t>16</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437"/>
        </a:solidFill>
      </p:bgPr>
    </p:bg>
    <p:spTree>
      <p:nvGrpSpPr>
        <p:cNvPr id="1" name=""/>
        <p:cNvGrpSpPr/>
        <p:nvPr/>
      </p:nvGrpSpPr>
      <p:grpSpPr>
        <a:xfrm>
          <a:off x="0" y="0"/>
          <a:ext cx="0" cy="0"/>
          <a:chOff x="0" y="0"/>
          <a:chExt cx="0" cy="0"/>
        </a:xfrm>
      </p:grpSpPr>
      <p:sp>
        <p:nvSpPr>
          <p:cNvPr id="2" name="Shape 0"/>
          <p:cNvSpPr/>
          <p:nvPr/>
        </p:nvSpPr>
        <p:spPr>
          <a:xfrm>
            <a:off x="8778240" y="-2194560"/>
            <a:ext cx="5943600" cy="5943600"/>
          </a:xfrm>
          <a:prstGeom prst="ellipse">
            <a:avLst/>
          </a:prstGeom>
          <a:solidFill>
            <a:srgbClr val="2D6CDF">
              <a:alpha val="14000"/>
            </a:srgbClr>
          </a:solidFill>
          <a:ln/>
        </p:spPr>
      </p:sp>
      <p:sp>
        <p:nvSpPr>
          <p:cNvPr id="3" name="Shape 1"/>
          <p:cNvSpPr/>
          <p:nvPr/>
        </p:nvSpPr>
        <p:spPr>
          <a:xfrm>
            <a:off x="10241280" y="3291840"/>
            <a:ext cx="4754880" cy="4754880"/>
          </a:xfrm>
          <a:prstGeom prst="ellipse">
            <a:avLst/>
          </a:prstGeom>
          <a:solidFill>
            <a:srgbClr val="7C5CFC">
              <a:alpha val="12000"/>
            </a:srgbClr>
          </a:solidFill>
          <a:ln/>
        </p:spPr>
      </p:sp>
      <p:sp>
        <p:nvSpPr>
          <p:cNvPr id="4" name="Shape 2"/>
          <p:cNvSpPr/>
          <p:nvPr/>
        </p:nvSpPr>
        <p:spPr>
          <a:xfrm>
            <a:off x="0" y="0"/>
            <a:ext cx="146304" cy="6858000"/>
          </a:xfrm>
          <a:prstGeom prst="rect">
            <a:avLst/>
          </a:prstGeom>
          <a:solidFill>
            <a:srgbClr val="12B5BC"/>
          </a:solidFill>
          <a:ln/>
        </p:spPr>
      </p:sp>
      <p:sp>
        <p:nvSpPr>
          <p:cNvPr id="5" name="Text 3"/>
          <p:cNvSpPr/>
          <p:nvPr/>
        </p:nvSpPr>
        <p:spPr>
          <a:xfrm>
            <a:off x="822960" y="658368"/>
            <a:ext cx="10058400" cy="274320"/>
          </a:xfrm>
          <a:prstGeom prst="rect">
            <a:avLst/>
          </a:prstGeom>
          <a:noFill/>
          <a:ln/>
        </p:spPr>
        <p:txBody>
          <a:bodyPr wrap="square" lIns="0" tIns="0" rIns="0" bIns="0" rtlCol="0" anchor="ctr"/>
          <a:lstStyle/>
          <a:p>
            <a:pPr algn="l" indent="0" marL="0">
              <a:buNone/>
            </a:pPr>
            <a:r>
              <a:rPr lang="en-US" sz="1200" b="1" spc="300" kern="0" dirty="0">
                <a:solidFill>
                  <a:srgbClr val="6FE3E6"/>
                </a:solidFill>
                <a:latin typeface="Aptos" pitchFamily="34" charset="0"/>
                <a:ea typeface="Aptos" pitchFamily="34" charset="-122"/>
                <a:cs typeface="Aptos" pitchFamily="34" charset="-120"/>
              </a:rPr>
              <a:t>THREE THINGS TO TAKE BACK</a:t>
            </a:r>
            <a:endParaRPr lang="en-US" sz="1200" dirty="0"/>
          </a:p>
        </p:txBody>
      </p:sp>
      <p:sp>
        <p:nvSpPr>
          <p:cNvPr id="6" name="Shape 4"/>
          <p:cNvSpPr/>
          <p:nvPr/>
        </p:nvSpPr>
        <p:spPr>
          <a:xfrm>
            <a:off x="822960" y="1207008"/>
            <a:ext cx="10515600" cy="914400"/>
          </a:xfrm>
          <a:prstGeom prst="roundRect">
            <a:avLst>
              <a:gd name="adj" fmla="val 8000"/>
            </a:avLst>
          </a:prstGeom>
          <a:solidFill>
            <a:srgbClr val="111C44"/>
          </a:solidFill>
          <a:ln w="12700">
            <a:solidFill>
              <a:srgbClr val="26326A"/>
            </a:solidFill>
            <a:prstDash val="solid"/>
          </a:ln>
        </p:spPr>
      </p:sp>
      <p:sp>
        <p:nvSpPr>
          <p:cNvPr id="7" name="Shape 5"/>
          <p:cNvSpPr/>
          <p:nvPr/>
        </p:nvSpPr>
        <p:spPr>
          <a:xfrm>
            <a:off x="1051560" y="1408176"/>
            <a:ext cx="512064" cy="512064"/>
          </a:xfrm>
          <a:prstGeom prst="ellipse">
            <a:avLst/>
          </a:prstGeom>
          <a:solidFill>
            <a:srgbClr val="12B5BC"/>
          </a:solidFill>
          <a:ln/>
        </p:spPr>
      </p:sp>
      <p:sp>
        <p:nvSpPr>
          <p:cNvPr id="8" name="Text 6"/>
          <p:cNvSpPr/>
          <p:nvPr/>
        </p:nvSpPr>
        <p:spPr>
          <a:xfrm>
            <a:off x="1051560" y="1408176"/>
            <a:ext cx="512064" cy="512064"/>
          </a:xfrm>
          <a:prstGeom prst="rect">
            <a:avLst/>
          </a:prstGeom>
          <a:noFill/>
          <a:ln/>
        </p:spPr>
        <p:txBody>
          <a:bodyPr wrap="square" lIns="0" tIns="0" rIns="0" bIns="0" rtlCol="0" anchor="ctr"/>
          <a:lstStyle/>
          <a:p>
            <a:pPr algn="ctr" indent="0" marL="0">
              <a:buNone/>
            </a:pPr>
            <a:r>
              <a:rPr lang="en-US" sz="1800" b="1" dirty="0">
                <a:solidFill>
                  <a:srgbClr val="0B1437"/>
                </a:solidFill>
                <a:latin typeface="Aptos" pitchFamily="34" charset="0"/>
                <a:ea typeface="Aptos" pitchFamily="34" charset="-122"/>
                <a:cs typeface="Aptos" pitchFamily="34" charset="-120"/>
              </a:rPr>
              <a:t>1</a:t>
            </a:r>
            <a:endParaRPr lang="en-US" sz="1800" dirty="0"/>
          </a:p>
        </p:txBody>
      </p:sp>
      <p:sp>
        <p:nvSpPr>
          <p:cNvPr id="9" name="Text 7"/>
          <p:cNvSpPr/>
          <p:nvPr/>
        </p:nvSpPr>
        <p:spPr>
          <a:xfrm>
            <a:off x="1783080" y="1325880"/>
            <a:ext cx="9326880" cy="329184"/>
          </a:xfrm>
          <a:prstGeom prst="rect">
            <a:avLst/>
          </a:prstGeom>
          <a:noFill/>
          <a:ln/>
        </p:spPr>
        <p:txBody>
          <a:bodyPr wrap="square" lIns="0" tIns="0" rIns="0" bIns="0" rtlCol="0" anchor="ctr"/>
          <a:lstStyle/>
          <a:p>
            <a:pPr indent="0" marL="0">
              <a:buNone/>
            </a:pPr>
            <a:r>
              <a:rPr lang="en-US" sz="1700" b="1" dirty="0">
                <a:solidFill>
                  <a:srgbClr val="FFFFFF"/>
                </a:solidFill>
                <a:latin typeface="Aptos" pitchFamily="34" charset="0"/>
                <a:ea typeface="Aptos" pitchFamily="34" charset="-122"/>
                <a:cs typeface="Aptos" pitchFamily="34" charset="-120"/>
              </a:rPr>
              <a:t>Make it a habit: ask Copilot first</a:t>
            </a:r>
            <a:endParaRPr lang="en-US" sz="1700" dirty="0"/>
          </a:p>
        </p:txBody>
      </p:sp>
      <p:sp>
        <p:nvSpPr>
          <p:cNvPr id="10" name="Text 8"/>
          <p:cNvSpPr/>
          <p:nvPr/>
        </p:nvSpPr>
        <p:spPr>
          <a:xfrm>
            <a:off x="1783080" y="1664208"/>
            <a:ext cx="9326880" cy="365760"/>
          </a:xfrm>
          <a:prstGeom prst="rect">
            <a:avLst/>
          </a:prstGeom>
          <a:noFill/>
          <a:ln/>
        </p:spPr>
        <p:txBody>
          <a:bodyPr wrap="square" lIns="0" tIns="0" rIns="0" bIns="0" rtlCol="0" anchor="ctr"/>
          <a:lstStyle/>
          <a:p>
            <a:pPr indent="0" marL="0">
              <a:buNone/>
            </a:pPr>
            <a:r>
              <a:rPr lang="en-US" sz="1250" dirty="0">
                <a:solidFill>
                  <a:srgbClr val="AEB7DA"/>
                </a:solidFill>
                <a:latin typeface="Aptos" pitchFamily="34" charset="0"/>
                <a:ea typeface="Aptos" pitchFamily="34" charset="-122"/>
                <a:cs typeface="Aptos" pitchFamily="34" charset="-120"/>
              </a:rPr>
              <a:t>Fifteen minutes a day, as your first move. The habit is what compounds, not the features.</a:t>
            </a:r>
            <a:endParaRPr lang="en-US" sz="1250" dirty="0"/>
          </a:p>
        </p:txBody>
      </p:sp>
      <p:sp>
        <p:nvSpPr>
          <p:cNvPr id="11" name="Shape 9"/>
          <p:cNvSpPr/>
          <p:nvPr/>
        </p:nvSpPr>
        <p:spPr>
          <a:xfrm>
            <a:off x="822960" y="2249424"/>
            <a:ext cx="10515600" cy="914400"/>
          </a:xfrm>
          <a:prstGeom prst="roundRect">
            <a:avLst>
              <a:gd name="adj" fmla="val 8000"/>
            </a:avLst>
          </a:prstGeom>
          <a:solidFill>
            <a:srgbClr val="111C44"/>
          </a:solidFill>
          <a:ln w="12700">
            <a:solidFill>
              <a:srgbClr val="26326A"/>
            </a:solidFill>
            <a:prstDash val="solid"/>
          </a:ln>
        </p:spPr>
      </p:sp>
      <p:sp>
        <p:nvSpPr>
          <p:cNvPr id="12" name="Shape 10"/>
          <p:cNvSpPr/>
          <p:nvPr/>
        </p:nvSpPr>
        <p:spPr>
          <a:xfrm>
            <a:off x="1051560" y="2450592"/>
            <a:ext cx="512064" cy="512064"/>
          </a:xfrm>
          <a:prstGeom prst="ellipse">
            <a:avLst/>
          </a:prstGeom>
          <a:solidFill>
            <a:srgbClr val="12B5BC"/>
          </a:solidFill>
          <a:ln/>
        </p:spPr>
      </p:sp>
      <p:sp>
        <p:nvSpPr>
          <p:cNvPr id="13" name="Text 11"/>
          <p:cNvSpPr/>
          <p:nvPr/>
        </p:nvSpPr>
        <p:spPr>
          <a:xfrm>
            <a:off x="1051560" y="2450592"/>
            <a:ext cx="512064" cy="512064"/>
          </a:xfrm>
          <a:prstGeom prst="rect">
            <a:avLst/>
          </a:prstGeom>
          <a:noFill/>
          <a:ln/>
        </p:spPr>
        <p:txBody>
          <a:bodyPr wrap="square" lIns="0" tIns="0" rIns="0" bIns="0" rtlCol="0" anchor="ctr"/>
          <a:lstStyle/>
          <a:p>
            <a:pPr algn="ctr" indent="0" marL="0">
              <a:buNone/>
            </a:pPr>
            <a:r>
              <a:rPr lang="en-US" sz="1800" b="1" dirty="0">
                <a:solidFill>
                  <a:srgbClr val="0B1437"/>
                </a:solidFill>
                <a:latin typeface="Aptos" pitchFamily="34" charset="0"/>
                <a:ea typeface="Aptos" pitchFamily="34" charset="-122"/>
                <a:cs typeface="Aptos" pitchFamily="34" charset="-120"/>
              </a:rPr>
              <a:t>2</a:t>
            </a:r>
            <a:endParaRPr lang="en-US" sz="1800" dirty="0"/>
          </a:p>
        </p:txBody>
      </p:sp>
      <p:sp>
        <p:nvSpPr>
          <p:cNvPr id="14" name="Text 12"/>
          <p:cNvSpPr/>
          <p:nvPr/>
        </p:nvSpPr>
        <p:spPr>
          <a:xfrm>
            <a:off x="1783080" y="2368296"/>
            <a:ext cx="9326880" cy="329184"/>
          </a:xfrm>
          <a:prstGeom prst="rect">
            <a:avLst/>
          </a:prstGeom>
          <a:noFill/>
          <a:ln/>
        </p:spPr>
        <p:txBody>
          <a:bodyPr wrap="square" lIns="0" tIns="0" rIns="0" bIns="0" rtlCol="0" anchor="ctr"/>
          <a:lstStyle/>
          <a:p>
            <a:pPr indent="0" marL="0">
              <a:buNone/>
            </a:pPr>
            <a:r>
              <a:rPr lang="en-US" sz="1700" b="1" dirty="0">
                <a:solidFill>
                  <a:srgbClr val="FFFFFF"/>
                </a:solidFill>
                <a:latin typeface="Aptos" pitchFamily="34" charset="0"/>
                <a:ea typeface="Aptos" pitchFamily="34" charset="-122"/>
                <a:cs typeface="Aptos" pitchFamily="34" charset="-120"/>
              </a:rPr>
              <a:t>Better prompts beat better tools</a:t>
            </a:r>
            <a:endParaRPr lang="en-US" sz="1700" dirty="0"/>
          </a:p>
        </p:txBody>
      </p:sp>
      <p:sp>
        <p:nvSpPr>
          <p:cNvPr id="15" name="Text 13"/>
          <p:cNvSpPr/>
          <p:nvPr/>
        </p:nvSpPr>
        <p:spPr>
          <a:xfrm>
            <a:off x="1783080" y="2706624"/>
            <a:ext cx="9326880" cy="365760"/>
          </a:xfrm>
          <a:prstGeom prst="rect">
            <a:avLst/>
          </a:prstGeom>
          <a:noFill/>
          <a:ln/>
        </p:spPr>
        <p:txBody>
          <a:bodyPr wrap="square" lIns="0" tIns="0" rIns="0" bIns="0" rtlCol="0" anchor="ctr"/>
          <a:lstStyle/>
          <a:p>
            <a:pPr indent="0" marL="0">
              <a:buNone/>
            </a:pPr>
            <a:r>
              <a:rPr lang="en-US" sz="1250" dirty="0">
                <a:solidFill>
                  <a:srgbClr val="AEB7DA"/>
                </a:solidFill>
                <a:latin typeface="Aptos" pitchFamily="34" charset="0"/>
                <a:ea typeface="Aptos" pitchFamily="34" charset="-122"/>
                <a:cs typeface="Aptos" pitchFamily="34" charset="-120"/>
              </a:rPr>
              <a:t>Goal, Context, Source, Format. The same model gives a generic answer or a great one.</a:t>
            </a:r>
            <a:endParaRPr lang="en-US" sz="1250" dirty="0"/>
          </a:p>
        </p:txBody>
      </p:sp>
      <p:sp>
        <p:nvSpPr>
          <p:cNvPr id="16" name="Shape 14"/>
          <p:cNvSpPr/>
          <p:nvPr/>
        </p:nvSpPr>
        <p:spPr>
          <a:xfrm>
            <a:off x="822960" y="3291840"/>
            <a:ext cx="10515600" cy="914400"/>
          </a:xfrm>
          <a:prstGeom prst="roundRect">
            <a:avLst>
              <a:gd name="adj" fmla="val 8000"/>
            </a:avLst>
          </a:prstGeom>
          <a:solidFill>
            <a:srgbClr val="111C44"/>
          </a:solidFill>
          <a:ln w="12700">
            <a:solidFill>
              <a:srgbClr val="26326A"/>
            </a:solidFill>
            <a:prstDash val="solid"/>
          </a:ln>
        </p:spPr>
      </p:sp>
      <p:sp>
        <p:nvSpPr>
          <p:cNvPr id="17" name="Shape 15"/>
          <p:cNvSpPr/>
          <p:nvPr/>
        </p:nvSpPr>
        <p:spPr>
          <a:xfrm>
            <a:off x="1051560" y="3493008"/>
            <a:ext cx="512064" cy="512064"/>
          </a:xfrm>
          <a:prstGeom prst="ellipse">
            <a:avLst/>
          </a:prstGeom>
          <a:solidFill>
            <a:srgbClr val="12B5BC"/>
          </a:solidFill>
          <a:ln/>
        </p:spPr>
      </p:sp>
      <p:sp>
        <p:nvSpPr>
          <p:cNvPr id="18" name="Text 16"/>
          <p:cNvSpPr/>
          <p:nvPr/>
        </p:nvSpPr>
        <p:spPr>
          <a:xfrm>
            <a:off x="1051560" y="3493008"/>
            <a:ext cx="512064" cy="512064"/>
          </a:xfrm>
          <a:prstGeom prst="rect">
            <a:avLst/>
          </a:prstGeom>
          <a:noFill/>
          <a:ln/>
        </p:spPr>
        <p:txBody>
          <a:bodyPr wrap="square" lIns="0" tIns="0" rIns="0" bIns="0" rtlCol="0" anchor="ctr"/>
          <a:lstStyle/>
          <a:p>
            <a:pPr algn="ctr" indent="0" marL="0">
              <a:buNone/>
            </a:pPr>
            <a:r>
              <a:rPr lang="en-US" sz="1800" b="1" dirty="0">
                <a:solidFill>
                  <a:srgbClr val="0B1437"/>
                </a:solidFill>
                <a:latin typeface="Aptos" pitchFamily="34" charset="0"/>
                <a:ea typeface="Aptos" pitchFamily="34" charset="-122"/>
                <a:cs typeface="Aptos" pitchFamily="34" charset="-120"/>
              </a:rPr>
              <a:t>3</a:t>
            </a:r>
            <a:endParaRPr lang="en-US" sz="1800" dirty="0"/>
          </a:p>
        </p:txBody>
      </p:sp>
      <p:sp>
        <p:nvSpPr>
          <p:cNvPr id="19" name="Text 17"/>
          <p:cNvSpPr/>
          <p:nvPr/>
        </p:nvSpPr>
        <p:spPr>
          <a:xfrm>
            <a:off x="1783080" y="3410712"/>
            <a:ext cx="9326880" cy="329184"/>
          </a:xfrm>
          <a:prstGeom prst="rect">
            <a:avLst/>
          </a:prstGeom>
          <a:noFill/>
          <a:ln/>
        </p:spPr>
        <p:txBody>
          <a:bodyPr wrap="square" lIns="0" tIns="0" rIns="0" bIns="0" rtlCol="0" anchor="ctr"/>
          <a:lstStyle/>
          <a:p>
            <a:pPr indent="0" marL="0">
              <a:buNone/>
            </a:pPr>
            <a:r>
              <a:rPr lang="en-US" sz="1700" b="1" dirty="0">
                <a:solidFill>
                  <a:srgbClr val="FFFFFF"/>
                </a:solidFill>
                <a:latin typeface="Aptos" pitchFamily="34" charset="0"/>
                <a:ea typeface="Aptos" pitchFamily="34" charset="-122"/>
                <a:cs typeface="Aptos" pitchFamily="34" charset="-120"/>
              </a:rPr>
              <a:t>Stay in the driver's seat</a:t>
            </a:r>
            <a:endParaRPr lang="en-US" sz="1700" dirty="0"/>
          </a:p>
        </p:txBody>
      </p:sp>
      <p:sp>
        <p:nvSpPr>
          <p:cNvPr id="20" name="Text 18"/>
          <p:cNvSpPr/>
          <p:nvPr/>
        </p:nvSpPr>
        <p:spPr>
          <a:xfrm>
            <a:off x="1783080" y="3749040"/>
            <a:ext cx="9326880" cy="365760"/>
          </a:xfrm>
          <a:prstGeom prst="rect">
            <a:avLst/>
          </a:prstGeom>
          <a:noFill/>
          <a:ln/>
        </p:spPr>
        <p:txBody>
          <a:bodyPr wrap="square" lIns="0" tIns="0" rIns="0" bIns="0" rtlCol="0" anchor="ctr"/>
          <a:lstStyle/>
          <a:p>
            <a:pPr indent="0" marL="0">
              <a:buNone/>
            </a:pPr>
            <a:r>
              <a:rPr lang="en-US" sz="1250" dirty="0">
                <a:solidFill>
                  <a:srgbClr val="AEB7DA"/>
                </a:solidFill>
                <a:latin typeface="Aptos" pitchFamily="34" charset="0"/>
                <a:ea typeface="Aptos" pitchFamily="34" charset="-122"/>
                <a:cs typeface="Aptos" pitchFamily="34" charset="-120"/>
              </a:rPr>
              <a:t>Every answer is a draft. Your judgment is what makes it right.</a:t>
            </a:r>
            <a:endParaRPr lang="en-US" sz="1250" dirty="0"/>
          </a:p>
        </p:txBody>
      </p:sp>
      <p:sp>
        <p:nvSpPr>
          <p:cNvPr id="21" name="Shape 19"/>
          <p:cNvSpPr/>
          <p:nvPr/>
        </p:nvSpPr>
        <p:spPr>
          <a:xfrm>
            <a:off x="822960" y="4370832"/>
            <a:ext cx="6583680" cy="1691640"/>
          </a:xfrm>
          <a:prstGeom prst="roundRect">
            <a:avLst>
              <a:gd name="adj" fmla="val 5405"/>
            </a:avLst>
          </a:prstGeom>
          <a:solidFill>
            <a:srgbClr val="16214F"/>
          </a:solidFill>
          <a:ln w="12700">
            <a:solidFill>
              <a:srgbClr val="26326A"/>
            </a:solidFill>
            <a:prstDash val="solid"/>
          </a:ln>
        </p:spPr>
      </p:sp>
      <p:sp>
        <p:nvSpPr>
          <p:cNvPr id="22" name="Shape 20"/>
          <p:cNvSpPr/>
          <p:nvPr/>
        </p:nvSpPr>
        <p:spPr>
          <a:xfrm>
            <a:off x="1097280" y="4645152"/>
            <a:ext cx="731520" cy="731520"/>
          </a:xfrm>
          <a:prstGeom prst="ellipse">
            <a:avLst/>
          </a:prstGeom>
          <a:solidFill>
            <a:srgbClr val="12B5BC"/>
          </a:solidFill>
          <a:ln/>
          <a:effectLst>
            <a:outerShdw sx="100000" sy="100000" kx="0" ky="0" algn="bl" rotWithShape="0" blurRad="114300" dist="38100" dir="5400000">
              <a:srgbClr val="0B1437">
                <a:alpha val="10000"/>
              </a:srgbClr>
            </a:outerShdw>
          </a:effectLst>
        </p:spPr>
      </p:sp>
      <p:pic>
        <p:nvPicPr>
          <p:cNvPr id="23" name="Image 0" descr="preencoded.png">    </p:cNvPr>
          <p:cNvPicPr>
            <a:picLocks noChangeAspect="1"/>
          </p:cNvPicPr>
          <p:nvPr/>
        </p:nvPicPr>
        <p:blipFill>
          <a:blip r:embed="rId1"/>
          <a:stretch>
            <a:fillRect/>
          </a:stretch>
        </p:blipFill>
        <p:spPr>
          <a:xfrm>
            <a:off x="1316736" y="4864608"/>
            <a:ext cx="292608" cy="292608"/>
          </a:xfrm>
          <a:prstGeom prst="rect">
            <a:avLst/>
          </a:prstGeom>
        </p:spPr>
      </p:pic>
      <p:sp>
        <p:nvSpPr>
          <p:cNvPr id="24" name="Text 21"/>
          <p:cNvSpPr/>
          <p:nvPr/>
        </p:nvSpPr>
        <p:spPr>
          <a:xfrm>
            <a:off x="2057400" y="4626864"/>
            <a:ext cx="5120640" cy="310896"/>
          </a:xfrm>
          <a:prstGeom prst="rect">
            <a:avLst/>
          </a:prstGeom>
          <a:noFill/>
          <a:ln/>
        </p:spPr>
        <p:txBody>
          <a:bodyPr wrap="square" lIns="0" tIns="0" rIns="0" bIns="0" rtlCol="0" anchor="ctr"/>
          <a:lstStyle/>
          <a:p>
            <a:pPr indent="0" marL="0">
              <a:buNone/>
            </a:pPr>
            <a:r>
              <a:rPr lang="en-US" sz="1500" b="1" dirty="0">
                <a:solidFill>
                  <a:srgbClr val="FFFFFF"/>
                </a:solidFill>
                <a:latin typeface="Aptos" pitchFamily="34" charset="0"/>
                <a:ea typeface="Aptos" pitchFamily="34" charset="-122"/>
                <a:cs typeface="Aptos" pitchFamily="34" charset="-120"/>
              </a:rPr>
              <a:t>You are not doing this alone</a:t>
            </a:r>
            <a:endParaRPr lang="en-US" sz="1500" dirty="0"/>
          </a:p>
        </p:txBody>
      </p:sp>
      <p:sp>
        <p:nvSpPr>
          <p:cNvPr id="25" name="Text 22"/>
          <p:cNvSpPr/>
          <p:nvPr/>
        </p:nvSpPr>
        <p:spPr>
          <a:xfrm>
            <a:off x="2057400" y="4937760"/>
            <a:ext cx="5120640" cy="822960"/>
          </a:xfrm>
          <a:prstGeom prst="rect">
            <a:avLst/>
          </a:prstGeom>
          <a:noFill/>
          <a:ln/>
        </p:spPr>
        <p:txBody>
          <a:bodyPr wrap="square" lIns="0" tIns="0" rIns="0" bIns="0" rtlCol="0" anchor="t"/>
          <a:lstStyle/>
          <a:p>
            <a:pPr indent="0" marL="0">
              <a:lnSpc>
                <a:spcPct val="112000"/>
              </a:lnSpc>
              <a:buNone/>
            </a:pPr>
            <a:r>
              <a:rPr lang="en-US" sz="1150" dirty="0">
                <a:solidFill>
                  <a:srgbClr val="AEB7DA"/>
                </a:solidFill>
                <a:latin typeface="Aptos" pitchFamily="34" charset="0"/>
                <a:ea typeface="Aptos" pitchFamily="34" charset="-122"/>
                <a:cs typeface="Aptos" pitchFamily="34" charset="-120"/>
              </a:rPr>
              <a:t>Bring me your team and I'll run a live 45-minute working session: personalization, a Chief of Staff agent, and each leader's first real win on their own work.</a:t>
            </a:r>
            <a:endParaRPr lang="en-US" sz="1150" dirty="0"/>
          </a:p>
        </p:txBody>
      </p:sp>
      <p:sp>
        <p:nvSpPr>
          <p:cNvPr id="26" name="Text 23"/>
          <p:cNvSpPr/>
          <p:nvPr/>
        </p:nvSpPr>
        <p:spPr>
          <a:xfrm>
            <a:off x="1097280" y="5705856"/>
            <a:ext cx="6126480" cy="274320"/>
          </a:xfrm>
          <a:prstGeom prst="rect">
            <a:avLst/>
          </a:prstGeom>
          <a:noFill/>
          <a:ln/>
        </p:spPr>
        <p:txBody>
          <a:bodyPr wrap="square" lIns="0" tIns="0" rIns="0" bIns="0" rtlCol="0" anchor="ctr"/>
          <a:lstStyle/>
          <a:p>
            <a:pPr indent="0" marL="0">
              <a:buNone/>
            </a:pPr>
            <a:r>
              <a:rPr lang="en-US" sz="1200" b="1" dirty="0">
                <a:solidFill>
                  <a:srgbClr val="FFFFFF"/>
                </a:solidFill>
                <a:latin typeface="Aptos" pitchFamily="34" charset="0"/>
                <a:ea typeface="Aptos" pitchFamily="34" charset="-122"/>
                <a:cs typeface="Aptos" pitchFamily="34" charset="-120"/>
              </a:rPr>
              <a:t>Michael Goad</a:t>
            </a:r>
            <a:pPr indent="0" marL="0">
              <a:buNone/>
            </a:pPr>
            <a:r>
              <a:rPr lang="en-US" sz="1200" dirty="0">
                <a:solidFill>
                  <a:srgbClr val="AEB7DA"/>
                </a:solidFill>
                <a:latin typeface="Aptos" pitchFamily="34" charset="0"/>
                <a:ea typeface="Aptos" pitchFamily="34" charset="-122"/>
                <a:cs typeface="Aptos" pitchFamily="34" charset="-120"/>
              </a:rPr>
              <a:t>   ·   </a:t>
            </a:r>
            <a:pPr indent="0" marL="0">
              <a:buNone/>
            </a:pPr>
            <a:r>
              <a:rPr lang="en-US" sz="1200" b="1" u="sng" dirty="0">
                <a:solidFill>
                  <a:srgbClr val="6FE3E6"/>
                </a:solid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michaelgoad@microsoft.com</a:t>
            </a:r>
            <a:endParaRPr lang="en-US" sz="1200" dirty="0"/>
          </a:p>
        </p:txBody>
      </p:sp>
      <p:sp>
        <p:nvSpPr>
          <p:cNvPr id="27" name="Shape 24"/>
          <p:cNvSpPr/>
          <p:nvPr/>
        </p:nvSpPr>
        <p:spPr>
          <a:xfrm>
            <a:off x="7635240" y="4370832"/>
            <a:ext cx="3721608" cy="1691640"/>
          </a:xfrm>
          <a:prstGeom prst="roundRect">
            <a:avLst>
              <a:gd name="adj" fmla="val 5405"/>
            </a:avLst>
          </a:prstGeom>
          <a:solidFill>
            <a:srgbClr val="111C44"/>
          </a:solidFill>
          <a:ln w="15875">
            <a:solidFill>
              <a:srgbClr val="12B5BC"/>
            </a:solidFill>
            <a:prstDash val="solid"/>
          </a:ln>
        </p:spPr>
      </p:sp>
      <p:sp>
        <p:nvSpPr>
          <p:cNvPr id="28" name="Text 25"/>
          <p:cNvSpPr/>
          <p:nvPr/>
        </p:nvSpPr>
        <p:spPr>
          <a:xfrm>
            <a:off x="7635240" y="4645152"/>
            <a:ext cx="3721608" cy="640080"/>
          </a:xfrm>
          <a:prstGeom prst="rect">
            <a:avLst/>
          </a:prstGeom>
          <a:noFill/>
          <a:ln/>
        </p:spPr>
        <p:txBody>
          <a:bodyPr wrap="square" lIns="0" tIns="0" rIns="0" bIns="0" rtlCol="0" anchor="ctr"/>
          <a:lstStyle/>
          <a:p>
            <a:pPr algn="ctr" indent="0" marL="0">
              <a:buNone/>
            </a:pPr>
            <a:r>
              <a:rPr lang="en-US" sz="3000" b="1" dirty="0">
                <a:solidFill>
                  <a:srgbClr val="FFFFFF"/>
                </a:solidFill>
                <a:latin typeface="Aptos" pitchFamily="34" charset="0"/>
                <a:ea typeface="Aptos" pitchFamily="34" charset="-122"/>
                <a:cs typeface="Aptos" pitchFamily="34" charset="-120"/>
              </a:rPr>
              <a:t>Questions?</a:t>
            </a:r>
            <a:endParaRPr lang="en-US" sz="3000" dirty="0"/>
          </a:p>
        </p:txBody>
      </p:sp>
      <p:sp>
        <p:nvSpPr>
          <p:cNvPr id="29" name="Text 26"/>
          <p:cNvSpPr/>
          <p:nvPr/>
        </p:nvSpPr>
        <p:spPr>
          <a:xfrm>
            <a:off x="7635240" y="5376672"/>
            <a:ext cx="3721608" cy="365760"/>
          </a:xfrm>
          <a:prstGeom prst="rect">
            <a:avLst/>
          </a:prstGeom>
          <a:noFill/>
          <a:ln/>
        </p:spPr>
        <p:txBody>
          <a:bodyPr wrap="square" lIns="0" tIns="0" rIns="0" bIns="0" rtlCol="0" anchor="ctr"/>
          <a:lstStyle/>
          <a:p>
            <a:pPr algn="ctr" indent="0" marL="0">
              <a:buNone/>
            </a:pPr>
            <a:r>
              <a:rPr lang="en-US" sz="1250" dirty="0">
                <a:solidFill>
                  <a:srgbClr val="AEB7DA"/>
                </a:solidFill>
                <a:latin typeface="Aptos" pitchFamily="34" charset="0"/>
                <a:ea typeface="Aptos" pitchFamily="34" charset="-122"/>
                <a:cs typeface="Aptos" pitchFamily="34" charset="-120"/>
              </a:rPr>
              <a:t>Let's make it real, on your work.</a:t>
            </a:r>
            <a:endParaRPr lang="en-US" sz="1250" dirty="0"/>
          </a:p>
        </p:txBody>
      </p:sp>
      <p:sp>
        <p:nvSpPr>
          <p:cNvPr id="30" name="Text 27"/>
          <p:cNvSpPr/>
          <p:nvPr/>
        </p:nvSpPr>
        <p:spPr>
          <a:xfrm>
            <a:off x="822960" y="6309360"/>
            <a:ext cx="10515600" cy="274320"/>
          </a:xfrm>
          <a:prstGeom prst="rect">
            <a:avLst/>
          </a:prstGeom>
          <a:noFill/>
          <a:ln/>
        </p:spPr>
        <p:txBody>
          <a:bodyPr wrap="square" lIns="0" tIns="0" rIns="0" bIns="0" rtlCol="0" anchor="ctr"/>
          <a:lstStyle/>
          <a:p>
            <a:pPr algn="l" indent="0" marL="0">
              <a:buNone/>
            </a:pPr>
            <a:r>
              <a:rPr lang="en-US" sz="950" dirty="0">
                <a:solidFill>
                  <a:srgbClr val="8A93B8"/>
                </a:solidFill>
                <a:latin typeface="Aptos" pitchFamily="34" charset="0"/>
                <a:ea typeface="Aptos" pitchFamily="34" charset="-122"/>
                <a:cs typeface="Aptos" pitchFamily="34" charset="-120"/>
              </a:rPr>
              <a:t>Companion to your Executive Playbook   ·   Resources from the </a:t>
            </a:r>
            <a:pPr algn="l" indent="0" marL="0">
              <a:buNone/>
            </a:pPr>
            <a:r>
              <a:rPr lang="en-US" sz="950" b="1" u="sng" dirty="0">
                <a:solidFill>
                  <a:srgbClr val="6FE3E6"/>
                </a:solidFill>
                <a:latin typeface="Aptos" pitchFamily="34" charset="0"/>
                <a:ea typeface="Aptos" pitchFamily="34" charset="-122"/>
                <a:cs typeface="Aptos"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Copilot Playground</a:t>
            </a:r>
            <a:pPr algn="l" indent="0" marL="0">
              <a:buNone/>
            </a:pPr>
            <a:r>
              <a:rPr lang="en-US" sz="950" dirty="0">
                <a:solidFill>
                  <a:srgbClr val="8A93B8"/>
                </a:solidFill>
                <a:latin typeface="Aptos" pitchFamily="34" charset="0"/>
                <a:ea typeface="Aptos" pitchFamily="34" charset="-122"/>
                <a:cs typeface="Aptos" pitchFamily="34" charset="-120"/>
              </a:rPr>
              <a:t> (github.com/heyitsgoad/copilot-playground)</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Started with Microsoft 365 Copilot Premium (Tiered)</dc:title>
  <dc:subject>PptxGenJS Presentation</dc:subject>
  <dc:creator>Michael Goad</dc:creator>
  <cp:lastModifiedBy>Michael Goad</cp:lastModifiedBy>
  <cp:revision>1</cp:revision>
  <dcterms:created xsi:type="dcterms:W3CDTF">2026-07-13T18:39:05Z</dcterms:created>
  <dcterms:modified xsi:type="dcterms:W3CDTF">2026-07-13T18:39:05Z</dcterms:modified>
</cp:coreProperties>
</file>