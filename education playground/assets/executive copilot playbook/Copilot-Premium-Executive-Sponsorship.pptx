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Set the frame and signal this is a decision, not a demo. Keep it under a minute.</a:t>
            </a:r>
          </a:p>
          <a:p>
            <a:r>
              <a:t>SAY: "Thanks for the time. I have a short, specific proposal. We already have Copilot licenses. I want us to actually run on them, starting with this leadership team. This is a proven, tiered program, it is built with Microsoft, and it becomes ours to own. Give me fifteen minutes and I will walk you through the case, the program, and exactly what I am asking you to sponsor."</a:t>
            </a:r>
          </a:p>
          <a:p>
            <a:r>
              <a:t>TIP: Do not sell features here. Fill in your name, title, and organization on this slide before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State the whole ask before the evidence, so no one is guessing where this goes.</a:t>
            </a:r>
          </a:p>
          <a:p>
            <a:r>
              <a:t>SAY: "Here is what I am asking for, up front. Four things. Sponsor the program and go first, as a leadership team. Name one small team to own adoption. Back a ninety day rollout, which means time on calendars, not just licenses sitting in a portal. And reinforce the habit by asking your own teams what they automated. That is the whole ask. Everything else I show you is why it is worth it and how it works."</a:t>
            </a:r>
          </a:p>
          <a:p>
            <a:r>
              <a:t>TIP: Say the four asks plainly, then move on. Executives respect a clear ask early.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Make the problem felt before you offer the solution.</a:t>
            </a:r>
          </a:p>
          <a:p>
            <a:r>
              <a:t>SAY: "Most of our days go to keeping up. Our inboxes and meetings hold more than any of us can read. Copilot Premium does the reading, drafting, and prep so our time goes to judgment. But here is the uncomfortable part: a license nobody is trained on is a cost, not a capability. The number one reason people stall is they never build the habit, and the habit needs us to sponsor it."</a:t>
            </a:r>
          </a:p>
          <a:p>
            <a:r>
              <a:t>TIP: Land the last line slowly: there is a difference between a company that bought Copilot and one that runs on it. That is the whole pitch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The why-it-matters slide. This mirrors the training deck's value slide on purpose.</a:t>
            </a:r>
          </a:p>
          <a:p>
            <a:r>
              <a:t>SAY: "When leaders visibly use this and get time back, everyone else follows. That is why we go first. And this is not the free tool your teams have seen. It knows our work, because it reads across our own Microsoft 365 content. It works where we already work, inside Outlook, Word, Excel, PowerPoint, and Teams. It sounds like you once you set it up. And it stays private, inside our tenant."</a:t>
            </a:r>
          </a:p>
          <a:p>
            <a:r>
              <a:t>TIP: Point to each card as you say it. Four reasons this deserves your sponsorship, not just your curiosity.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Show the program is real and bounded, not open-ended.</a:t>
            </a:r>
          </a:p>
          <a:p>
            <a:r>
              <a:t>SAY: "Here is the shape of it. Three tiers, nine short sessions, thirty to sixty minutes each, about six hours total. Each tier builds on the last, and each session stands on its own. We can run one a week or block a half day per tier. We start at the foundations, where everyone finds it, trusts it, and gets a first win, and we add leverage from there."</a:t>
            </a:r>
          </a:p>
          <a:p>
            <a:r>
              <a:t>TIP: Reassure them this is a light lift, not a program that eats calendars.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The scope slide for anyone who wants detail. Do not read it aloud.</a:t>
            </a:r>
          </a:p>
          <a:p>
            <a:r>
              <a:t>SAY: "The whole program on one page. Tier one is foundations, four sessions. Tier two is where the premium reasoning agents do the heavy thinking, the work that used to take an analyst a week. Tier three is where we build a chief of staff agent that comes to you. You do not need to read every line. The point is it is concrete, short, and sequenced."</a:t>
            </a:r>
          </a:p>
          <a:p>
            <a:r>
              <a:t>TIP: Let them scan it and move on. Lingering here loses the room.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This is the slide that unlocks the yes. Look at your security leaders while you deliver it.</a:t>
            </a:r>
          </a:p>
          <a:p>
            <a:r>
              <a:t>SAY: "The first question in any serious room is, is our data safe. The answer is yes. Copilot works on our real work, not the open internet, and that work never leaves our tenant. It is not used to train the models. It only shows a person what they already have permission to see. And IT gets controls and an audit trail through Purview."</a:t>
            </a:r>
          </a:p>
          <a:p>
            <a:r>
              <a:t>TIP: Give the honest caveat out loud: the one prerequisite is clean permissions, because Copilot surfaces what a person can already see. Frame that as an IT workstream we run alongside the rollout, not a blocker.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Give them control over how much they take on. Lowers the risk of a no.</a:t>
            </a:r>
          </a:p>
          <a:p>
            <a:r>
              <a:t>SAY: "You are not choosing between Microsoft does everything and you are on your own. Three options. Microsoft led, where Microsoft runs the full program. We start, you scale, where Microsoft runs the foundation, trains our trainers, and hands us the framework. Or partner led, where a partner owns rollout end to end. Same framework, three speeds. We own it either way."</a:t>
            </a:r>
          </a:p>
          <a:p>
            <a:r>
              <a:t>TIP: If you have a recommendation, say which option you prefer and why. Executives like a point of 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Pre-empt the real objection, that training does not stick.</a:t>
            </a:r>
          </a:p>
          <a:p>
            <a:r>
              <a:t>SAY: "A training is a spark. Here is how we keep the fire lit. Champions, a trusted peer in each department. Governance, guardrails with Purview. Measurement, four numbers in a monthly review. A scenario library, so each team proves two high value wins. A community of practice. And one small team, a Center of Excellence, that owns all five."</a:t>
            </a:r>
          </a:p>
          <a:p>
            <a:r>
              <a:t>TIP: End with the lesson from every rollout: give adoption a team and a name, or watch it stall in week six. That is what separates us from a company that just bought licenses.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Show how you will prove the return, and set a realistic expectation.</a:t>
            </a:r>
          </a:p>
          <a:p>
            <a:r>
              <a:t>SAY: "Here is how we will know it is working. Four numbers in a monthly review. Active users, returning users, assisted hours, and satisfaction. Watch the returning users most, because the habit is the real ROI. And one honest expectation. The research points to an eleven by eleven tipping point, about eleven minutes saved a day over eleven weeks before the signal is clear. So give it runway. Do not grade the ROI in the first thirty days."</a:t>
            </a:r>
          </a:p>
          <a:p>
            <a:r>
              <a:t>TIP: Setting a realistic bar builds credibility. It signals you are managing this like an investment, not a fad.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Make the path feel easy and imminent.</a:t>
            </a:r>
          </a:p>
          <a:p>
            <a:r>
              <a:t>SAY: "This is the first ninety days. Weeks one and two, we sponsor and set up, name the owner, book the first session. Weeks three to six, this leadership team runs the foundations and gets real wins. Weeks seven to ten, we add the reasoning agents and the chief of staff setup. Weeks eleven to thirteen, we stand up champions and scenarios, and I bring the first numbers back to you."</a:t>
            </a:r>
          </a:p>
          <a:p>
            <a:r>
              <a:t>TIP: The message is that this starts in two weeks, not next quarter. Keep the momentum.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This is the close. Slow down and make the ask concrete, then stop talking.</a:t>
            </a:r>
          </a:p>
          <a:p>
            <a:r>
              <a:t>SAY: "So here is what I need from you today. Approve and sponsor the program, and commit to going first. Name the owner and the small team. Green light the ninety day rollout and let me book the first session. And reinforce the habit by modeling it yourselves. Say yes to the program, go first, and name who owns it. I will bring the plan and the room."</a:t>
            </a:r>
          </a:p>
          <a:p>
            <a:r>
              <a:t>TIP: After you ask, stop and let them respond. Do not fill the silence. The next person to speak should be a decision maker.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End on the vision, not the logistics. This is your call to action.</a:t>
            </a:r>
          </a:p>
          <a:p>
            <a:r>
              <a:t>SAY: "Let us be the company that runs on Copilot, not just the one that bought it. Leadership goes first, and the organization follows. If you are in, the next step is simple. We book a forty five minute working session, set up personalization, build a chief of staff agent, and get each of you a real win on your own work."</a:t>
            </a:r>
          </a:p>
          <a:p>
            <a:r>
              <a:t>TIP: Thank them, then confirm the decision or the follow up date before you leave the room. Do not end on a vague maybe.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12B3C4"/>
                </a:solidFill>
                <a:latin typeface="Aptos"/>
              </a:rPr>
              <a:t>EXECUTIVE SPONSORSHIP PROPOSAL   ·   3 TIERS   ·   9 SESSIONS</a:t>
            </a:r>
          </a:p>
        </p:txBody>
      </p:sp>
      <p:sp>
        <p:nvSpPr>
          <p:cNvPr id="7" name="TextBox 6"/>
          <p:cNvSpPr txBox="1"/>
          <p:nvPr/>
        </p:nvSpPr>
        <p:spPr>
          <a:xfrm>
            <a:off x="804672" y="1874519"/>
            <a:ext cx="10515600" cy="1828800"/>
          </a:xfrm>
          <a:prstGeom prst="rect">
            <a:avLst/>
          </a:prstGeom>
          <a:noFill/>
        </p:spPr>
        <p:txBody>
          <a:bodyPr wrap="square" anchor="t" lIns="0" rIns="0" tIns="0" bIns="0"/>
          <a:lstStyle/>
          <a:p>
            <a:pPr algn="l">
              <a:lnSpc>
                <a:spcPct val="100000"/>
              </a:lnSpc>
              <a:spcBef>
                <a:spcPts val="0"/>
              </a:spcBef>
              <a:spcAft>
                <a:spcPts val="0"/>
              </a:spcAft>
            </a:pPr>
            <a:r>
              <a:rPr sz="5000" b="1" i="0">
                <a:solidFill>
                  <a:srgbClr val="FFFFFF"/>
                </a:solidFill>
                <a:latin typeface="Aptos"/>
              </a:rPr>
              <a:t>Make Copilot the way</a:t>
            </a:r>
          </a:p>
          <a:p>
            <a:pPr algn="l">
              <a:lnSpc>
                <a:spcPct val="100000"/>
              </a:lnSpc>
              <a:spcBef>
                <a:spcPts val="0"/>
              </a:spcBef>
              <a:spcAft>
                <a:spcPts val="0"/>
              </a:spcAft>
            </a:pPr>
            <a:r>
              <a:rPr sz="5000" b="1" i="0">
                <a:solidFill>
                  <a:srgbClr val="FFFFFF"/>
                </a:solidFill>
                <a:latin typeface="Aptos"/>
              </a:rPr>
              <a:t>we lead.</a:t>
            </a:r>
          </a:p>
        </p:txBody>
      </p:sp>
      <p:sp>
        <p:nvSpPr>
          <p:cNvPr id="8" name="TextBox 7"/>
          <p:cNvSpPr txBox="1"/>
          <p:nvPr/>
        </p:nvSpPr>
        <p:spPr>
          <a:xfrm>
            <a:off x="822960" y="3794760"/>
            <a:ext cx="10058400" cy="457200"/>
          </a:xfrm>
          <a:prstGeom prst="rect">
            <a:avLst/>
          </a:prstGeom>
          <a:noFill/>
        </p:spPr>
        <p:txBody>
          <a:bodyPr wrap="square" anchor="t" lIns="0" rIns="0" tIns="0" bIns="0"/>
          <a:lstStyle/>
          <a:p>
            <a:pPr algn="l">
              <a:spcBef>
                <a:spcPts val="0"/>
              </a:spcBef>
              <a:spcAft>
                <a:spcPts val="0"/>
              </a:spcAft>
            </a:pPr>
            <a:r>
              <a:rPr sz="1800" b="0" i="1">
                <a:solidFill>
                  <a:srgbClr val="9FB0D8"/>
                </a:solidFill>
                <a:latin typeface="Aptos"/>
              </a:rPr>
              <a:t>Copilot does the catch-up. Your leaders make the calls.</a:t>
            </a:r>
          </a:p>
        </p:txBody>
      </p:sp>
      <p:sp>
        <p:nvSpPr>
          <p:cNvPr id="9" name="Rounded Rectangle 8"/>
          <p:cNvSpPr/>
          <p:nvPr/>
        </p:nvSpPr>
        <p:spPr>
          <a:xfrm>
            <a:off x="822960" y="4526280"/>
            <a:ext cx="2651760" cy="566928"/>
          </a:xfrm>
          <a:prstGeom prst="roundRect">
            <a:avLst>
              <a:gd name="adj" fmla="val 2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41832" y="4645152"/>
            <a:ext cx="329184" cy="329184"/>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4645152"/>
            <a:ext cx="329184" cy="329184"/>
          </a:xfrm>
          <a:prstGeom prst="rect">
            <a:avLst/>
          </a:prstGeom>
          <a:noFill/>
        </p:spPr>
        <p:txBody>
          <a:bodyPr wrap="square" anchor="ctr" lIns="0" rIns="0" tIns="0" bIns="0"/>
          <a:lstStyle/>
          <a:p>
            <a:pPr algn="ctr">
              <a:spcBef>
                <a:spcPts val="0"/>
              </a:spcBef>
              <a:spcAft>
                <a:spcPts val="0"/>
              </a:spcAft>
            </a:pPr>
            <a:r>
              <a:rPr sz="1300" b="1" i="0">
                <a:solidFill>
                  <a:srgbClr val="FFFFFF"/>
                </a:solidFill>
                <a:latin typeface="Aptos"/>
              </a:rPr>
              <a:t>1</a:t>
            </a:r>
          </a:p>
        </p:txBody>
      </p:sp>
      <p:sp>
        <p:nvSpPr>
          <p:cNvPr id="12" name="TextBox 11"/>
          <p:cNvSpPr txBox="1"/>
          <p:nvPr/>
        </p:nvSpPr>
        <p:spPr>
          <a:xfrm>
            <a:off x="1389888" y="4526280"/>
            <a:ext cx="2011680" cy="566928"/>
          </a:xfrm>
          <a:prstGeom prst="rect">
            <a:avLst/>
          </a:prstGeom>
          <a:noFill/>
        </p:spPr>
        <p:txBody>
          <a:bodyPr wrap="square" anchor="ctr" lIns="0" rIns="0" tIns="0" bIns="0"/>
          <a:lstStyle/>
          <a:p>
            <a:pPr algn="l">
              <a:spcBef>
                <a:spcPts val="0"/>
              </a:spcBef>
              <a:spcAft>
                <a:spcPts val="0"/>
              </a:spcAft>
            </a:pPr>
            <a:r>
              <a:rPr sz="1350" b="1" i="0">
                <a:solidFill>
                  <a:srgbClr val="FFFFFF"/>
                </a:solidFill>
                <a:latin typeface="Aptos"/>
              </a:rPr>
              <a:t>Why now</a:t>
            </a:r>
          </a:p>
        </p:txBody>
      </p:sp>
      <p:sp>
        <p:nvSpPr>
          <p:cNvPr id="13" name="Rounded Rectangle 12"/>
          <p:cNvSpPr/>
          <p:nvPr/>
        </p:nvSpPr>
        <p:spPr>
          <a:xfrm>
            <a:off x="3675888" y="4526280"/>
            <a:ext cx="2651760" cy="566928"/>
          </a:xfrm>
          <a:prstGeom prst="roundRect">
            <a:avLst>
              <a:gd name="adj" fmla="val 2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94760" y="4645152"/>
            <a:ext cx="329184" cy="329184"/>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94760" y="4645152"/>
            <a:ext cx="329184" cy="329184"/>
          </a:xfrm>
          <a:prstGeom prst="rect">
            <a:avLst/>
          </a:prstGeom>
          <a:noFill/>
        </p:spPr>
        <p:txBody>
          <a:bodyPr wrap="square" anchor="ctr" lIns="0" rIns="0" tIns="0" bIns="0"/>
          <a:lstStyle/>
          <a:p>
            <a:pPr algn="ctr">
              <a:spcBef>
                <a:spcPts val="0"/>
              </a:spcBef>
              <a:spcAft>
                <a:spcPts val="0"/>
              </a:spcAft>
            </a:pPr>
            <a:r>
              <a:rPr sz="1300" b="1" i="0">
                <a:solidFill>
                  <a:srgbClr val="FFFFFF"/>
                </a:solidFill>
                <a:latin typeface="Aptos"/>
              </a:rPr>
              <a:t>2</a:t>
            </a:r>
          </a:p>
        </p:txBody>
      </p:sp>
      <p:sp>
        <p:nvSpPr>
          <p:cNvPr id="16" name="TextBox 15"/>
          <p:cNvSpPr txBox="1"/>
          <p:nvPr/>
        </p:nvSpPr>
        <p:spPr>
          <a:xfrm>
            <a:off x="4242816" y="4526280"/>
            <a:ext cx="2011680" cy="566928"/>
          </a:xfrm>
          <a:prstGeom prst="rect">
            <a:avLst/>
          </a:prstGeom>
          <a:noFill/>
        </p:spPr>
        <p:txBody>
          <a:bodyPr wrap="square" anchor="ctr" lIns="0" rIns="0" tIns="0" bIns="0"/>
          <a:lstStyle/>
          <a:p>
            <a:pPr algn="l">
              <a:spcBef>
                <a:spcPts val="0"/>
              </a:spcBef>
              <a:spcAft>
                <a:spcPts val="0"/>
              </a:spcAft>
            </a:pPr>
            <a:r>
              <a:rPr sz="1350" b="1" i="0">
                <a:solidFill>
                  <a:srgbClr val="FFFFFF"/>
                </a:solidFill>
                <a:latin typeface="Aptos"/>
              </a:rPr>
              <a:t>The program</a:t>
            </a:r>
          </a:p>
        </p:txBody>
      </p:sp>
      <p:sp>
        <p:nvSpPr>
          <p:cNvPr id="17" name="Rounded Rectangle 16"/>
          <p:cNvSpPr/>
          <p:nvPr/>
        </p:nvSpPr>
        <p:spPr>
          <a:xfrm>
            <a:off x="6528816" y="4526280"/>
            <a:ext cx="2651760" cy="566928"/>
          </a:xfrm>
          <a:prstGeom prst="roundRect">
            <a:avLst>
              <a:gd name="adj" fmla="val 2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47688" y="4645152"/>
            <a:ext cx="329184" cy="329184"/>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4645152"/>
            <a:ext cx="329184" cy="329184"/>
          </a:xfrm>
          <a:prstGeom prst="rect">
            <a:avLst/>
          </a:prstGeom>
          <a:noFill/>
        </p:spPr>
        <p:txBody>
          <a:bodyPr wrap="square" anchor="ctr" lIns="0" rIns="0" tIns="0" bIns="0"/>
          <a:lstStyle/>
          <a:p>
            <a:pPr algn="ctr">
              <a:spcBef>
                <a:spcPts val="0"/>
              </a:spcBef>
              <a:spcAft>
                <a:spcPts val="0"/>
              </a:spcAft>
            </a:pPr>
            <a:r>
              <a:rPr sz="1300" b="1" i="0">
                <a:solidFill>
                  <a:srgbClr val="FFFFFF"/>
                </a:solidFill>
                <a:latin typeface="Aptos"/>
              </a:rPr>
              <a:t>3</a:t>
            </a:r>
          </a:p>
        </p:txBody>
      </p:sp>
      <p:sp>
        <p:nvSpPr>
          <p:cNvPr id="20" name="TextBox 19"/>
          <p:cNvSpPr txBox="1"/>
          <p:nvPr/>
        </p:nvSpPr>
        <p:spPr>
          <a:xfrm>
            <a:off x="7095744" y="4526280"/>
            <a:ext cx="2011680" cy="566928"/>
          </a:xfrm>
          <a:prstGeom prst="rect">
            <a:avLst/>
          </a:prstGeom>
          <a:noFill/>
        </p:spPr>
        <p:txBody>
          <a:bodyPr wrap="square" anchor="ctr" lIns="0" rIns="0" tIns="0" bIns="0"/>
          <a:lstStyle/>
          <a:p>
            <a:pPr algn="l">
              <a:spcBef>
                <a:spcPts val="0"/>
              </a:spcBef>
              <a:spcAft>
                <a:spcPts val="0"/>
              </a:spcAft>
            </a:pPr>
            <a:r>
              <a:rPr sz="1350" b="1" i="0">
                <a:solidFill>
                  <a:srgbClr val="FFFFFF"/>
                </a:solidFill>
                <a:latin typeface="Aptos"/>
              </a:rPr>
              <a:t>The ask</a:t>
            </a:r>
          </a:p>
        </p:txBody>
      </p:sp>
      <p:sp>
        <p:nvSpPr>
          <p:cNvPr id="21" name="Rectangle 20"/>
          <p:cNvSpPr/>
          <p:nvPr/>
        </p:nvSpPr>
        <p:spPr>
          <a:xfrm>
            <a:off x="841248" y="5468112"/>
            <a:ext cx="3657600" cy="18288"/>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614416"/>
            <a:ext cx="10058400" cy="292608"/>
          </a:xfrm>
          <a:prstGeom prst="rect">
            <a:avLst/>
          </a:prstGeom>
          <a:noFill/>
        </p:spPr>
        <p:txBody>
          <a:bodyPr wrap="square" anchor="t" lIns="0" rIns="0" tIns="0" bIns="0"/>
          <a:lstStyle/>
          <a:p>
            <a:pPr algn="l">
              <a:spcBef>
                <a:spcPts val="0"/>
              </a:spcBef>
              <a:spcAft>
                <a:spcPts val="0"/>
              </a:spcAft>
            </a:pPr>
            <a:r>
              <a:rPr sz="1400" b="1" i="0">
                <a:solidFill>
                  <a:srgbClr val="FFFFFF"/>
                </a:solidFill>
                <a:latin typeface="Aptos"/>
              </a:rPr>
              <a:t>[Your Name]</a:t>
            </a:r>
          </a:p>
        </p:txBody>
      </p:sp>
      <p:sp>
        <p:nvSpPr>
          <p:cNvPr id="23" name="TextBox 22"/>
          <p:cNvSpPr txBox="1"/>
          <p:nvPr/>
        </p:nvSpPr>
        <p:spPr>
          <a:xfrm>
            <a:off x="822960" y="5943600"/>
            <a:ext cx="10058400" cy="292608"/>
          </a:xfrm>
          <a:prstGeom prst="rect">
            <a:avLst/>
          </a:prstGeom>
          <a:noFill/>
        </p:spPr>
        <p:txBody>
          <a:bodyPr wrap="square" anchor="t" lIns="0" rIns="0" tIns="0" bIns="0"/>
          <a:lstStyle/>
          <a:p>
            <a:pPr algn="l">
              <a:spcBef>
                <a:spcPts val="0"/>
              </a:spcBef>
              <a:spcAft>
                <a:spcPts val="0"/>
              </a:spcAft>
            </a:pPr>
            <a:r>
              <a:rPr sz="1250" b="0" i="0">
                <a:solidFill>
                  <a:srgbClr val="9FB0D8"/>
                </a:solidFill>
                <a:latin typeface="Aptos"/>
              </a:rPr>
              <a:t>[Title], [Organization]</a:t>
            </a:r>
            <a:r>
              <a:rPr sz="1250" b="0" i="0">
                <a:solidFill>
                  <a:srgbClr val="9FB0D8"/>
                </a:solidFill>
                <a:latin typeface="Aptos"/>
              </a:rPr>
              <a:t>     ·     A short, tiered proposal, then your decision</a:t>
            </a:r>
          </a:p>
        </p:txBody>
      </p:sp>
      <p:sp>
        <p:nvSpPr>
          <p:cNvPr id="24" name="TextBox 23"/>
          <p:cNvSpPr txBox="1"/>
          <p:nvPr/>
        </p:nvSpPr>
        <p:spPr>
          <a:xfrm>
            <a:off x="822960" y="6272784"/>
            <a:ext cx="10058400" cy="274320"/>
          </a:xfrm>
          <a:prstGeom prst="rect">
            <a:avLst/>
          </a:prstGeom>
          <a:noFill/>
        </p:spPr>
        <p:txBody>
          <a:bodyPr wrap="square" anchor="t" lIns="0" rIns="0" tIns="0" bIns="0"/>
          <a:lstStyle/>
          <a:p>
            <a:pPr algn="l">
              <a:spcBef>
                <a:spcPts val="0"/>
              </a:spcBef>
              <a:spcAft>
                <a:spcPts val="0"/>
              </a:spcAft>
            </a:pPr>
            <a:r>
              <a:rPr sz="1150" b="0" i="1">
                <a:solidFill>
                  <a:srgbClr val="12B3C4"/>
                </a:solidFill>
                <a:latin typeface="Aptos"/>
              </a:rPr>
              <a:t>Based on the Copilot Premium Executive Playbook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F0A500"/>
                </a:solidFill>
                <a:latin typeface="Aptos"/>
              </a:rPr>
              <a:t>THE BOTTOM LINE, UP FRONT</a:t>
            </a:r>
          </a:p>
        </p:txBody>
      </p:sp>
      <p:sp>
        <p:nvSpPr>
          <p:cNvPr id="7" name="TextBox 6"/>
          <p:cNvSpPr txBox="1"/>
          <p:nvPr/>
        </p:nvSpPr>
        <p:spPr>
          <a:xfrm>
            <a:off x="804672" y="896112"/>
            <a:ext cx="10972800" cy="1371600"/>
          </a:xfrm>
          <a:prstGeom prst="rect">
            <a:avLst/>
          </a:prstGeom>
          <a:noFill/>
        </p:spPr>
        <p:txBody>
          <a:bodyPr wrap="square" anchor="t" lIns="0" rIns="0" tIns="0" bIns="0"/>
          <a:lstStyle/>
          <a:p>
            <a:pPr algn="l">
              <a:lnSpc>
                <a:spcPct val="100000"/>
              </a:lnSpc>
              <a:spcBef>
                <a:spcPts val="0"/>
              </a:spcBef>
              <a:spcAft>
                <a:spcPts val="0"/>
              </a:spcAft>
            </a:pPr>
            <a:r>
              <a:rPr sz="3400" b="1" i="0">
                <a:solidFill>
                  <a:srgbClr val="FFFFFF"/>
                </a:solidFill>
                <a:latin typeface="Aptos"/>
              </a:rPr>
              <a:t>The ask, up front</a:t>
            </a:r>
          </a:p>
        </p:txBody>
      </p:sp>
      <p:sp>
        <p:nvSpPr>
          <p:cNvPr id="8" name="TextBox 7"/>
          <p:cNvSpPr txBox="1"/>
          <p:nvPr/>
        </p:nvSpPr>
        <p:spPr>
          <a:xfrm>
            <a:off x="822960" y="1572768"/>
            <a:ext cx="10332720" cy="457200"/>
          </a:xfrm>
          <a:prstGeom prst="rect">
            <a:avLst/>
          </a:prstGeom>
          <a:noFill/>
        </p:spPr>
        <p:txBody>
          <a:bodyPr wrap="square" anchor="t" lIns="0" rIns="0" tIns="0" bIns="0"/>
          <a:lstStyle/>
          <a:p>
            <a:pPr algn="l">
              <a:lnSpc>
                <a:spcPct val="120000"/>
              </a:lnSpc>
              <a:spcBef>
                <a:spcPts val="0"/>
              </a:spcBef>
              <a:spcAft>
                <a:spcPts val="0"/>
              </a:spcAft>
            </a:pPr>
            <a:r>
              <a:rPr sz="1600" b="0" i="0">
                <a:solidFill>
                  <a:srgbClr val="9FB0D8"/>
                </a:solidFill>
                <a:latin typeface="Aptos"/>
              </a:rPr>
              <a:t>I want to run a short, tiered Copilot program for our leaders, and I need your </a:t>
            </a:r>
            <a:r>
              <a:rPr sz="1600" b="1" i="0">
                <a:solidFill>
                  <a:srgbClr val="12B3C4"/>
                </a:solidFill>
                <a:latin typeface="Aptos"/>
              </a:rPr>
              <a:t>sponsorship</a:t>
            </a:r>
            <a:r>
              <a:rPr sz="1600" b="0" i="0">
                <a:solidFill>
                  <a:srgbClr val="9FB0D8"/>
                </a:solidFill>
                <a:latin typeface="Aptos"/>
              </a:rPr>
              <a:t> to do it right.</a:t>
            </a:r>
          </a:p>
        </p:txBody>
      </p:sp>
      <p:sp>
        <p:nvSpPr>
          <p:cNvPr id="9" name="Rounded Rectangle 8"/>
          <p:cNvSpPr/>
          <p:nvPr/>
        </p:nvSpPr>
        <p:spPr>
          <a:xfrm>
            <a:off x="822960" y="2212848"/>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33856" y="2578608"/>
            <a:ext cx="658368" cy="658368"/>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lag.png"/>
          <p:cNvPicPr>
            <a:picLocks noChangeAspect="1"/>
          </p:cNvPicPr>
          <p:nvPr/>
        </p:nvPicPr>
        <p:blipFill>
          <a:blip r:embed="rId2"/>
          <a:stretch>
            <a:fillRect/>
          </a:stretch>
        </p:blipFill>
        <p:spPr>
          <a:xfrm>
            <a:off x="1291864" y="2736616"/>
            <a:ext cx="342351" cy="342351"/>
          </a:xfrm>
          <a:prstGeom prst="rect">
            <a:avLst/>
          </a:prstGeom>
        </p:spPr>
      </p:pic>
      <p:sp>
        <p:nvSpPr>
          <p:cNvPr id="12" name="TextBox 11"/>
          <p:cNvSpPr txBox="1"/>
          <p:nvPr/>
        </p:nvSpPr>
        <p:spPr>
          <a:xfrm>
            <a:off x="2011680" y="2523744"/>
            <a:ext cx="3703320" cy="365760"/>
          </a:xfrm>
          <a:prstGeom prst="rect">
            <a:avLst/>
          </a:prstGeom>
          <a:noFill/>
        </p:spPr>
        <p:txBody>
          <a:bodyPr wrap="square" anchor="t" lIns="0" rIns="0" tIns="0" bIns="0"/>
          <a:lstStyle/>
          <a:p>
            <a:pPr algn="l">
              <a:spcBef>
                <a:spcPts val="0"/>
              </a:spcBef>
              <a:spcAft>
                <a:spcPts val="0"/>
              </a:spcAft>
            </a:pPr>
            <a:r>
              <a:rPr sz="1700" b="1" i="0">
                <a:solidFill>
                  <a:srgbClr val="FFFFFF"/>
                </a:solidFill>
                <a:latin typeface="Aptos"/>
              </a:rPr>
              <a:t>Sponsor it, and go first</a:t>
            </a:r>
          </a:p>
        </p:txBody>
      </p:sp>
      <p:sp>
        <p:nvSpPr>
          <p:cNvPr id="13" name="TextBox 12"/>
          <p:cNvSpPr txBox="1"/>
          <p:nvPr/>
        </p:nvSpPr>
        <p:spPr>
          <a:xfrm>
            <a:off x="2011680" y="2926080"/>
            <a:ext cx="3703320" cy="548640"/>
          </a:xfrm>
          <a:prstGeom prst="rect">
            <a:avLst/>
          </a:prstGeom>
          <a:noFill/>
        </p:spPr>
        <p:txBody>
          <a:bodyPr wrap="square" anchor="t" lIns="0" rIns="0" tIns="0" bIns="0"/>
          <a:lstStyle/>
          <a:p>
            <a:pPr algn="l">
              <a:lnSpc>
                <a:spcPct val="112000"/>
              </a:lnSpc>
              <a:spcBef>
                <a:spcPts val="0"/>
              </a:spcBef>
              <a:spcAft>
                <a:spcPts val="0"/>
              </a:spcAft>
            </a:pPr>
            <a:r>
              <a:rPr sz="1300" b="0" i="0">
                <a:solidFill>
                  <a:srgbClr val="9FB0D8"/>
                </a:solidFill>
                <a:latin typeface="Aptos"/>
              </a:rPr>
              <a:t>Leadership models it before we ask anyone else to.</a:t>
            </a:r>
          </a:p>
        </p:txBody>
      </p:sp>
      <p:sp>
        <p:nvSpPr>
          <p:cNvPr id="14" name="Rounded Rectangle 13"/>
          <p:cNvSpPr/>
          <p:nvPr/>
        </p:nvSpPr>
        <p:spPr>
          <a:xfrm>
            <a:off x="6272784" y="2212848"/>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0" y="2578608"/>
            <a:ext cx="658368" cy="658368"/>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ople.png"/>
          <p:cNvPicPr>
            <a:picLocks noChangeAspect="1"/>
          </p:cNvPicPr>
          <p:nvPr/>
        </p:nvPicPr>
        <p:blipFill>
          <a:blip r:embed="rId3"/>
          <a:stretch>
            <a:fillRect/>
          </a:stretch>
        </p:blipFill>
        <p:spPr>
          <a:xfrm>
            <a:off x="6741688" y="2736616"/>
            <a:ext cx="342351" cy="342351"/>
          </a:xfrm>
          <a:prstGeom prst="rect">
            <a:avLst/>
          </a:prstGeom>
        </p:spPr>
      </p:pic>
      <p:sp>
        <p:nvSpPr>
          <p:cNvPr id="17" name="TextBox 16"/>
          <p:cNvSpPr txBox="1"/>
          <p:nvPr/>
        </p:nvSpPr>
        <p:spPr>
          <a:xfrm>
            <a:off x="7461504" y="2523744"/>
            <a:ext cx="3703320" cy="365760"/>
          </a:xfrm>
          <a:prstGeom prst="rect">
            <a:avLst/>
          </a:prstGeom>
          <a:noFill/>
        </p:spPr>
        <p:txBody>
          <a:bodyPr wrap="square" anchor="t" lIns="0" rIns="0" tIns="0" bIns="0"/>
          <a:lstStyle/>
          <a:p>
            <a:pPr algn="l">
              <a:spcBef>
                <a:spcPts val="0"/>
              </a:spcBef>
              <a:spcAft>
                <a:spcPts val="0"/>
              </a:spcAft>
            </a:pPr>
            <a:r>
              <a:rPr sz="1700" b="1" i="0">
                <a:solidFill>
                  <a:srgbClr val="FFFFFF"/>
                </a:solidFill>
                <a:latin typeface="Aptos"/>
              </a:rPr>
              <a:t>Name an owner</a:t>
            </a:r>
          </a:p>
        </p:txBody>
      </p:sp>
      <p:sp>
        <p:nvSpPr>
          <p:cNvPr id="18" name="TextBox 17"/>
          <p:cNvSpPr txBox="1"/>
          <p:nvPr/>
        </p:nvSpPr>
        <p:spPr>
          <a:xfrm>
            <a:off x="7461504" y="2926080"/>
            <a:ext cx="3703320" cy="548640"/>
          </a:xfrm>
          <a:prstGeom prst="rect">
            <a:avLst/>
          </a:prstGeom>
          <a:noFill/>
        </p:spPr>
        <p:txBody>
          <a:bodyPr wrap="square" anchor="t" lIns="0" rIns="0" tIns="0" bIns="0"/>
          <a:lstStyle/>
          <a:p>
            <a:pPr algn="l">
              <a:lnSpc>
                <a:spcPct val="112000"/>
              </a:lnSpc>
              <a:spcBef>
                <a:spcPts val="0"/>
              </a:spcBef>
              <a:spcAft>
                <a:spcPts val="0"/>
              </a:spcAft>
            </a:pPr>
            <a:r>
              <a:rPr sz="1300" b="0" i="0">
                <a:solidFill>
                  <a:srgbClr val="9FB0D8"/>
                </a:solidFill>
                <a:latin typeface="Aptos"/>
              </a:rPr>
              <a:t>One small team that carries adoption after the training.</a:t>
            </a:r>
          </a:p>
        </p:txBody>
      </p:sp>
      <p:sp>
        <p:nvSpPr>
          <p:cNvPr id="19" name="Rounded Rectangle 18"/>
          <p:cNvSpPr/>
          <p:nvPr/>
        </p:nvSpPr>
        <p:spPr>
          <a:xfrm>
            <a:off x="822960" y="3712463"/>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33856" y="4078224"/>
            <a:ext cx="658368" cy="658368"/>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alendar.png"/>
          <p:cNvPicPr>
            <a:picLocks noChangeAspect="1"/>
          </p:cNvPicPr>
          <p:nvPr/>
        </p:nvPicPr>
        <p:blipFill>
          <a:blip r:embed="rId4"/>
          <a:stretch>
            <a:fillRect/>
          </a:stretch>
        </p:blipFill>
        <p:spPr>
          <a:xfrm>
            <a:off x="1291864" y="4236232"/>
            <a:ext cx="342351" cy="342351"/>
          </a:xfrm>
          <a:prstGeom prst="rect">
            <a:avLst/>
          </a:prstGeom>
        </p:spPr>
      </p:pic>
      <p:sp>
        <p:nvSpPr>
          <p:cNvPr id="22" name="TextBox 21"/>
          <p:cNvSpPr txBox="1"/>
          <p:nvPr/>
        </p:nvSpPr>
        <p:spPr>
          <a:xfrm>
            <a:off x="2011680" y="4023359"/>
            <a:ext cx="3703320" cy="365760"/>
          </a:xfrm>
          <a:prstGeom prst="rect">
            <a:avLst/>
          </a:prstGeom>
          <a:noFill/>
        </p:spPr>
        <p:txBody>
          <a:bodyPr wrap="square" anchor="t" lIns="0" rIns="0" tIns="0" bIns="0"/>
          <a:lstStyle/>
          <a:p>
            <a:pPr algn="l">
              <a:spcBef>
                <a:spcPts val="0"/>
              </a:spcBef>
              <a:spcAft>
                <a:spcPts val="0"/>
              </a:spcAft>
            </a:pPr>
            <a:r>
              <a:rPr sz="1700" b="1" i="0">
                <a:solidFill>
                  <a:srgbClr val="FFFFFF"/>
                </a:solidFill>
                <a:latin typeface="Aptos"/>
              </a:rPr>
              <a:t>Back a 90-day rollout</a:t>
            </a:r>
          </a:p>
        </p:txBody>
      </p:sp>
      <p:sp>
        <p:nvSpPr>
          <p:cNvPr id="23" name="TextBox 22"/>
          <p:cNvSpPr txBox="1"/>
          <p:nvPr/>
        </p:nvSpPr>
        <p:spPr>
          <a:xfrm>
            <a:off x="2011680" y="4425696"/>
            <a:ext cx="3703320" cy="548640"/>
          </a:xfrm>
          <a:prstGeom prst="rect">
            <a:avLst/>
          </a:prstGeom>
          <a:noFill/>
        </p:spPr>
        <p:txBody>
          <a:bodyPr wrap="square" anchor="t" lIns="0" rIns="0" tIns="0" bIns="0"/>
          <a:lstStyle/>
          <a:p>
            <a:pPr algn="l">
              <a:lnSpc>
                <a:spcPct val="112000"/>
              </a:lnSpc>
              <a:spcBef>
                <a:spcPts val="0"/>
              </a:spcBef>
              <a:spcAft>
                <a:spcPts val="0"/>
              </a:spcAft>
            </a:pPr>
            <a:r>
              <a:rPr sz="1300" b="0" i="0">
                <a:solidFill>
                  <a:srgbClr val="9FB0D8"/>
                </a:solidFill>
                <a:latin typeface="Aptos"/>
              </a:rPr>
              <a:t>Time on calendars, not just licenses in a portal.</a:t>
            </a:r>
          </a:p>
        </p:txBody>
      </p:sp>
      <p:sp>
        <p:nvSpPr>
          <p:cNvPr id="24" name="Rounded Rectangle 23"/>
          <p:cNvSpPr/>
          <p:nvPr/>
        </p:nvSpPr>
        <p:spPr>
          <a:xfrm>
            <a:off x="6272784" y="3712463"/>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0" y="4078224"/>
            <a:ext cx="658368" cy="65836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refresh.png"/>
          <p:cNvPicPr>
            <a:picLocks noChangeAspect="1"/>
          </p:cNvPicPr>
          <p:nvPr/>
        </p:nvPicPr>
        <p:blipFill>
          <a:blip r:embed="rId5"/>
          <a:stretch>
            <a:fillRect/>
          </a:stretch>
        </p:blipFill>
        <p:spPr>
          <a:xfrm>
            <a:off x="6741688" y="4236232"/>
            <a:ext cx="342351" cy="342351"/>
          </a:xfrm>
          <a:prstGeom prst="rect">
            <a:avLst/>
          </a:prstGeom>
        </p:spPr>
      </p:pic>
      <p:sp>
        <p:nvSpPr>
          <p:cNvPr id="27" name="TextBox 26"/>
          <p:cNvSpPr txBox="1"/>
          <p:nvPr/>
        </p:nvSpPr>
        <p:spPr>
          <a:xfrm>
            <a:off x="7461504" y="4023359"/>
            <a:ext cx="3703320" cy="365760"/>
          </a:xfrm>
          <a:prstGeom prst="rect">
            <a:avLst/>
          </a:prstGeom>
          <a:noFill/>
        </p:spPr>
        <p:txBody>
          <a:bodyPr wrap="square" anchor="t" lIns="0" rIns="0" tIns="0" bIns="0"/>
          <a:lstStyle/>
          <a:p>
            <a:pPr algn="l">
              <a:spcBef>
                <a:spcPts val="0"/>
              </a:spcBef>
              <a:spcAft>
                <a:spcPts val="0"/>
              </a:spcAft>
            </a:pPr>
            <a:r>
              <a:rPr sz="1700" b="1" i="0">
                <a:solidFill>
                  <a:srgbClr val="FFFFFF"/>
                </a:solidFill>
                <a:latin typeface="Aptos"/>
              </a:rPr>
              <a:t>Reinforce the habit</a:t>
            </a:r>
          </a:p>
        </p:txBody>
      </p:sp>
      <p:sp>
        <p:nvSpPr>
          <p:cNvPr id="28" name="TextBox 27"/>
          <p:cNvSpPr txBox="1"/>
          <p:nvPr/>
        </p:nvSpPr>
        <p:spPr>
          <a:xfrm>
            <a:off x="7461504" y="4425696"/>
            <a:ext cx="3703320" cy="548640"/>
          </a:xfrm>
          <a:prstGeom prst="rect">
            <a:avLst/>
          </a:prstGeom>
          <a:noFill/>
        </p:spPr>
        <p:txBody>
          <a:bodyPr wrap="square" anchor="t" lIns="0" rIns="0" tIns="0" bIns="0"/>
          <a:lstStyle/>
          <a:p>
            <a:pPr algn="l">
              <a:lnSpc>
                <a:spcPct val="112000"/>
              </a:lnSpc>
              <a:spcBef>
                <a:spcPts val="0"/>
              </a:spcBef>
              <a:spcAft>
                <a:spcPts val="0"/>
              </a:spcAft>
            </a:pPr>
            <a:r>
              <a:rPr sz="1300" b="0" i="0">
                <a:solidFill>
                  <a:srgbClr val="9FB0D8"/>
                </a:solidFill>
                <a:latin typeface="Aptos"/>
              </a:rPr>
              <a:t>Ask your teams what they automated this week.</a:t>
            </a:r>
          </a:p>
        </p:txBody>
      </p:sp>
      <p:sp>
        <p:nvSpPr>
          <p:cNvPr id="29" name="Rounded Rectangle 28"/>
          <p:cNvSpPr/>
          <p:nvPr/>
        </p:nvSpPr>
        <p:spPr>
          <a:xfrm>
            <a:off x="822960" y="5669280"/>
            <a:ext cx="10543032" cy="566928"/>
          </a:xfrm>
          <a:prstGeom prst="roundRect">
            <a:avLst>
              <a:gd name="adj" fmla="val 1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5669280"/>
            <a:ext cx="9994392" cy="566928"/>
          </a:xfrm>
          <a:prstGeom prst="rect">
            <a:avLst/>
          </a:prstGeom>
          <a:noFill/>
        </p:spPr>
        <p:txBody>
          <a:bodyPr wrap="square" anchor="ctr" lIns="0" rIns="0" tIns="0" bIns="0"/>
          <a:lstStyle/>
          <a:p>
            <a:pPr algn="l">
              <a:spcBef>
                <a:spcPts val="0"/>
              </a:spcBef>
              <a:spcAft>
                <a:spcPts val="0"/>
              </a:spcAft>
            </a:pPr>
            <a:r>
              <a:rPr sz="1400" b="1" i="0">
                <a:solidFill>
                  <a:srgbClr val="F0A500"/>
                </a:solidFill>
                <a:latin typeface="Consolas"/>
              </a:rPr>
              <a:t>›_  </a:t>
            </a:r>
            <a:r>
              <a:rPr sz="1350" b="0" i="1">
                <a:solidFill>
                  <a:srgbClr val="D7E0F5"/>
                </a:solidFill>
                <a:latin typeface="Consolas"/>
              </a:rPr>
              <a:t>A decision today, not a pilot that quietly stalls in week six.</a:t>
            </a:r>
          </a:p>
        </p:txBody>
      </p:sp>
      <p:sp>
        <p:nvSpPr>
          <p:cNvPr id="31" name="TextBox 30"/>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9FB0D8"/>
                </a:solidFill>
                <a:latin typeface="Aptos"/>
              </a:rPr>
              <a:t>Microsoft 365 Copilot Premium</a:t>
            </a:r>
            <a:r>
              <a:rPr sz="900" b="0" i="0">
                <a:solidFill>
                  <a:srgbClr val="9FB0D8"/>
                </a:solidFill>
                <a:latin typeface="Aptos"/>
              </a:rPr>
              <a:t>   ·   Executive Sponsorship</a:t>
            </a:r>
          </a:p>
        </p:txBody>
      </p:sp>
      <p:sp>
        <p:nvSpPr>
          <p:cNvPr id="32" name="TextBox 31"/>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9FB0D8"/>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THE PROBLEM   ·   WHY NOW</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100" b="1" i="0">
                <a:solidFill>
                  <a:srgbClr val="111C44"/>
                </a:solidFill>
                <a:latin typeface="Aptos"/>
              </a:rPr>
              <a:t>We bought the licenses. Are we running on them?</a:t>
            </a:r>
          </a:p>
        </p:txBody>
      </p:sp>
      <p:sp>
        <p:nvSpPr>
          <p:cNvPr id="5" name="TextBox 4"/>
          <p:cNvSpPr txBox="1"/>
          <p:nvPr/>
        </p:nvSpPr>
        <p:spPr>
          <a:xfrm>
            <a:off x="640080" y="1517904"/>
            <a:ext cx="10698480" cy="1005840"/>
          </a:xfrm>
          <a:prstGeom prst="rect">
            <a:avLst/>
          </a:prstGeom>
          <a:noFill/>
        </p:spPr>
        <p:txBody>
          <a:bodyPr wrap="square" anchor="t" lIns="0" rIns="0" tIns="0" bIns="0"/>
          <a:lstStyle/>
          <a:p>
            <a:pPr algn="l">
              <a:lnSpc>
                <a:spcPct val="125000"/>
              </a:lnSpc>
              <a:spcBef>
                <a:spcPts val="0"/>
              </a:spcBef>
              <a:spcAft>
                <a:spcPts val="0"/>
              </a:spcAft>
            </a:pPr>
            <a:r>
              <a:rPr sz="1550" b="0" i="0">
                <a:solidFill>
                  <a:srgbClr val="45536E"/>
                </a:solidFill>
                <a:latin typeface="Aptos"/>
              </a:rPr>
              <a:t>Most of a leader's day goes to keeping up. Our inboxes, meetings, and documents already hold more than anyone can read. Copilot Premium does the reading, drafting, and prep so our time goes to judgment. But a license no one is trained on is a cost, not a capability.</a:t>
            </a:r>
          </a:p>
        </p:txBody>
      </p:sp>
      <p:sp>
        <p:nvSpPr>
          <p:cNvPr id="6" name="Rounded Rectangle 5"/>
          <p:cNvSpPr/>
          <p:nvPr/>
        </p:nvSpPr>
        <p:spPr>
          <a:xfrm>
            <a:off x="640080" y="3063240"/>
            <a:ext cx="3502152" cy="2148840"/>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3063240"/>
            <a:ext cx="2770632" cy="82296"/>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87552" y="3447288"/>
            <a:ext cx="749808" cy="749808"/>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earch.png"/>
          <p:cNvPicPr>
            <a:picLocks noChangeAspect="1"/>
          </p:cNvPicPr>
          <p:nvPr/>
        </p:nvPicPr>
        <p:blipFill>
          <a:blip r:embed="rId2"/>
          <a:stretch>
            <a:fillRect/>
          </a:stretch>
        </p:blipFill>
        <p:spPr>
          <a:xfrm>
            <a:off x="1167505" y="3627241"/>
            <a:ext cx="389900" cy="389900"/>
          </a:xfrm>
          <a:prstGeom prst="rect">
            <a:avLst/>
          </a:prstGeom>
        </p:spPr>
      </p:pic>
      <p:sp>
        <p:nvSpPr>
          <p:cNvPr id="10" name="TextBox 9"/>
          <p:cNvSpPr txBox="1"/>
          <p:nvPr/>
        </p:nvSpPr>
        <p:spPr>
          <a:xfrm>
            <a:off x="987552" y="4361688"/>
            <a:ext cx="286207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Can't find it</a:t>
            </a:r>
          </a:p>
        </p:txBody>
      </p:sp>
      <p:sp>
        <p:nvSpPr>
          <p:cNvPr id="11" name="TextBox 10"/>
          <p:cNvSpPr txBox="1"/>
          <p:nvPr/>
        </p:nvSpPr>
        <p:spPr>
          <a:xfrm>
            <a:off x="987552" y="4764024"/>
            <a:ext cx="2843784" cy="548640"/>
          </a:xfrm>
          <a:prstGeom prst="rect">
            <a:avLst/>
          </a:prstGeom>
          <a:noFill/>
        </p:spPr>
        <p:txBody>
          <a:bodyPr wrap="square" anchor="t" lIns="0" rIns="0" tIns="0" bIns="0"/>
          <a:lstStyle/>
          <a:p>
            <a:pPr algn="l">
              <a:lnSpc>
                <a:spcPct val="118000"/>
              </a:lnSpc>
              <a:spcBef>
                <a:spcPts val="0"/>
              </a:spcBef>
              <a:spcAft>
                <a:spcPts val="0"/>
              </a:spcAft>
            </a:pPr>
            <a:r>
              <a:rPr sz="1300" b="0" i="0">
                <a:solidFill>
                  <a:srgbClr val="45536E"/>
                </a:solidFill>
                <a:latin typeface="Aptos"/>
              </a:rPr>
              <a:t>The top reason new users stall is they never locate it.</a:t>
            </a:r>
          </a:p>
        </p:txBody>
      </p:sp>
      <p:sp>
        <p:nvSpPr>
          <p:cNvPr id="12" name="Rounded Rectangle 11"/>
          <p:cNvSpPr/>
          <p:nvPr/>
        </p:nvSpPr>
        <p:spPr>
          <a:xfrm>
            <a:off x="4325112" y="3063240"/>
            <a:ext cx="3502152" cy="2148840"/>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90872" y="3063240"/>
            <a:ext cx="2770632" cy="82296"/>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72584" y="3447288"/>
            <a:ext cx="749808" cy="749808"/>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refresh.png"/>
          <p:cNvPicPr>
            <a:picLocks noChangeAspect="1"/>
          </p:cNvPicPr>
          <p:nvPr/>
        </p:nvPicPr>
        <p:blipFill>
          <a:blip r:embed="rId3"/>
          <a:stretch>
            <a:fillRect/>
          </a:stretch>
        </p:blipFill>
        <p:spPr>
          <a:xfrm>
            <a:off x="4852537" y="3627241"/>
            <a:ext cx="389900" cy="389900"/>
          </a:xfrm>
          <a:prstGeom prst="rect">
            <a:avLst/>
          </a:prstGeom>
        </p:spPr>
      </p:pic>
      <p:sp>
        <p:nvSpPr>
          <p:cNvPr id="16" name="TextBox 15"/>
          <p:cNvSpPr txBox="1"/>
          <p:nvPr/>
        </p:nvSpPr>
        <p:spPr>
          <a:xfrm>
            <a:off x="4672584" y="4361688"/>
            <a:ext cx="286207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Habit or bust</a:t>
            </a:r>
          </a:p>
        </p:txBody>
      </p:sp>
      <p:sp>
        <p:nvSpPr>
          <p:cNvPr id="17" name="TextBox 16"/>
          <p:cNvSpPr txBox="1"/>
          <p:nvPr/>
        </p:nvSpPr>
        <p:spPr>
          <a:xfrm>
            <a:off x="4672584" y="4764024"/>
            <a:ext cx="2843784" cy="548640"/>
          </a:xfrm>
          <a:prstGeom prst="rect">
            <a:avLst/>
          </a:prstGeom>
          <a:noFill/>
        </p:spPr>
        <p:txBody>
          <a:bodyPr wrap="square" anchor="t" lIns="0" rIns="0" tIns="0" bIns="0"/>
          <a:lstStyle/>
          <a:p>
            <a:pPr algn="l">
              <a:lnSpc>
                <a:spcPct val="118000"/>
              </a:lnSpc>
              <a:spcBef>
                <a:spcPts val="0"/>
              </a:spcBef>
              <a:spcAft>
                <a:spcPts val="0"/>
              </a:spcAft>
            </a:pPr>
            <a:r>
              <a:rPr sz="1300" b="0" i="0">
                <a:solidFill>
                  <a:srgbClr val="45536E"/>
                </a:solidFill>
                <a:latin typeface="Aptos"/>
              </a:rPr>
              <a:t>Adoption dies without a habit, and a habit needs sponsorship.</a:t>
            </a:r>
          </a:p>
        </p:txBody>
      </p:sp>
      <p:sp>
        <p:nvSpPr>
          <p:cNvPr id="18" name="Rounded Rectangle 17"/>
          <p:cNvSpPr/>
          <p:nvPr/>
        </p:nvSpPr>
        <p:spPr>
          <a:xfrm>
            <a:off x="8010144" y="3063240"/>
            <a:ext cx="3502152" cy="2148840"/>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75904" y="3063240"/>
            <a:ext cx="2770632" cy="82296"/>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57616" y="3447288"/>
            <a:ext cx="749808" cy="749808"/>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atabase.png"/>
          <p:cNvPicPr>
            <a:picLocks noChangeAspect="1"/>
          </p:cNvPicPr>
          <p:nvPr/>
        </p:nvPicPr>
        <p:blipFill>
          <a:blip r:embed="rId4"/>
          <a:stretch>
            <a:fillRect/>
          </a:stretch>
        </p:blipFill>
        <p:spPr>
          <a:xfrm>
            <a:off x="8537569" y="3627241"/>
            <a:ext cx="389900" cy="389900"/>
          </a:xfrm>
          <a:prstGeom prst="rect">
            <a:avLst/>
          </a:prstGeom>
        </p:spPr>
      </p:pic>
      <p:sp>
        <p:nvSpPr>
          <p:cNvPr id="22" name="TextBox 21"/>
          <p:cNvSpPr txBox="1"/>
          <p:nvPr/>
        </p:nvSpPr>
        <p:spPr>
          <a:xfrm>
            <a:off x="8357616" y="4361688"/>
            <a:ext cx="286207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Grounded in us</a:t>
            </a:r>
          </a:p>
        </p:txBody>
      </p:sp>
      <p:sp>
        <p:nvSpPr>
          <p:cNvPr id="23" name="TextBox 22"/>
          <p:cNvSpPr txBox="1"/>
          <p:nvPr/>
        </p:nvSpPr>
        <p:spPr>
          <a:xfrm>
            <a:off x="8357616" y="4764024"/>
            <a:ext cx="2843784" cy="548640"/>
          </a:xfrm>
          <a:prstGeom prst="rect">
            <a:avLst/>
          </a:prstGeom>
          <a:noFill/>
        </p:spPr>
        <p:txBody>
          <a:bodyPr wrap="square" anchor="t" lIns="0" rIns="0" tIns="0" bIns="0"/>
          <a:lstStyle/>
          <a:p>
            <a:pPr algn="l">
              <a:lnSpc>
                <a:spcPct val="118000"/>
              </a:lnSpc>
              <a:spcBef>
                <a:spcPts val="0"/>
              </a:spcBef>
              <a:spcAft>
                <a:spcPts val="0"/>
              </a:spcAft>
            </a:pPr>
            <a:r>
              <a:rPr sz="1300" b="0" i="0">
                <a:solidFill>
                  <a:srgbClr val="45536E"/>
                </a:solidFill>
                <a:latin typeface="Aptos"/>
              </a:rPr>
              <a:t>Premium works from our actual work, not the public web.</a:t>
            </a:r>
          </a:p>
        </p:txBody>
      </p:sp>
      <p:sp>
        <p:nvSpPr>
          <p:cNvPr id="24" name="TextBox 23"/>
          <p:cNvSpPr txBox="1"/>
          <p:nvPr/>
        </p:nvSpPr>
        <p:spPr>
          <a:xfrm>
            <a:off x="640080" y="5742432"/>
            <a:ext cx="10698480" cy="365760"/>
          </a:xfrm>
          <a:prstGeom prst="rect">
            <a:avLst/>
          </a:prstGeom>
          <a:noFill/>
        </p:spPr>
        <p:txBody>
          <a:bodyPr wrap="square" anchor="t" lIns="0" rIns="0" tIns="0" bIns="0"/>
          <a:lstStyle/>
          <a:p>
            <a:pPr algn="l">
              <a:spcBef>
                <a:spcPts val="0"/>
              </a:spcBef>
              <a:spcAft>
                <a:spcPts val="0"/>
              </a:spcAft>
            </a:pPr>
            <a:r>
              <a:rPr sz="1450" b="0" i="1">
                <a:solidFill>
                  <a:srgbClr val="8A93A6"/>
                </a:solidFill>
                <a:latin typeface="Aptos"/>
              </a:rPr>
              <a:t>There is a real difference between a company that </a:t>
            </a:r>
            <a:r>
              <a:rPr sz="1450" b="1" i="1">
                <a:solidFill>
                  <a:srgbClr val="111C44"/>
                </a:solidFill>
                <a:latin typeface="Aptos"/>
              </a:rPr>
              <a:t>bought Copilot</a:t>
            </a:r>
            <a:r>
              <a:rPr sz="1450" b="0" i="1">
                <a:solidFill>
                  <a:srgbClr val="8A93A6"/>
                </a:solidFill>
                <a:latin typeface="Aptos"/>
              </a:rPr>
              <a:t> and one that </a:t>
            </a:r>
            <a:r>
              <a:rPr sz="1450" b="1" i="1">
                <a:solidFill>
                  <a:srgbClr val="111C44"/>
                </a:solidFill>
                <a:latin typeface="Aptos"/>
              </a:rPr>
              <a:t>runs on it.</a:t>
            </a:r>
          </a:p>
        </p:txBody>
      </p:sp>
      <p:sp>
        <p:nvSpPr>
          <p:cNvPr id="25" name="TextBox 24"/>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26" name="TextBox 25"/>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66928"/>
            <a:ext cx="1234440" cy="384048"/>
          </a:xfrm>
          <a:prstGeom prst="roundRect">
            <a:avLst>
              <a:gd name="adj" fmla="val 50000"/>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1234440" cy="384048"/>
          </a:xfrm>
          <a:prstGeom prst="rect">
            <a:avLst/>
          </a:prstGeom>
          <a:noFill/>
        </p:spPr>
        <p:txBody>
          <a:bodyPr wrap="square" anchor="ctr" lIns="0" rIns="0" tIns="0" bIns="0"/>
          <a:lstStyle/>
          <a:p>
            <a:pPr algn="ctr">
              <a:spcBef>
                <a:spcPts val="0"/>
              </a:spcBef>
              <a:spcAft>
                <a:spcPts val="0"/>
              </a:spcAft>
            </a:pPr>
            <a:r>
              <a:rPr sz="1100" b="1" i="0" spc="100">
                <a:solidFill>
                  <a:srgbClr val="FFFFFF"/>
                </a:solidFill>
                <a:latin typeface="Aptos"/>
              </a:rPr>
              <a:t>LEAD FIRST</a:t>
            </a:r>
          </a:p>
        </p:txBody>
      </p:sp>
      <p:sp>
        <p:nvSpPr>
          <p:cNvPr id="5" name="TextBox 4"/>
          <p:cNvSpPr txBox="1"/>
          <p:nvPr/>
        </p:nvSpPr>
        <p:spPr>
          <a:xfrm>
            <a:off x="2011680" y="576072"/>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WHY THIS EARNS YOUR SPONSORSHIP</a:t>
            </a:r>
          </a:p>
        </p:txBody>
      </p:sp>
      <p:sp>
        <p:nvSpPr>
          <p:cNvPr id="6" name="TextBox 5"/>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100" b="1" i="0">
                <a:solidFill>
                  <a:srgbClr val="111C44"/>
                </a:solidFill>
                <a:latin typeface="Aptos"/>
              </a:rPr>
              <a:t>Leaders go first, the organization follows</a:t>
            </a:r>
          </a:p>
        </p:txBody>
      </p:sp>
      <p:sp>
        <p:nvSpPr>
          <p:cNvPr id="7" name="TextBox 6"/>
          <p:cNvSpPr txBox="1"/>
          <p:nvPr/>
        </p:nvSpPr>
        <p:spPr>
          <a:xfrm>
            <a:off x="640080" y="1481328"/>
            <a:ext cx="10607040" cy="822960"/>
          </a:xfrm>
          <a:prstGeom prst="rect">
            <a:avLst/>
          </a:prstGeom>
          <a:noFill/>
        </p:spPr>
        <p:txBody>
          <a:bodyPr wrap="square" anchor="t" lIns="0" rIns="0" tIns="0" bIns="0"/>
          <a:lstStyle/>
          <a:p>
            <a:pPr algn="l">
              <a:lnSpc>
                <a:spcPct val="122000"/>
              </a:lnSpc>
              <a:spcBef>
                <a:spcPts val="0"/>
              </a:spcBef>
              <a:spcAft>
                <a:spcPts val="0"/>
              </a:spcAft>
            </a:pPr>
            <a:r>
              <a:rPr sz="1550" b="0" i="0">
                <a:solidFill>
                  <a:srgbClr val="45536E"/>
                </a:solidFill>
                <a:latin typeface="Aptos"/>
              </a:rPr>
              <a:t>When our leaders visibly use Copilot and get their own time back, everyone else follows. And Premium is not the free chatbot your teams have tried. Here is what makes it different.</a:t>
            </a:r>
          </a:p>
        </p:txBody>
      </p:sp>
      <p:sp>
        <p:nvSpPr>
          <p:cNvPr id="8" name="Rounded Rectangle 7"/>
          <p:cNvSpPr/>
          <p:nvPr/>
        </p:nvSpPr>
        <p:spPr>
          <a:xfrm>
            <a:off x="640080" y="2432304"/>
            <a:ext cx="5394960" cy="1664208"/>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889504"/>
            <a:ext cx="786384" cy="786384"/>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arch.png"/>
          <p:cNvPicPr>
            <a:picLocks noChangeAspect="1"/>
          </p:cNvPicPr>
          <p:nvPr/>
        </p:nvPicPr>
        <p:blipFill>
          <a:blip r:embed="rId2"/>
          <a:stretch>
            <a:fillRect/>
          </a:stretch>
        </p:blipFill>
        <p:spPr>
          <a:xfrm>
            <a:off x="1157996" y="3078236"/>
            <a:ext cx="408919" cy="408919"/>
          </a:xfrm>
          <a:prstGeom prst="rect">
            <a:avLst/>
          </a:prstGeom>
        </p:spPr>
      </p:pic>
      <p:sp>
        <p:nvSpPr>
          <p:cNvPr id="11" name="TextBox 10"/>
          <p:cNvSpPr txBox="1"/>
          <p:nvPr/>
        </p:nvSpPr>
        <p:spPr>
          <a:xfrm>
            <a:off x="2011680" y="2779776"/>
            <a:ext cx="3840480" cy="365760"/>
          </a:xfrm>
          <a:prstGeom prst="rect">
            <a:avLst/>
          </a:prstGeom>
          <a:noFill/>
        </p:spPr>
        <p:txBody>
          <a:bodyPr wrap="square" anchor="t" lIns="0" rIns="0" tIns="0" bIns="0"/>
          <a:lstStyle/>
          <a:p>
            <a:pPr algn="l">
              <a:spcBef>
                <a:spcPts val="0"/>
              </a:spcBef>
              <a:spcAft>
                <a:spcPts val="0"/>
              </a:spcAft>
            </a:pPr>
            <a:r>
              <a:rPr sz="1750" b="1" i="0">
                <a:solidFill>
                  <a:srgbClr val="111C44"/>
                </a:solidFill>
                <a:latin typeface="Aptos"/>
              </a:rPr>
              <a:t>It knows your work</a:t>
            </a:r>
          </a:p>
        </p:txBody>
      </p:sp>
      <p:sp>
        <p:nvSpPr>
          <p:cNvPr id="12" name="TextBox 11"/>
          <p:cNvSpPr txBox="1"/>
          <p:nvPr/>
        </p:nvSpPr>
        <p:spPr>
          <a:xfrm>
            <a:off x="2011680" y="3182112"/>
            <a:ext cx="3840480" cy="822960"/>
          </a:xfrm>
          <a:prstGeom prst="rect">
            <a:avLst/>
          </a:prstGeom>
          <a:noFill/>
        </p:spPr>
        <p:txBody>
          <a:bodyPr wrap="square" anchor="t" lIns="0" rIns="0" tIns="0" bIns="0"/>
          <a:lstStyle/>
          <a:p>
            <a:pPr algn="l">
              <a:lnSpc>
                <a:spcPct val="120000"/>
              </a:lnSpc>
              <a:spcBef>
                <a:spcPts val="0"/>
              </a:spcBef>
              <a:spcAft>
                <a:spcPts val="0"/>
              </a:spcAft>
            </a:pPr>
            <a:r>
              <a:rPr sz="1300" b="0" i="0">
                <a:solidFill>
                  <a:srgbClr val="45536E"/>
                </a:solidFill>
                <a:latin typeface="Aptos"/>
              </a:rPr>
              <a:t>Ask about a thread, a customer, or a document by name. It reads across our Microsoft 365 content.</a:t>
            </a:r>
          </a:p>
        </p:txBody>
      </p:sp>
      <p:sp>
        <p:nvSpPr>
          <p:cNvPr id="13" name="Rounded Rectangle 12"/>
          <p:cNvSpPr/>
          <p:nvPr/>
        </p:nvSpPr>
        <p:spPr>
          <a:xfrm>
            <a:off x="6144768" y="2432304"/>
            <a:ext cx="5394960" cy="1664208"/>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3952" y="2889504"/>
            <a:ext cx="786384" cy="786384"/>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id.png"/>
          <p:cNvPicPr>
            <a:picLocks noChangeAspect="1"/>
          </p:cNvPicPr>
          <p:nvPr/>
        </p:nvPicPr>
        <p:blipFill>
          <a:blip r:embed="rId3"/>
          <a:stretch>
            <a:fillRect/>
          </a:stretch>
        </p:blipFill>
        <p:spPr>
          <a:xfrm>
            <a:off x="6662684" y="3078236"/>
            <a:ext cx="408919" cy="408919"/>
          </a:xfrm>
          <a:prstGeom prst="rect">
            <a:avLst/>
          </a:prstGeom>
        </p:spPr>
      </p:pic>
      <p:sp>
        <p:nvSpPr>
          <p:cNvPr id="16" name="TextBox 15"/>
          <p:cNvSpPr txBox="1"/>
          <p:nvPr/>
        </p:nvSpPr>
        <p:spPr>
          <a:xfrm>
            <a:off x="7516367" y="2779776"/>
            <a:ext cx="3840480" cy="365760"/>
          </a:xfrm>
          <a:prstGeom prst="rect">
            <a:avLst/>
          </a:prstGeom>
          <a:noFill/>
        </p:spPr>
        <p:txBody>
          <a:bodyPr wrap="square" anchor="t" lIns="0" rIns="0" tIns="0" bIns="0"/>
          <a:lstStyle/>
          <a:p>
            <a:pPr algn="l">
              <a:spcBef>
                <a:spcPts val="0"/>
              </a:spcBef>
              <a:spcAft>
                <a:spcPts val="0"/>
              </a:spcAft>
            </a:pPr>
            <a:r>
              <a:rPr sz="1750" b="1" i="0">
                <a:solidFill>
                  <a:srgbClr val="111C44"/>
                </a:solidFill>
                <a:latin typeface="Aptos"/>
              </a:rPr>
              <a:t>It works where you work</a:t>
            </a:r>
          </a:p>
        </p:txBody>
      </p:sp>
      <p:sp>
        <p:nvSpPr>
          <p:cNvPr id="17" name="TextBox 16"/>
          <p:cNvSpPr txBox="1"/>
          <p:nvPr/>
        </p:nvSpPr>
        <p:spPr>
          <a:xfrm>
            <a:off x="7516367" y="3182112"/>
            <a:ext cx="3840480" cy="822960"/>
          </a:xfrm>
          <a:prstGeom prst="rect">
            <a:avLst/>
          </a:prstGeom>
          <a:noFill/>
        </p:spPr>
        <p:txBody>
          <a:bodyPr wrap="square" anchor="t" lIns="0" rIns="0" tIns="0" bIns="0"/>
          <a:lstStyle/>
          <a:p>
            <a:pPr algn="l">
              <a:lnSpc>
                <a:spcPct val="120000"/>
              </a:lnSpc>
              <a:spcBef>
                <a:spcPts val="0"/>
              </a:spcBef>
              <a:spcAft>
                <a:spcPts val="0"/>
              </a:spcAft>
            </a:pPr>
            <a:r>
              <a:rPr sz="1300" b="0" i="0">
                <a:solidFill>
                  <a:srgbClr val="45536E"/>
                </a:solidFill>
                <a:latin typeface="Aptos"/>
              </a:rPr>
              <a:t>Built into Outlook, Word, Excel, PowerPoint, and Teams, with one Copilot Chat front door.</a:t>
            </a:r>
          </a:p>
        </p:txBody>
      </p:sp>
      <p:sp>
        <p:nvSpPr>
          <p:cNvPr id="18" name="Rounded Rectangle 17"/>
          <p:cNvSpPr/>
          <p:nvPr/>
        </p:nvSpPr>
        <p:spPr>
          <a:xfrm>
            <a:off x="640080" y="4224528"/>
            <a:ext cx="5394960" cy="1664208"/>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681728"/>
            <a:ext cx="786384" cy="78638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en.png"/>
          <p:cNvPicPr>
            <a:picLocks noChangeAspect="1"/>
          </p:cNvPicPr>
          <p:nvPr/>
        </p:nvPicPr>
        <p:blipFill>
          <a:blip r:embed="rId4"/>
          <a:stretch>
            <a:fillRect/>
          </a:stretch>
        </p:blipFill>
        <p:spPr>
          <a:xfrm>
            <a:off x="1157996" y="4870460"/>
            <a:ext cx="408919" cy="408919"/>
          </a:xfrm>
          <a:prstGeom prst="rect">
            <a:avLst/>
          </a:prstGeom>
        </p:spPr>
      </p:pic>
      <p:sp>
        <p:nvSpPr>
          <p:cNvPr id="21" name="TextBox 20"/>
          <p:cNvSpPr txBox="1"/>
          <p:nvPr/>
        </p:nvSpPr>
        <p:spPr>
          <a:xfrm>
            <a:off x="2011680" y="4572000"/>
            <a:ext cx="3840480" cy="365760"/>
          </a:xfrm>
          <a:prstGeom prst="rect">
            <a:avLst/>
          </a:prstGeom>
          <a:noFill/>
        </p:spPr>
        <p:txBody>
          <a:bodyPr wrap="square" anchor="t" lIns="0" rIns="0" tIns="0" bIns="0"/>
          <a:lstStyle/>
          <a:p>
            <a:pPr algn="l">
              <a:spcBef>
                <a:spcPts val="0"/>
              </a:spcBef>
              <a:spcAft>
                <a:spcPts val="0"/>
              </a:spcAft>
            </a:pPr>
            <a:r>
              <a:rPr sz="1750" b="1" i="0">
                <a:solidFill>
                  <a:srgbClr val="111C44"/>
                </a:solidFill>
                <a:latin typeface="Aptos"/>
              </a:rPr>
              <a:t>It sounds like you</a:t>
            </a:r>
          </a:p>
        </p:txBody>
      </p:sp>
      <p:sp>
        <p:nvSpPr>
          <p:cNvPr id="22" name="TextBox 21"/>
          <p:cNvSpPr txBox="1"/>
          <p:nvPr/>
        </p:nvSpPr>
        <p:spPr>
          <a:xfrm>
            <a:off x="2011680" y="4974336"/>
            <a:ext cx="3840480" cy="822960"/>
          </a:xfrm>
          <a:prstGeom prst="rect">
            <a:avLst/>
          </a:prstGeom>
          <a:noFill/>
        </p:spPr>
        <p:txBody>
          <a:bodyPr wrap="square" anchor="t" lIns="0" rIns="0" tIns="0" bIns="0"/>
          <a:lstStyle/>
          <a:p>
            <a:pPr algn="l">
              <a:lnSpc>
                <a:spcPct val="120000"/>
              </a:lnSpc>
              <a:spcBef>
                <a:spcPts val="0"/>
              </a:spcBef>
              <a:spcAft>
                <a:spcPts val="0"/>
              </a:spcAft>
            </a:pPr>
            <a:r>
              <a:rPr sz="1300" b="0" i="0">
                <a:solidFill>
                  <a:srgbClr val="45536E"/>
                </a:solidFill>
                <a:latin typeface="Aptos"/>
              </a:rPr>
              <a:t>Set it up once and it drafts in your voice, so less of what it produces needs a rewrite.</a:t>
            </a:r>
          </a:p>
        </p:txBody>
      </p:sp>
      <p:sp>
        <p:nvSpPr>
          <p:cNvPr id="23" name="Rounded Rectangle 22"/>
          <p:cNvSpPr/>
          <p:nvPr/>
        </p:nvSpPr>
        <p:spPr>
          <a:xfrm>
            <a:off x="6144768" y="4224528"/>
            <a:ext cx="5394960" cy="1664208"/>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3952" y="4681728"/>
            <a:ext cx="786384" cy="786384"/>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ield.png"/>
          <p:cNvPicPr>
            <a:picLocks noChangeAspect="1"/>
          </p:cNvPicPr>
          <p:nvPr/>
        </p:nvPicPr>
        <p:blipFill>
          <a:blip r:embed="rId5"/>
          <a:stretch>
            <a:fillRect/>
          </a:stretch>
        </p:blipFill>
        <p:spPr>
          <a:xfrm>
            <a:off x="6662684" y="4870460"/>
            <a:ext cx="408919" cy="408919"/>
          </a:xfrm>
          <a:prstGeom prst="rect">
            <a:avLst/>
          </a:prstGeom>
        </p:spPr>
      </p:pic>
      <p:sp>
        <p:nvSpPr>
          <p:cNvPr id="26" name="TextBox 25"/>
          <p:cNvSpPr txBox="1"/>
          <p:nvPr/>
        </p:nvSpPr>
        <p:spPr>
          <a:xfrm>
            <a:off x="7516367" y="4572000"/>
            <a:ext cx="3840480" cy="365760"/>
          </a:xfrm>
          <a:prstGeom prst="rect">
            <a:avLst/>
          </a:prstGeom>
          <a:noFill/>
        </p:spPr>
        <p:txBody>
          <a:bodyPr wrap="square" anchor="t" lIns="0" rIns="0" tIns="0" bIns="0"/>
          <a:lstStyle/>
          <a:p>
            <a:pPr algn="l">
              <a:spcBef>
                <a:spcPts val="0"/>
              </a:spcBef>
              <a:spcAft>
                <a:spcPts val="0"/>
              </a:spcAft>
            </a:pPr>
            <a:r>
              <a:rPr sz="1750" b="1" i="0">
                <a:solidFill>
                  <a:srgbClr val="111C44"/>
                </a:solidFill>
                <a:latin typeface="Aptos"/>
              </a:rPr>
              <a:t>It stays private</a:t>
            </a:r>
          </a:p>
        </p:txBody>
      </p:sp>
      <p:sp>
        <p:nvSpPr>
          <p:cNvPr id="27" name="TextBox 26"/>
          <p:cNvSpPr txBox="1"/>
          <p:nvPr/>
        </p:nvSpPr>
        <p:spPr>
          <a:xfrm>
            <a:off x="7516367" y="4974336"/>
            <a:ext cx="3840480" cy="822960"/>
          </a:xfrm>
          <a:prstGeom prst="rect">
            <a:avLst/>
          </a:prstGeom>
          <a:noFill/>
        </p:spPr>
        <p:txBody>
          <a:bodyPr wrap="square" anchor="t" lIns="0" rIns="0" tIns="0" bIns="0"/>
          <a:lstStyle/>
          <a:p>
            <a:pPr algn="l">
              <a:lnSpc>
                <a:spcPct val="120000"/>
              </a:lnSpc>
              <a:spcBef>
                <a:spcPts val="0"/>
              </a:spcBef>
              <a:spcAft>
                <a:spcPts val="0"/>
              </a:spcAft>
            </a:pPr>
            <a:r>
              <a:rPr sz="1300" b="0" i="0">
                <a:solidFill>
                  <a:srgbClr val="45536E"/>
                </a:solidFill>
                <a:latin typeface="Aptos"/>
              </a:rPr>
              <a:t>Your prompts and data stay inside our tenant under enterprise protection. More on that next.</a:t>
            </a:r>
          </a:p>
        </p:txBody>
      </p:sp>
      <p:sp>
        <p:nvSpPr>
          <p:cNvPr id="28" name="TextBox 27"/>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29" name="TextBox 28"/>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THE PROPOSAL</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111C44"/>
                </a:solidFill>
                <a:latin typeface="Aptos"/>
              </a:rPr>
              <a:t>What we're proposing: a tiered program</a:t>
            </a:r>
          </a:p>
        </p:txBody>
      </p:sp>
      <p:sp>
        <p:nvSpPr>
          <p:cNvPr id="5" name="TextBox 4"/>
          <p:cNvSpPr txBox="1"/>
          <p:nvPr/>
        </p:nvSpPr>
        <p:spPr>
          <a:xfrm>
            <a:off x="640080" y="1481328"/>
            <a:ext cx="10607040" cy="914400"/>
          </a:xfrm>
          <a:prstGeom prst="rect">
            <a:avLst/>
          </a:prstGeom>
          <a:noFill/>
        </p:spPr>
        <p:txBody>
          <a:bodyPr wrap="square" anchor="t" lIns="0" rIns="0" tIns="0" bIns="0"/>
          <a:lstStyle/>
          <a:p>
            <a:pPr algn="l">
              <a:lnSpc>
                <a:spcPct val="122000"/>
              </a:lnSpc>
              <a:spcBef>
                <a:spcPts val="0"/>
              </a:spcBef>
              <a:spcAft>
                <a:spcPts val="0"/>
              </a:spcAft>
            </a:pPr>
            <a:r>
              <a:rPr sz="1550" b="0" i="0">
                <a:solidFill>
                  <a:srgbClr val="45536E"/>
                </a:solidFill>
                <a:latin typeface="Aptos"/>
              </a:rPr>
              <a:t>Three tiers, each builds on the last. Nine short sessions, every one 30 or 60 minutes, each useful on its own. Run one a week, or block a half-day per tier. We start at the foundations and add leverage from there.</a:t>
            </a:r>
          </a:p>
        </p:txBody>
      </p:sp>
      <p:sp>
        <p:nvSpPr>
          <p:cNvPr id="6" name="Rounded Rectangle 5"/>
          <p:cNvSpPr/>
          <p:nvPr/>
        </p:nvSpPr>
        <p:spPr>
          <a:xfrm>
            <a:off x="640080" y="2542032"/>
            <a:ext cx="2615184" cy="1097280"/>
          </a:xfrm>
          <a:prstGeom prst="roundRect">
            <a:avLst>
              <a:gd name="adj" fmla="val 7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542032"/>
            <a:ext cx="2615184" cy="82296"/>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24912"/>
            <a:ext cx="2615184" cy="548640"/>
          </a:xfrm>
          <a:prstGeom prst="rect">
            <a:avLst/>
          </a:prstGeom>
          <a:noFill/>
        </p:spPr>
        <p:txBody>
          <a:bodyPr wrap="square" anchor="t" lIns="0" rIns="0" tIns="0" bIns="0"/>
          <a:lstStyle/>
          <a:p>
            <a:pPr algn="ctr">
              <a:spcBef>
                <a:spcPts val="0"/>
              </a:spcBef>
              <a:spcAft>
                <a:spcPts val="0"/>
              </a:spcAft>
            </a:pPr>
            <a:r>
              <a:rPr sz="3000" b="1" i="0">
                <a:solidFill>
                  <a:srgbClr val="2D6CDF"/>
                </a:solidFill>
                <a:latin typeface="Aptos"/>
              </a:rPr>
              <a:t>3</a:t>
            </a:r>
          </a:p>
        </p:txBody>
      </p:sp>
      <p:sp>
        <p:nvSpPr>
          <p:cNvPr id="9" name="TextBox 8"/>
          <p:cNvSpPr txBox="1"/>
          <p:nvPr/>
        </p:nvSpPr>
        <p:spPr>
          <a:xfrm>
            <a:off x="640080" y="3255263"/>
            <a:ext cx="2615184" cy="292608"/>
          </a:xfrm>
          <a:prstGeom prst="rect">
            <a:avLst/>
          </a:prstGeom>
          <a:noFill/>
        </p:spPr>
        <p:txBody>
          <a:bodyPr wrap="square" anchor="t" lIns="0" rIns="0" tIns="0" bIns="0"/>
          <a:lstStyle/>
          <a:p>
            <a:pPr algn="ctr">
              <a:spcBef>
                <a:spcPts val="0"/>
              </a:spcBef>
              <a:spcAft>
                <a:spcPts val="0"/>
              </a:spcAft>
            </a:pPr>
            <a:r>
              <a:rPr sz="1200" b="1" i="0" spc="50">
                <a:solidFill>
                  <a:srgbClr val="45536E"/>
                </a:solidFill>
                <a:latin typeface="Aptos"/>
              </a:rPr>
              <a:t>tiers</a:t>
            </a:r>
          </a:p>
        </p:txBody>
      </p:sp>
      <p:sp>
        <p:nvSpPr>
          <p:cNvPr id="10" name="Rounded Rectangle 9"/>
          <p:cNvSpPr/>
          <p:nvPr/>
        </p:nvSpPr>
        <p:spPr>
          <a:xfrm>
            <a:off x="3419856" y="2542032"/>
            <a:ext cx="2615184" cy="1097280"/>
          </a:xfrm>
          <a:prstGeom prst="roundRect">
            <a:avLst>
              <a:gd name="adj" fmla="val 7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19856" y="2542032"/>
            <a:ext cx="2615184" cy="82296"/>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9856" y="2724912"/>
            <a:ext cx="2615184" cy="548640"/>
          </a:xfrm>
          <a:prstGeom prst="rect">
            <a:avLst/>
          </a:prstGeom>
          <a:noFill/>
        </p:spPr>
        <p:txBody>
          <a:bodyPr wrap="square" anchor="t" lIns="0" rIns="0" tIns="0" bIns="0"/>
          <a:lstStyle/>
          <a:p>
            <a:pPr algn="ctr">
              <a:spcBef>
                <a:spcPts val="0"/>
              </a:spcBef>
              <a:spcAft>
                <a:spcPts val="0"/>
              </a:spcAft>
            </a:pPr>
            <a:r>
              <a:rPr sz="3000" b="1" i="0">
                <a:solidFill>
                  <a:srgbClr val="7C5CFC"/>
                </a:solidFill>
                <a:latin typeface="Aptos"/>
              </a:rPr>
              <a:t>9</a:t>
            </a:r>
          </a:p>
        </p:txBody>
      </p:sp>
      <p:sp>
        <p:nvSpPr>
          <p:cNvPr id="13" name="TextBox 12"/>
          <p:cNvSpPr txBox="1"/>
          <p:nvPr/>
        </p:nvSpPr>
        <p:spPr>
          <a:xfrm>
            <a:off x="3419856" y="3255263"/>
            <a:ext cx="2615184" cy="292608"/>
          </a:xfrm>
          <a:prstGeom prst="rect">
            <a:avLst/>
          </a:prstGeom>
          <a:noFill/>
        </p:spPr>
        <p:txBody>
          <a:bodyPr wrap="square" anchor="t" lIns="0" rIns="0" tIns="0" bIns="0"/>
          <a:lstStyle/>
          <a:p>
            <a:pPr algn="ctr">
              <a:spcBef>
                <a:spcPts val="0"/>
              </a:spcBef>
              <a:spcAft>
                <a:spcPts val="0"/>
              </a:spcAft>
            </a:pPr>
            <a:r>
              <a:rPr sz="1200" b="1" i="0" spc="50">
                <a:solidFill>
                  <a:srgbClr val="45536E"/>
                </a:solidFill>
                <a:latin typeface="Aptos"/>
              </a:rPr>
              <a:t>sessions</a:t>
            </a:r>
          </a:p>
        </p:txBody>
      </p:sp>
      <p:sp>
        <p:nvSpPr>
          <p:cNvPr id="14" name="Rounded Rectangle 13"/>
          <p:cNvSpPr/>
          <p:nvPr/>
        </p:nvSpPr>
        <p:spPr>
          <a:xfrm>
            <a:off x="6199632" y="2542032"/>
            <a:ext cx="2615184" cy="1097280"/>
          </a:xfrm>
          <a:prstGeom prst="roundRect">
            <a:avLst>
              <a:gd name="adj" fmla="val 7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2542032"/>
            <a:ext cx="2615184" cy="82296"/>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2724912"/>
            <a:ext cx="2615184" cy="548640"/>
          </a:xfrm>
          <a:prstGeom prst="rect">
            <a:avLst/>
          </a:prstGeom>
          <a:noFill/>
        </p:spPr>
        <p:txBody>
          <a:bodyPr wrap="square" anchor="t" lIns="0" rIns="0" tIns="0" bIns="0"/>
          <a:lstStyle/>
          <a:p>
            <a:pPr algn="ctr">
              <a:spcBef>
                <a:spcPts val="0"/>
              </a:spcBef>
              <a:spcAft>
                <a:spcPts val="0"/>
              </a:spcAft>
            </a:pPr>
            <a:r>
              <a:rPr sz="3000" b="1" i="0">
                <a:solidFill>
                  <a:srgbClr val="12B3C4"/>
                </a:solidFill>
                <a:latin typeface="Aptos"/>
              </a:rPr>
              <a:t>30-60</a:t>
            </a:r>
          </a:p>
        </p:txBody>
      </p:sp>
      <p:sp>
        <p:nvSpPr>
          <p:cNvPr id="17" name="TextBox 16"/>
          <p:cNvSpPr txBox="1"/>
          <p:nvPr/>
        </p:nvSpPr>
        <p:spPr>
          <a:xfrm>
            <a:off x="6199632" y="3255263"/>
            <a:ext cx="2615184" cy="292608"/>
          </a:xfrm>
          <a:prstGeom prst="rect">
            <a:avLst/>
          </a:prstGeom>
          <a:noFill/>
        </p:spPr>
        <p:txBody>
          <a:bodyPr wrap="square" anchor="t" lIns="0" rIns="0" tIns="0" bIns="0"/>
          <a:lstStyle/>
          <a:p>
            <a:pPr algn="ctr">
              <a:spcBef>
                <a:spcPts val="0"/>
              </a:spcBef>
              <a:spcAft>
                <a:spcPts val="0"/>
              </a:spcAft>
            </a:pPr>
            <a:r>
              <a:rPr sz="1200" b="1" i="0" spc="50">
                <a:solidFill>
                  <a:srgbClr val="45536E"/>
                </a:solidFill>
                <a:latin typeface="Aptos"/>
              </a:rPr>
              <a:t>minutes each</a:t>
            </a:r>
          </a:p>
        </p:txBody>
      </p:sp>
      <p:sp>
        <p:nvSpPr>
          <p:cNvPr id="18" name="Rounded Rectangle 17"/>
          <p:cNvSpPr/>
          <p:nvPr/>
        </p:nvSpPr>
        <p:spPr>
          <a:xfrm>
            <a:off x="8979408" y="2542032"/>
            <a:ext cx="2615184" cy="1097280"/>
          </a:xfrm>
          <a:prstGeom prst="roundRect">
            <a:avLst>
              <a:gd name="adj" fmla="val 7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79408" y="2542032"/>
            <a:ext cx="2615184" cy="82296"/>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79408" y="2724912"/>
            <a:ext cx="2615184" cy="548640"/>
          </a:xfrm>
          <a:prstGeom prst="rect">
            <a:avLst/>
          </a:prstGeom>
          <a:noFill/>
        </p:spPr>
        <p:txBody>
          <a:bodyPr wrap="square" anchor="t" lIns="0" rIns="0" tIns="0" bIns="0"/>
          <a:lstStyle/>
          <a:p>
            <a:pPr algn="ctr">
              <a:spcBef>
                <a:spcPts val="0"/>
              </a:spcBef>
              <a:spcAft>
                <a:spcPts val="0"/>
              </a:spcAft>
            </a:pPr>
            <a:r>
              <a:rPr sz="3000" b="1" i="0">
                <a:solidFill>
                  <a:srgbClr val="F0A500"/>
                </a:solidFill>
                <a:latin typeface="Aptos"/>
              </a:rPr>
              <a:t>~6 hrs</a:t>
            </a:r>
          </a:p>
        </p:txBody>
      </p:sp>
      <p:sp>
        <p:nvSpPr>
          <p:cNvPr id="21" name="TextBox 20"/>
          <p:cNvSpPr txBox="1"/>
          <p:nvPr/>
        </p:nvSpPr>
        <p:spPr>
          <a:xfrm>
            <a:off x="8979408" y="3255263"/>
            <a:ext cx="2615184" cy="292608"/>
          </a:xfrm>
          <a:prstGeom prst="rect">
            <a:avLst/>
          </a:prstGeom>
          <a:noFill/>
        </p:spPr>
        <p:txBody>
          <a:bodyPr wrap="square" anchor="t" lIns="0" rIns="0" tIns="0" bIns="0"/>
          <a:lstStyle/>
          <a:p>
            <a:pPr algn="ctr">
              <a:spcBef>
                <a:spcPts val="0"/>
              </a:spcBef>
              <a:spcAft>
                <a:spcPts val="0"/>
              </a:spcAft>
            </a:pPr>
            <a:r>
              <a:rPr sz="1200" b="1" i="0" spc="50">
                <a:solidFill>
                  <a:srgbClr val="45536E"/>
                </a:solidFill>
                <a:latin typeface="Aptos"/>
              </a:rPr>
              <a:t>total time</a:t>
            </a:r>
          </a:p>
        </p:txBody>
      </p:sp>
      <p:sp>
        <p:nvSpPr>
          <p:cNvPr id="22" name="Rounded Rectangle 21"/>
          <p:cNvSpPr/>
          <p:nvPr/>
        </p:nvSpPr>
        <p:spPr>
          <a:xfrm>
            <a:off x="640080" y="4114800"/>
            <a:ext cx="3502152" cy="1874519"/>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114800"/>
            <a:ext cx="3502152" cy="82296"/>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370832"/>
            <a:ext cx="2953512" cy="274320"/>
          </a:xfrm>
          <a:prstGeom prst="rect">
            <a:avLst/>
          </a:prstGeom>
          <a:noFill/>
        </p:spPr>
        <p:txBody>
          <a:bodyPr wrap="square" anchor="t" lIns="0" rIns="0" tIns="0" bIns="0"/>
          <a:lstStyle/>
          <a:p>
            <a:pPr algn="l">
              <a:spcBef>
                <a:spcPts val="0"/>
              </a:spcBef>
              <a:spcAft>
                <a:spcPts val="0"/>
              </a:spcAft>
            </a:pPr>
            <a:r>
              <a:rPr sz="1100" b="1" i="0" spc="200">
                <a:solidFill>
                  <a:srgbClr val="2D6CDF"/>
                </a:solidFill>
                <a:latin typeface="Aptos"/>
              </a:rPr>
              <a:t>TIER 1</a:t>
            </a:r>
          </a:p>
        </p:txBody>
      </p:sp>
      <p:sp>
        <p:nvSpPr>
          <p:cNvPr id="25" name="TextBox 24"/>
          <p:cNvSpPr txBox="1"/>
          <p:nvPr/>
        </p:nvSpPr>
        <p:spPr>
          <a:xfrm>
            <a:off x="932688" y="4663440"/>
            <a:ext cx="295351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Foundations</a:t>
            </a:r>
          </a:p>
        </p:txBody>
      </p:sp>
      <p:sp>
        <p:nvSpPr>
          <p:cNvPr id="26" name="TextBox 25"/>
          <p:cNvSpPr txBox="1"/>
          <p:nvPr/>
        </p:nvSpPr>
        <p:spPr>
          <a:xfrm>
            <a:off x="932688" y="5138928"/>
            <a:ext cx="2916936" cy="777239"/>
          </a:xfrm>
          <a:prstGeom prst="rect">
            <a:avLst/>
          </a:prstGeom>
          <a:noFill/>
        </p:spPr>
        <p:txBody>
          <a:bodyPr wrap="square" anchor="t" lIns="0" rIns="0" tIns="0" bIns="0"/>
          <a:lstStyle/>
          <a:p>
            <a:pPr algn="l">
              <a:lnSpc>
                <a:spcPct val="116000"/>
              </a:lnSpc>
              <a:spcBef>
                <a:spcPts val="0"/>
              </a:spcBef>
              <a:spcAft>
                <a:spcPts val="0"/>
              </a:spcAft>
            </a:pPr>
            <a:r>
              <a:rPr sz="1250" b="0" i="0">
                <a:solidFill>
                  <a:srgbClr val="45536E"/>
                </a:solidFill>
                <a:latin typeface="Aptos"/>
              </a:rPr>
              <a:t>Find it, trust it, make it yours, and put it to work.</a:t>
            </a:r>
          </a:p>
        </p:txBody>
      </p:sp>
      <p:sp>
        <p:nvSpPr>
          <p:cNvPr id="27" name="Rounded Rectangle 26"/>
          <p:cNvSpPr/>
          <p:nvPr/>
        </p:nvSpPr>
        <p:spPr>
          <a:xfrm>
            <a:off x="4325112" y="4114800"/>
            <a:ext cx="3502152" cy="1874519"/>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25112" y="4114800"/>
            <a:ext cx="3502152" cy="82296"/>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20" y="4370832"/>
            <a:ext cx="2953512" cy="274320"/>
          </a:xfrm>
          <a:prstGeom prst="rect">
            <a:avLst/>
          </a:prstGeom>
          <a:noFill/>
        </p:spPr>
        <p:txBody>
          <a:bodyPr wrap="square" anchor="t" lIns="0" rIns="0" tIns="0" bIns="0"/>
          <a:lstStyle/>
          <a:p>
            <a:pPr algn="l">
              <a:spcBef>
                <a:spcPts val="0"/>
              </a:spcBef>
              <a:spcAft>
                <a:spcPts val="0"/>
              </a:spcAft>
            </a:pPr>
            <a:r>
              <a:rPr sz="1100" b="1" i="0" spc="200">
                <a:solidFill>
                  <a:srgbClr val="7C5CFC"/>
                </a:solidFill>
                <a:latin typeface="Aptos"/>
              </a:rPr>
              <a:t>TIER 2</a:t>
            </a:r>
          </a:p>
        </p:txBody>
      </p:sp>
      <p:sp>
        <p:nvSpPr>
          <p:cNvPr id="30" name="TextBox 29"/>
          <p:cNvSpPr txBox="1"/>
          <p:nvPr/>
        </p:nvSpPr>
        <p:spPr>
          <a:xfrm>
            <a:off x="4617720" y="4663440"/>
            <a:ext cx="295351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Deeper Value</a:t>
            </a:r>
          </a:p>
        </p:txBody>
      </p:sp>
      <p:sp>
        <p:nvSpPr>
          <p:cNvPr id="31" name="TextBox 30"/>
          <p:cNvSpPr txBox="1"/>
          <p:nvPr/>
        </p:nvSpPr>
        <p:spPr>
          <a:xfrm>
            <a:off x="4617720" y="5138928"/>
            <a:ext cx="2916936" cy="777239"/>
          </a:xfrm>
          <a:prstGeom prst="rect">
            <a:avLst/>
          </a:prstGeom>
          <a:noFill/>
        </p:spPr>
        <p:txBody>
          <a:bodyPr wrap="square" anchor="t" lIns="0" rIns="0" tIns="0" bIns="0"/>
          <a:lstStyle/>
          <a:p>
            <a:pPr algn="l">
              <a:lnSpc>
                <a:spcPct val="116000"/>
              </a:lnSpc>
              <a:spcBef>
                <a:spcPts val="0"/>
              </a:spcBef>
              <a:spcAft>
                <a:spcPts val="0"/>
              </a:spcAft>
            </a:pPr>
            <a:r>
              <a:rPr sz="1250" b="0" i="0">
                <a:solidFill>
                  <a:srgbClr val="45536E"/>
                </a:solidFill>
                <a:latin typeface="Aptos"/>
              </a:rPr>
              <a:t>The premium reasoning agents that do the heavy thinking.</a:t>
            </a:r>
          </a:p>
        </p:txBody>
      </p:sp>
      <p:sp>
        <p:nvSpPr>
          <p:cNvPr id="32" name="Rounded Rectangle 31"/>
          <p:cNvSpPr/>
          <p:nvPr/>
        </p:nvSpPr>
        <p:spPr>
          <a:xfrm>
            <a:off x="8010144" y="4114800"/>
            <a:ext cx="3502152" cy="1874519"/>
          </a:xfrm>
          <a:prstGeom prst="roundRect">
            <a:avLst>
              <a:gd name="adj" fmla="val 5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10144" y="4114800"/>
            <a:ext cx="3502152" cy="82296"/>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2752" y="4370832"/>
            <a:ext cx="2953512" cy="274320"/>
          </a:xfrm>
          <a:prstGeom prst="rect">
            <a:avLst/>
          </a:prstGeom>
          <a:noFill/>
        </p:spPr>
        <p:txBody>
          <a:bodyPr wrap="square" anchor="t" lIns="0" rIns="0" tIns="0" bIns="0"/>
          <a:lstStyle/>
          <a:p>
            <a:pPr algn="l">
              <a:spcBef>
                <a:spcPts val="0"/>
              </a:spcBef>
              <a:spcAft>
                <a:spcPts val="0"/>
              </a:spcAft>
            </a:pPr>
            <a:r>
              <a:rPr sz="1100" b="1" i="0" spc="200">
                <a:solidFill>
                  <a:srgbClr val="F0A500"/>
                </a:solidFill>
                <a:latin typeface="Aptos"/>
              </a:rPr>
              <a:t>TIER 3</a:t>
            </a:r>
          </a:p>
        </p:txBody>
      </p:sp>
      <p:sp>
        <p:nvSpPr>
          <p:cNvPr id="35" name="TextBox 34"/>
          <p:cNvSpPr txBox="1"/>
          <p:nvPr/>
        </p:nvSpPr>
        <p:spPr>
          <a:xfrm>
            <a:off x="8302752" y="4663440"/>
            <a:ext cx="2953512" cy="365760"/>
          </a:xfrm>
          <a:prstGeom prst="rect">
            <a:avLst/>
          </a:prstGeom>
          <a:noFill/>
        </p:spPr>
        <p:txBody>
          <a:bodyPr wrap="square" anchor="t" lIns="0" rIns="0" tIns="0" bIns="0"/>
          <a:lstStyle/>
          <a:p>
            <a:pPr algn="l">
              <a:spcBef>
                <a:spcPts val="0"/>
              </a:spcBef>
              <a:spcAft>
                <a:spcPts val="0"/>
              </a:spcAft>
            </a:pPr>
            <a:r>
              <a:rPr sz="1800" b="1" i="0">
                <a:solidFill>
                  <a:srgbClr val="111C44"/>
                </a:solidFill>
                <a:latin typeface="Aptos"/>
              </a:rPr>
              <a:t>Build Your Own</a:t>
            </a:r>
          </a:p>
        </p:txBody>
      </p:sp>
      <p:sp>
        <p:nvSpPr>
          <p:cNvPr id="36" name="TextBox 35"/>
          <p:cNvSpPr txBox="1"/>
          <p:nvPr/>
        </p:nvSpPr>
        <p:spPr>
          <a:xfrm>
            <a:off x="8302752" y="5138928"/>
            <a:ext cx="2916936" cy="777239"/>
          </a:xfrm>
          <a:prstGeom prst="rect">
            <a:avLst/>
          </a:prstGeom>
          <a:noFill/>
        </p:spPr>
        <p:txBody>
          <a:bodyPr wrap="square" anchor="t" lIns="0" rIns="0" tIns="0" bIns="0"/>
          <a:lstStyle/>
          <a:p>
            <a:pPr algn="l">
              <a:lnSpc>
                <a:spcPct val="116000"/>
              </a:lnSpc>
              <a:spcBef>
                <a:spcPts val="0"/>
              </a:spcBef>
              <a:spcAft>
                <a:spcPts val="0"/>
              </a:spcAft>
            </a:pPr>
            <a:r>
              <a:rPr sz="1250" b="0" i="0">
                <a:solidFill>
                  <a:srgbClr val="45536E"/>
                </a:solidFill>
                <a:latin typeface="Aptos"/>
              </a:rPr>
              <a:t>Give Copilot a standing job as an agent that comes to you.</a:t>
            </a:r>
          </a:p>
        </p:txBody>
      </p:sp>
      <p:sp>
        <p:nvSpPr>
          <p:cNvPr id="37" name="TextBox 36"/>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38" name="TextBox 37"/>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SCOPE   ·   THE NINE SESSIONS</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111C44"/>
                </a:solidFill>
                <a:latin typeface="Aptos"/>
              </a:rPr>
              <a:t>The whole program on one page</a:t>
            </a:r>
          </a:p>
        </p:txBody>
      </p:sp>
      <p:sp>
        <p:nvSpPr>
          <p:cNvPr id="5" name="Rounded Rectangle 4"/>
          <p:cNvSpPr/>
          <p:nvPr/>
        </p:nvSpPr>
        <p:spPr>
          <a:xfrm>
            <a:off x="640080" y="1517904"/>
            <a:ext cx="3602736" cy="452628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17904"/>
            <a:ext cx="3602736" cy="100584"/>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1847088"/>
            <a:ext cx="658368" cy="658368"/>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847088"/>
            <a:ext cx="658368" cy="658368"/>
          </a:xfrm>
          <a:prstGeom prst="rect">
            <a:avLst/>
          </a:prstGeom>
          <a:noFill/>
        </p:spPr>
        <p:txBody>
          <a:bodyPr wrap="square" anchor="ctr" lIns="0" rIns="0" tIns="0" bIns="0"/>
          <a:lstStyle/>
          <a:p>
            <a:pPr algn="ctr">
              <a:spcBef>
                <a:spcPts val="0"/>
              </a:spcBef>
              <a:spcAft>
                <a:spcPts val="0"/>
              </a:spcAft>
            </a:pPr>
            <a:r>
              <a:rPr sz="2400" b="1" i="0">
                <a:solidFill>
                  <a:srgbClr val="FFFFFF"/>
                </a:solidFill>
                <a:latin typeface="Aptos"/>
              </a:rPr>
              <a:t>1</a:t>
            </a:r>
          </a:p>
        </p:txBody>
      </p:sp>
      <p:sp>
        <p:nvSpPr>
          <p:cNvPr id="9" name="TextBox 8"/>
          <p:cNvSpPr txBox="1"/>
          <p:nvPr/>
        </p:nvSpPr>
        <p:spPr>
          <a:xfrm>
            <a:off x="1773936" y="1847088"/>
            <a:ext cx="2322576" cy="256032"/>
          </a:xfrm>
          <a:prstGeom prst="rect">
            <a:avLst/>
          </a:prstGeom>
          <a:noFill/>
        </p:spPr>
        <p:txBody>
          <a:bodyPr wrap="square" anchor="t" lIns="0" rIns="0" tIns="0" bIns="0"/>
          <a:lstStyle/>
          <a:p>
            <a:pPr algn="l">
              <a:spcBef>
                <a:spcPts val="0"/>
              </a:spcBef>
              <a:spcAft>
                <a:spcPts val="0"/>
              </a:spcAft>
            </a:pPr>
            <a:r>
              <a:rPr sz="1100" b="1" i="0" spc="200">
                <a:solidFill>
                  <a:srgbClr val="2D6CDF"/>
                </a:solidFill>
                <a:latin typeface="Aptos"/>
              </a:rPr>
              <a:t>TIER 1</a:t>
            </a:r>
          </a:p>
        </p:txBody>
      </p:sp>
      <p:sp>
        <p:nvSpPr>
          <p:cNvPr id="10" name="TextBox 9"/>
          <p:cNvSpPr txBox="1"/>
          <p:nvPr/>
        </p:nvSpPr>
        <p:spPr>
          <a:xfrm>
            <a:off x="1773936" y="2103120"/>
            <a:ext cx="2322576" cy="365760"/>
          </a:xfrm>
          <a:prstGeom prst="rect">
            <a:avLst/>
          </a:prstGeom>
          <a:noFill/>
        </p:spPr>
        <p:txBody>
          <a:bodyPr wrap="square" anchor="t" lIns="0" rIns="0" tIns="0" bIns="0"/>
          <a:lstStyle/>
          <a:p>
            <a:pPr algn="l">
              <a:spcBef>
                <a:spcPts val="0"/>
              </a:spcBef>
              <a:spcAft>
                <a:spcPts val="0"/>
              </a:spcAft>
            </a:pPr>
            <a:r>
              <a:rPr sz="1900" b="1" i="0">
                <a:solidFill>
                  <a:srgbClr val="111C44"/>
                </a:solidFill>
                <a:latin typeface="Aptos"/>
              </a:rPr>
              <a:t>Foundations</a:t>
            </a:r>
          </a:p>
        </p:txBody>
      </p:sp>
      <p:sp>
        <p:nvSpPr>
          <p:cNvPr id="11" name="TextBox 10"/>
          <p:cNvSpPr txBox="1"/>
          <p:nvPr/>
        </p:nvSpPr>
        <p:spPr>
          <a:xfrm>
            <a:off x="950976" y="2706624"/>
            <a:ext cx="3054096" cy="274320"/>
          </a:xfrm>
          <a:prstGeom prst="rect">
            <a:avLst/>
          </a:prstGeom>
          <a:noFill/>
        </p:spPr>
        <p:txBody>
          <a:bodyPr wrap="square" anchor="t" lIns="0" rIns="0" tIns="0" bIns="0"/>
          <a:lstStyle/>
          <a:p>
            <a:pPr algn="l">
              <a:spcBef>
                <a:spcPts val="0"/>
              </a:spcBef>
              <a:spcAft>
                <a:spcPts val="0"/>
              </a:spcAft>
            </a:pPr>
            <a:r>
              <a:rPr sz="1150" b="0" i="1">
                <a:solidFill>
                  <a:srgbClr val="8A93A6"/>
                </a:solidFill>
                <a:latin typeface="Aptos"/>
              </a:rPr>
              <a:t>Four sessions · about 3.5 hours</a:t>
            </a:r>
          </a:p>
        </p:txBody>
      </p:sp>
      <p:sp>
        <p:nvSpPr>
          <p:cNvPr id="12" name="Oval 11"/>
          <p:cNvSpPr/>
          <p:nvPr/>
        </p:nvSpPr>
        <p:spPr>
          <a:xfrm>
            <a:off x="969264" y="3172968"/>
            <a:ext cx="128016" cy="128016"/>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7" y="3099816"/>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2D6CDF"/>
                </a:solidFill>
                <a:latin typeface="Aptos"/>
              </a:rPr>
              <a:t>1.1  </a:t>
            </a:r>
            <a:r>
              <a:rPr sz="1250" b="0" i="0">
                <a:solidFill>
                  <a:srgbClr val="45536E"/>
                </a:solidFill>
                <a:latin typeface="Aptos"/>
              </a:rPr>
              <a:t>Meet Copilot, find it, make it yours</a:t>
            </a:r>
          </a:p>
        </p:txBody>
      </p:sp>
      <p:sp>
        <p:nvSpPr>
          <p:cNvPr id="14" name="Oval 13"/>
          <p:cNvSpPr/>
          <p:nvPr/>
        </p:nvSpPr>
        <p:spPr>
          <a:xfrm>
            <a:off x="969264" y="3831336"/>
            <a:ext cx="128016" cy="128016"/>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7" y="3758184"/>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2D6CDF"/>
                </a:solidFill>
                <a:latin typeface="Aptos"/>
              </a:rPr>
              <a:t>1.2  </a:t>
            </a:r>
            <a:r>
              <a:rPr sz="1250" b="0" i="0">
                <a:solidFill>
                  <a:srgbClr val="45536E"/>
                </a:solidFill>
                <a:latin typeface="Aptos"/>
              </a:rPr>
              <a:t>Prompt like you mean it: first win</a:t>
            </a:r>
          </a:p>
        </p:txBody>
      </p:sp>
      <p:sp>
        <p:nvSpPr>
          <p:cNvPr id="16" name="Oval 15"/>
          <p:cNvSpPr/>
          <p:nvPr/>
        </p:nvSpPr>
        <p:spPr>
          <a:xfrm>
            <a:off x="969264" y="4489704"/>
            <a:ext cx="128016" cy="128016"/>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7007" y="4416552"/>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2D6CDF"/>
                </a:solidFill>
                <a:latin typeface="Aptos"/>
              </a:rPr>
              <a:t>1.3  </a:t>
            </a:r>
            <a:r>
              <a:rPr sz="1250" b="0" i="0">
                <a:solidFill>
                  <a:srgbClr val="45536E"/>
                </a:solidFill>
                <a:latin typeface="Aptos"/>
              </a:rPr>
              <a:t>By app: where the time comes back</a:t>
            </a:r>
          </a:p>
        </p:txBody>
      </p:sp>
      <p:sp>
        <p:nvSpPr>
          <p:cNvPr id="18" name="Oval 17"/>
          <p:cNvSpPr/>
          <p:nvPr/>
        </p:nvSpPr>
        <p:spPr>
          <a:xfrm>
            <a:off x="969264" y="5148072"/>
            <a:ext cx="128016" cy="128016"/>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7" y="5074920"/>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2D6CDF"/>
                </a:solidFill>
                <a:latin typeface="Aptos"/>
              </a:rPr>
              <a:t>1.4  </a:t>
            </a:r>
            <a:r>
              <a:rPr sz="1250" b="0" i="0">
                <a:solidFill>
                  <a:srgbClr val="45536E"/>
                </a:solidFill>
                <a:latin typeface="Aptos"/>
              </a:rPr>
              <a:t>Put it on a schedule: morning brief</a:t>
            </a:r>
          </a:p>
        </p:txBody>
      </p:sp>
      <p:sp>
        <p:nvSpPr>
          <p:cNvPr id="20" name="Rounded Rectangle 19"/>
          <p:cNvSpPr/>
          <p:nvPr/>
        </p:nvSpPr>
        <p:spPr>
          <a:xfrm>
            <a:off x="4379976" y="1517904"/>
            <a:ext cx="3602736" cy="452628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79976" y="1517904"/>
            <a:ext cx="3602736" cy="100584"/>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90872" y="1847088"/>
            <a:ext cx="658368" cy="658368"/>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90872" y="1847088"/>
            <a:ext cx="658368" cy="658368"/>
          </a:xfrm>
          <a:prstGeom prst="rect">
            <a:avLst/>
          </a:prstGeom>
          <a:noFill/>
        </p:spPr>
        <p:txBody>
          <a:bodyPr wrap="square" anchor="ctr" lIns="0" rIns="0" tIns="0" bIns="0"/>
          <a:lstStyle/>
          <a:p>
            <a:pPr algn="ctr">
              <a:spcBef>
                <a:spcPts val="0"/>
              </a:spcBef>
              <a:spcAft>
                <a:spcPts val="0"/>
              </a:spcAft>
            </a:pPr>
            <a:r>
              <a:rPr sz="2400" b="1" i="0">
                <a:solidFill>
                  <a:srgbClr val="FFFFFF"/>
                </a:solidFill>
                <a:latin typeface="Aptos"/>
              </a:rPr>
              <a:t>2</a:t>
            </a:r>
          </a:p>
        </p:txBody>
      </p:sp>
      <p:sp>
        <p:nvSpPr>
          <p:cNvPr id="24" name="TextBox 23"/>
          <p:cNvSpPr txBox="1"/>
          <p:nvPr/>
        </p:nvSpPr>
        <p:spPr>
          <a:xfrm>
            <a:off x="5513832" y="1847088"/>
            <a:ext cx="2322576" cy="256032"/>
          </a:xfrm>
          <a:prstGeom prst="rect">
            <a:avLst/>
          </a:prstGeom>
          <a:noFill/>
        </p:spPr>
        <p:txBody>
          <a:bodyPr wrap="square" anchor="t" lIns="0" rIns="0" tIns="0" bIns="0"/>
          <a:lstStyle/>
          <a:p>
            <a:pPr algn="l">
              <a:spcBef>
                <a:spcPts val="0"/>
              </a:spcBef>
              <a:spcAft>
                <a:spcPts val="0"/>
              </a:spcAft>
            </a:pPr>
            <a:r>
              <a:rPr sz="1100" b="1" i="0" spc="200">
                <a:solidFill>
                  <a:srgbClr val="7C5CFC"/>
                </a:solidFill>
                <a:latin typeface="Aptos"/>
              </a:rPr>
              <a:t>TIER 2</a:t>
            </a:r>
          </a:p>
        </p:txBody>
      </p:sp>
      <p:sp>
        <p:nvSpPr>
          <p:cNvPr id="25" name="TextBox 24"/>
          <p:cNvSpPr txBox="1"/>
          <p:nvPr/>
        </p:nvSpPr>
        <p:spPr>
          <a:xfrm>
            <a:off x="5513832" y="2103120"/>
            <a:ext cx="2322576" cy="365760"/>
          </a:xfrm>
          <a:prstGeom prst="rect">
            <a:avLst/>
          </a:prstGeom>
          <a:noFill/>
        </p:spPr>
        <p:txBody>
          <a:bodyPr wrap="square" anchor="t" lIns="0" rIns="0" tIns="0" bIns="0"/>
          <a:lstStyle/>
          <a:p>
            <a:pPr algn="l">
              <a:spcBef>
                <a:spcPts val="0"/>
              </a:spcBef>
              <a:spcAft>
                <a:spcPts val="0"/>
              </a:spcAft>
            </a:pPr>
            <a:r>
              <a:rPr sz="1900" b="1" i="0">
                <a:solidFill>
                  <a:srgbClr val="111C44"/>
                </a:solidFill>
                <a:latin typeface="Aptos"/>
              </a:rPr>
              <a:t>Deeper Value</a:t>
            </a:r>
          </a:p>
        </p:txBody>
      </p:sp>
      <p:sp>
        <p:nvSpPr>
          <p:cNvPr id="26" name="TextBox 25"/>
          <p:cNvSpPr txBox="1"/>
          <p:nvPr/>
        </p:nvSpPr>
        <p:spPr>
          <a:xfrm>
            <a:off x="4690872" y="2706624"/>
            <a:ext cx="3054096" cy="274320"/>
          </a:xfrm>
          <a:prstGeom prst="rect">
            <a:avLst/>
          </a:prstGeom>
          <a:noFill/>
        </p:spPr>
        <p:txBody>
          <a:bodyPr wrap="square" anchor="t" lIns="0" rIns="0" tIns="0" bIns="0"/>
          <a:lstStyle/>
          <a:p>
            <a:pPr algn="l">
              <a:spcBef>
                <a:spcPts val="0"/>
              </a:spcBef>
              <a:spcAft>
                <a:spcPts val="0"/>
              </a:spcAft>
            </a:pPr>
            <a:r>
              <a:rPr sz="1150" b="0" i="1">
                <a:solidFill>
                  <a:srgbClr val="8A93A6"/>
                </a:solidFill>
                <a:latin typeface="Aptos"/>
              </a:rPr>
              <a:t>One core session · one optional</a:t>
            </a:r>
          </a:p>
        </p:txBody>
      </p:sp>
      <p:sp>
        <p:nvSpPr>
          <p:cNvPr id="27" name="Oval 26"/>
          <p:cNvSpPr/>
          <p:nvPr/>
        </p:nvSpPr>
        <p:spPr>
          <a:xfrm>
            <a:off x="4709160" y="3172968"/>
            <a:ext cx="128016" cy="128016"/>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46904" y="3099816"/>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7C5CFC"/>
                </a:solidFill>
                <a:latin typeface="Aptos"/>
              </a:rPr>
              <a:t>2.1  </a:t>
            </a:r>
            <a:r>
              <a:rPr sz="1250" b="0" i="0">
                <a:solidFill>
                  <a:srgbClr val="45536E"/>
                </a:solidFill>
                <a:latin typeface="Aptos"/>
              </a:rPr>
              <a:t>Reasoning agents: Researcher + Analyst</a:t>
            </a:r>
          </a:p>
        </p:txBody>
      </p:sp>
      <p:sp>
        <p:nvSpPr>
          <p:cNvPr id="29" name="Oval 28"/>
          <p:cNvSpPr/>
          <p:nvPr/>
        </p:nvSpPr>
        <p:spPr>
          <a:xfrm>
            <a:off x="4709160" y="3831336"/>
            <a:ext cx="128016" cy="128016"/>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46904" y="3758184"/>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7C5CFC"/>
                </a:solidFill>
                <a:latin typeface="Aptos"/>
              </a:rPr>
              <a:t>2.2  </a:t>
            </a:r>
            <a:r>
              <a:rPr sz="1250" b="0" i="0">
                <a:solidFill>
                  <a:srgbClr val="45536E"/>
                </a:solidFill>
                <a:latin typeface="Aptos"/>
              </a:rPr>
              <a:t>Copilot Notebooks (optional)</a:t>
            </a:r>
          </a:p>
        </p:txBody>
      </p:sp>
      <p:sp>
        <p:nvSpPr>
          <p:cNvPr id="31" name="Rounded Rectangle 30"/>
          <p:cNvSpPr/>
          <p:nvPr/>
        </p:nvSpPr>
        <p:spPr>
          <a:xfrm>
            <a:off x="8119872" y="1517904"/>
            <a:ext cx="3602736" cy="452628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19872" y="1517904"/>
            <a:ext cx="3602736" cy="100584"/>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30768" y="1847088"/>
            <a:ext cx="658368" cy="65836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30768" y="1847088"/>
            <a:ext cx="658368" cy="658368"/>
          </a:xfrm>
          <a:prstGeom prst="rect">
            <a:avLst/>
          </a:prstGeom>
          <a:noFill/>
        </p:spPr>
        <p:txBody>
          <a:bodyPr wrap="square" anchor="ctr" lIns="0" rIns="0" tIns="0" bIns="0"/>
          <a:lstStyle/>
          <a:p>
            <a:pPr algn="ctr">
              <a:spcBef>
                <a:spcPts val="0"/>
              </a:spcBef>
              <a:spcAft>
                <a:spcPts val="0"/>
              </a:spcAft>
            </a:pPr>
            <a:r>
              <a:rPr sz="2400" b="1" i="0">
                <a:solidFill>
                  <a:srgbClr val="FFFFFF"/>
                </a:solidFill>
                <a:latin typeface="Aptos"/>
              </a:rPr>
              <a:t>3</a:t>
            </a:r>
          </a:p>
        </p:txBody>
      </p:sp>
      <p:sp>
        <p:nvSpPr>
          <p:cNvPr id="35" name="TextBox 34"/>
          <p:cNvSpPr txBox="1"/>
          <p:nvPr/>
        </p:nvSpPr>
        <p:spPr>
          <a:xfrm>
            <a:off x="9253728" y="1847088"/>
            <a:ext cx="2322576" cy="256032"/>
          </a:xfrm>
          <a:prstGeom prst="rect">
            <a:avLst/>
          </a:prstGeom>
          <a:noFill/>
        </p:spPr>
        <p:txBody>
          <a:bodyPr wrap="square" anchor="t" lIns="0" rIns="0" tIns="0" bIns="0"/>
          <a:lstStyle/>
          <a:p>
            <a:pPr algn="l">
              <a:spcBef>
                <a:spcPts val="0"/>
              </a:spcBef>
              <a:spcAft>
                <a:spcPts val="0"/>
              </a:spcAft>
            </a:pPr>
            <a:r>
              <a:rPr sz="1100" b="1" i="0" spc="200">
                <a:solidFill>
                  <a:srgbClr val="F0A500"/>
                </a:solidFill>
                <a:latin typeface="Aptos"/>
              </a:rPr>
              <a:t>TIER 3</a:t>
            </a:r>
          </a:p>
        </p:txBody>
      </p:sp>
      <p:sp>
        <p:nvSpPr>
          <p:cNvPr id="36" name="TextBox 35"/>
          <p:cNvSpPr txBox="1"/>
          <p:nvPr/>
        </p:nvSpPr>
        <p:spPr>
          <a:xfrm>
            <a:off x="9253728" y="2103120"/>
            <a:ext cx="2322576" cy="365760"/>
          </a:xfrm>
          <a:prstGeom prst="rect">
            <a:avLst/>
          </a:prstGeom>
          <a:noFill/>
        </p:spPr>
        <p:txBody>
          <a:bodyPr wrap="square" anchor="t" lIns="0" rIns="0" tIns="0" bIns="0"/>
          <a:lstStyle/>
          <a:p>
            <a:pPr algn="l">
              <a:spcBef>
                <a:spcPts val="0"/>
              </a:spcBef>
              <a:spcAft>
                <a:spcPts val="0"/>
              </a:spcAft>
            </a:pPr>
            <a:r>
              <a:rPr sz="1900" b="1" i="0">
                <a:solidFill>
                  <a:srgbClr val="111C44"/>
                </a:solidFill>
                <a:latin typeface="Aptos"/>
              </a:rPr>
              <a:t>Build Your Own</a:t>
            </a:r>
          </a:p>
        </p:txBody>
      </p:sp>
      <p:sp>
        <p:nvSpPr>
          <p:cNvPr id="37" name="TextBox 36"/>
          <p:cNvSpPr txBox="1"/>
          <p:nvPr/>
        </p:nvSpPr>
        <p:spPr>
          <a:xfrm>
            <a:off x="8430768" y="2706624"/>
            <a:ext cx="3054096" cy="274320"/>
          </a:xfrm>
          <a:prstGeom prst="rect">
            <a:avLst/>
          </a:prstGeom>
          <a:noFill/>
        </p:spPr>
        <p:txBody>
          <a:bodyPr wrap="square" anchor="t" lIns="0" rIns="0" tIns="0" bIns="0"/>
          <a:lstStyle/>
          <a:p>
            <a:pPr algn="l">
              <a:spcBef>
                <a:spcPts val="0"/>
              </a:spcBef>
              <a:spcAft>
                <a:spcPts val="0"/>
              </a:spcAft>
            </a:pPr>
            <a:r>
              <a:rPr sz="1150" b="0" i="1">
                <a:solidFill>
                  <a:srgbClr val="8A93A6"/>
                </a:solidFill>
                <a:latin typeface="Aptos"/>
              </a:rPr>
              <a:t>Two core sessions · one optional</a:t>
            </a:r>
          </a:p>
        </p:txBody>
      </p:sp>
      <p:sp>
        <p:nvSpPr>
          <p:cNvPr id="38" name="Oval 37"/>
          <p:cNvSpPr/>
          <p:nvPr/>
        </p:nvSpPr>
        <p:spPr>
          <a:xfrm>
            <a:off x="8449056" y="3172968"/>
            <a:ext cx="128016" cy="128016"/>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0" y="3099816"/>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F0A500"/>
                </a:solidFill>
                <a:latin typeface="Aptos"/>
              </a:rPr>
              <a:t>3.1  </a:t>
            </a:r>
            <a:r>
              <a:rPr sz="1250" b="0" i="0">
                <a:solidFill>
                  <a:srgbClr val="45536E"/>
                </a:solidFill>
                <a:latin typeface="Aptos"/>
              </a:rPr>
              <a:t>Build your Chief of Staff agent</a:t>
            </a:r>
          </a:p>
        </p:txBody>
      </p:sp>
      <p:sp>
        <p:nvSpPr>
          <p:cNvPr id="40" name="Oval 39"/>
          <p:cNvSpPr/>
          <p:nvPr/>
        </p:nvSpPr>
        <p:spPr>
          <a:xfrm>
            <a:off x="8449056" y="3575303"/>
            <a:ext cx="128016" cy="128016"/>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0" y="3502152"/>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F0A500"/>
                </a:solidFill>
                <a:latin typeface="Aptos"/>
              </a:rPr>
              <a:t>3.2  </a:t>
            </a:r>
            <a:r>
              <a:rPr sz="1250" b="0" i="0">
                <a:solidFill>
                  <a:srgbClr val="45536E"/>
                </a:solidFill>
                <a:latin typeface="Aptos"/>
              </a:rPr>
              <a:t>More agents worth building</a:t>
            </a:r>
          </a:p>
        </p:txBody>
      </p:sp>
      <p:sp>
        <p:nvSpPr>
          <p:cNvPr id="42" name="Oval 41"/>
          <p:cNvSpPr/>
          <p:nvPr/>
        </p:nvSpPr>
        <p:spPr>
          <a:xfrm>
            <a:off x="8449056" y="3977640"/>
            <a:ext cx="128016" cy="128016"/>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0" y="3904488"/>
            <a:ext cx="2779776" cy="548640"/>
          </a:xfrm>
          <a:prstGeom prst="rect">
            <a:avLst/>
          </a:prstGeom>
          <a:noFill/>
        </p:spPr>
        <p:txBody>
          <a:bodyPr wrap="square" anchor="t" lIns="0" rIns="0" tIns="0" bIns="0"/>
          <a:lstStyle/>
          <a:p>
            <a:pPr algn="l">
              <a:lnSpc>
                <a:spcPct val="105000"/>
              </a:lnSpc>
              <a:spcBef>
                <a:spcPts val="0"/>
              </a:spcBef>
              <a:spcAft>
                <a:spcPts val="0"/>
              </a:spcAft>
            </a:pPr>
            <a:r>
              <a:rPr sz="1250" b="1" i="0">
                <a:solidFill>
                  <a:srgbClr val="F0A500"/>
                </a:solidFill>
                <a:latin typeface="Aptos"/>
              </a:rPr>
              <a:t>3.3  </a:t>
            </a:r>
            <a:r>
              <a:rPr sz="1250" b="0" i="0">
                <a:solidFill>
                  <a:srgbClr val="45536E"/>
                </a:solidFill>
                <a:latin typeface="Aptos"/>
              </a:rPr>
              <a:t>For your assistant: daily prep (optional)</a:t>
            </a:r>
          </a:p>
        </p:txBody>
      </p:sp>
      <p:sp>
        <p:nvSpPr>
          <p:cNvPr id="44" name="TextBox 43"/>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45" name="TextBox 44"/>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12B3C4"/>
                </a:solidFill>
                <a:latin typeface="Aptos"/>
              </a:rPr>
              <a:t>THE FIRST QUESTION IN THE ROOM</a:t>
            </a:r>
          </a:p>
        </p:txBody>
      </p:sp>
      <p:sp>
        <p:nvSpPr>
          <p:cNvPr id="7" name="TextBox 6"/>
          <p:cNvSpPr txBox="1"/>
          <p:nvPr/>
        </p:nvSpPr>
        <p:spPr>
          <a:xfrm>
            <a:off x="804672" y="896112"/>
            <a:ext cx="10972800" cy="1371600"/>
          </a:xfrm>
          <a:prstGeom prst="rect">
            <a:avLst/>
          </a:prstGeom>
          <a:noFill/>
        </p:spPr>
        <p:txBody>
          <a:bodyPr wrap="square" anchor="t" lIns="0" rIns="0" tIns="0" bIns="0"/>
          <a:lstStyle/>
          <a:p>
            <a:pPr algn="l">
              <a:lnSpc>
                <a:spcPct val="100000"/>
              </a:lnSpc>
              <a:spcBef>
                <a:spcPts val="0"/>
              </a:spcBef>
              <a:spcAft>
                <a:spcPts val="0"/>
              </a:spcAft>
            </a:pPr>
            <a:r>
              <a:rPr sz="3400" b="1" i="0">
                <a:solidFill>
                  <a:srgbClr val="FFFFFF"/>
                </a:solidFill>
                <a:latin typeface="Aptos"/>
              </a:rPr>
              <a:t>Is our data safe?  Yes.</a:t>
            </a:r>
          </a:p>
        </p:txBody>
      </p:sp>
      <p:sp>
        <p:nvSpPr>
          <p:cNvPr id="8" name="TextBox 7"/>
          <p:cNvSpPr txBox="1"/>
          <p:nvPr/>
        </p:nvSpPr>
        <p:spPr>
          <a:xfrm>
            <a:off x="822960" y="1627632"/>
            <a:ext cx="10241280" cy="457200"/>
          </a:xfrm>
          <a:prstGeom prst="rect">
            <a:avLst/>
          </a:prstGeom>
          <a:noFill/>
        </p:spPr>
        <p:txBody>
          <a:bodyPr wrap="square" anchor="t" lIns="0" rIns="0" tIns="0" bIns="0"/>
          <a:lstStyle/>
          <a:p>
            <a:pPr algn="l">
              <a:spcBef>
                <a:spcPts val="0"/>
              </a:spcBef>
              <a:spcAft>
                <a:spcPts val="0"/>
              </a:spcAft>
            </a:pPr>
            <a:r>
              <a:rPr sz="1600" b="0" i="0">
                <a:solidFill>
                  <a:srgbClr val="9FB0D8"/>
                </a:solidFill>
                <a:latin typeface="Aptos"/>
              </a:rPr>
              <a:t>Copilot works on our real work, not the open internet, and that work never leaves our tenant.</a:t>
            </a:r>
          </a:p>
        </p:txBody>
      </p:sp>
      <p:sp>
        <p:nvSpPr>
          <p:cNvPr id="9" name="Rounded Rectangle 8"/>
          <p:cNvSpPr/>
          <p:nvPr/>
        </p:nvSpPr>
        <p:spPr>
          <a:xfrm>
            <a:off x="822960" y="2212848"/>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560320"/>
            <a:ext cx="676656" cy="676656"/>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ck.png"/>
          <p:cNvPicPr>
            <a:picLocks noChangeAspect="1"/>
          </p:cNvPicPr>
          <p:nvPr/>
        </p:nvPicPr>
        <p:blipFill>
          <a:blip r:embed="rId2"/>
          <a:stretch>
            <a:fillRect/>
          </a:stretch>
        </p:blipFill>
        <p:spPr>
          <a:xfrm>
            <a:off x="1277965" y="2722717"/>
            <a:ext cx="351861" cy="351861"/>
          </a:xfrm>
          <a:prstGeom prst="rect">
            <a:avLst/>
          </a:prstGeom>
        </p:spPr>
      </p:pic>
      <p:sp>
        <p:nvSpPr>
          <p:cNvPr id="12" name="TextBox 11"/>
          <p:cNvSpPr txBox="1"/>
          <p:nvPr/>
        </p:nvSpPr>
        <p:spPr>
          <a:xfrm>
            <a:off x="1993392" y="2468880"/>
            <a:ext cx="3749039" cy="365760"/>
          </a:xfrm>
          <a:prstGeom prst="rect">
            <a:avLst/>
          </a:prstGeom>
          <a:noFill/>
        </p:spPr>
        <p:txBody>
          <a:bodyPr wrap="square" anchor="t" lIns="0" rIns="0" tIns="0" bIns="0"/>
          <a:lstStyle/>
          <a:p>
            <a:pPr algn="l">
              <a:spcBef>
                <a:spcPts val="0"/>
              </a:spcBef>
              <a:spcAft>
                <a:spcPts val="0"/>
              </a:spcAft>
            </a:pPr>
            <a:r>
              <a:rPr sz="1600" b="1" i="0">
                <a:solidFill>
                  <a:srgbClr val="FFFFFF"/>
                </a:solidFill>
                <a:latin typeface="Aptos"/>
              </a:rPr>
              <a:t>Stays in our tenant</a:t>
            </a:r>
          </a:p>
        </p:txBody>
      </p:sp>
      <p:sp>
        <p:nvSpPr>
          <p:cNvPr id="13" name="TextBox 12"/>
          <p:cNvSpPr txBox="1"/>
          <p:nvPr/>
        </p:nvSpPr>
        <p:spPr>
          <a:xfrm>
            <a:off x="1993392" y="2871215"/>
            <a:ext cx="3703320" cy="640080"/>
          </a:xfrm>
          <a:prstGeom prst="rect">
            <a:avLst/>
          </a:prstGeom>
          <a:noFill/>
        </p:spPr>
        <p:txBody>
          <a:bodyPr wrap="square" anchor="t" lIns="0" rIns="0" tIns="0" bIns="0"/>
          <a:lstStyle/>
          <a:p>
            <a:pPr algn="l">
              <a:lnSpc>
                <a:spcPct val="115000"/>
              </a:lnSpc>
              <a:spcBef>
                <a:spcPts val="0"/>
              </a:spcBef>
              <a:spcAft>
                <a:spcPts val="0"/>
              </a:spcAft>
            </a:pPr>
            <a:r>
              <a:rPr sz="1250" b="0" i="0">
                <a:solidFill>
                  <a:srgbClr val="9FB0D8"/>
                </a:solidFill>
                <a:latin typeface="Aptos"/>
              </a:rPr>
              <a:t>The same enterprise encryption and access controls as the rest of our data.</a:t>
            </a:r>
          </a:p>
        </p:txBody>
      </p:sp>
      <p:sp>
        <p:nvSpPr>
          <p:cNvPr id="14" name="Rounded Rectangle 13"/>
          <p:cNvSpPr/>
          <p:nvPr/>
        </p:nvSpPr>
        <p:spPr>
          <a:xfrm>
            <a:off x="6272784" y="2212848"/>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65392" y="2560320"/>
            <a:ext cx="676656" cy="676656"/>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hield.png"/>
          <p:cNvPicPr>
            <a:picLocks noChangeAspect="1"/>
          </p:cNvPicPr>
          <p:nvPr/>
        </p:nvPicPr>
        <p:blipFill>
          <a:blip r:embed="rId3"/>
          <a:stretch>
            <a:fillRect/>
          </a:stretch>
        </p:blipFill>
        <p:spPr>
          <a:xfrm>
            <a:off x="6727789" y="2722717"/>
            <a:ext cx="351861" cy="351861"/>
          </a:xfrm>
          <a:prstGeom prst="rect">
            <a:avLst/>
          </a:prstGeom>
        </p:spPr>
      </p:pic>
      <p:sp>
        <p:nvSpPr>
          <p:cNvPr id="17" name="TextBox 16"/>
          <p:cNvSpPr txBox="1"/>
          <p:nvPr/>
        </p:nvSpPr>
        <p:spPr>
          <a:xfrm>
            <a:off x="7443216" y="2468880"/>
            <a:ext cx="3749039" cy="365760"/>
          </a:xfrm>
          <a:prstGeom prst="rect">
            <a:avLst/>
          </a:prstGeom>
          <a:noFill/>
        </p:spPr>
        <p:txBody>
          <a:bodyPr wrap="square" anchor="t" lIns="0" rIns="0" tIns="0" bIns="0"/>
          <a:lstStyle/>
          <a:p>
            <a:pPr algn="l">
              <a:spcBef>
                <a:spcPts val="0"/>
              </a:spcBef>
              <a:spcAft>
                <a:spcPts val="0"/>
              </a:spcAft>
            </a:pPr>
            <a:r>
              <a:rPr sz="1600" b="1" i="0">
                <a:solidFill>
                  <a:srgbClr val="FFFFFF"/>
                </a:solidFill>
                <a:latin typeface="Aptos"/>
              </a:rPr>
              <a:t>Not used to train models</a:t>
            </a:r>
          </a:p>
        </p:txBody>
      </p:sp>
      <p:sp>
        <p:nvSpPr>
          <p:cNvPr id="18" name="TextBox 17"/>
          <p:cNvSpPr txBox="1"/>
          <p:nvPr/>
        </p:nvSpPr>
        <p:spPr>
          <a:xfrm>
            <a:off x="7443216" y="2871215"/>
            <a:ext cx="3703320" cy="640080"/>
          </a:xfrm>
          <a:prstGeom prst="rect">
            <a:avLst/>
          </a:prstGeom>
          <a:noFill/>
        </p:spPr>
        <p:txBody>
          <a:bodyPr wrap="square" anchor="t" lIns="0" rIns="0" tIns="0" bIns="0"/>
          <a:lstStyle/>
          <a:p>
            <a:pPr algn="l">
              <a:lnSpc>
                <a:spcPct val="115000"/>
              </a:lnSpc>
              <a:spcBef>
                <a:spcPts val="0"/>
              </a:spcBef>
              <a:spcAft>
                <a:spcPts val="0"/>
              </a:spcAft>
            </a:pPr>
            <a:r>
              <a:rPr sz="1250" b="0" i="0">
                <a:solidFill>
                  <a:srgbClr val="9FB0D8"/>
                </a:solidFill>
                <a:latin typeface="Aptos"/>
              </a:rPr>
              <a:t>Our prompts, documents, and Copilot's responses are never used to train the models.</a:t>
            </a:r>
          </a:p>
        </p:txBody>
      </p:sp>
      <p:sp>
        <p:nvSpPr>
          <p:cNvPr id="19" name="Rounded Rectangle 18"/>
          <p:cNvSpPr/>
          <p:nvPr/>
        </p:nvSpPr>
        <p:spPr>
          <a:xfrm>
            <a:off x="822960" y="3712463"/>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15568" y="4059935"/>
            <a:ext cx="676656" cy="676656"/>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png"/>
          <p:cNvPicPr>
            <a:picLocks noChangeAspect="1"/>
          </p:cNvPicPr>
          <p:nvPr/>
        </p:nvPicPr>
        <p:blipFill>
          <a:blip r:embed="rId4"/>
          <a:stretch>
            <a:fillRect/>
          </a:stretch>
        </p:blipFill>
        <p:spPr>
          <a:xfrm>
            <a:off x="1277965" y="4222333"/>
            <a:ext cx="351861" cy="351861"/>
          </a:xfrm>
          <a:prstGeom prst="rect">
            <a:avLst/>
          </a:prstGeom>
        </p:spPr>
      </p:pic>
      <p:sp>
        <p:nvSpPr>
          <p:cNvPr id="22" name="TextBox 21"/>
          <p:cNvSpPr txBox="1"/>
          <p:nvPr/>
        </p:nvSpPr>
        <p:spPr>
          <a:xfrm>
            <a:off x="1993392" y="3968496"/>
            <a:ext cx="3749039" cy="365760"/>
          </a:xfrm>
          <a:prstGeom prst="rect">
            <a:avLst/>
          </a:prstGeom>
          <a:noFill/>
        </p:spPr>
        <p:txBody>
          <a:bodyPr wrap="square" anchor="t" lIns="0" rIns="0" tIns="0" bIns="0"/>
          <a:lstStyle/>
          <a:p>
            <a:pPr algn="l">
              <a:spcBef>
                <a:spcPts val="0"/>
              </a:spcBef>
              <a:spcAft>
                <a:spcPts val="0"/>
              </a:spcAft>
            </a:pPr>
            <a:r>
              <a:rPr sz="1600" b="1" i="0">
                <a:solidFill>
                  <a:srgbClr val="FFFFFF"/>
                </a:solidFill>
                <a:latin typeface="Aptos"/>
              </a:rPr>
              <a:t>Only sees what you can see</a:t>
            </a:r>
          </a:p>
        </p:txBody>
      </p:sp>
      <p:sp>
        <p:nvSpPr>
          <p:cNvPr id="23" name="TextBox 22"/>
          <p:cNvSpPr txBox="1"/>
          <p:nvPr/>
        </p:nvSpPr>
        <p:spPr>
          <a:xfrm>
            <a:off x="1993392" y="4370831"/>
            <a:ext cx="3703320" cy="640080"/>
          </a:xfrm>
          <a:prstGeom prst="rect">
            <a:avLst/>
          </a:prstGeom>
          <a:noFill/>
        </p:spPr>
        <p:txBody>
          <a:bodyPr wrap="square" anchor="t" lIns="0" rIns="0" tIns="0" bIns="0"/>
          <a:lstStyle/>
          <a:p>
            <a:pPr algn="l">
              <a:lnSpc>
                <a:spcPct val="115000"/>
              </a:lnSpc>
              <a:spcBef>
                <a:spcPts val="0"/>
              </a:spcBef>
              <a:spcAft>
                <a:spcPts val="0"/>
              </a:spcAft>
            </a:pPr>
            <a:r>
              <a:rPr sz="1250" b="0" i="0">
                <a:solidFill>
                  <a:srgbClr val="9FB0D8"/>
                </a:solidFill>
                <a:latin typeface="Aptos"/>
              </a:rPr>
              <a:t>Copilot respects existing permissions. It cannot surface a file you can't.</a:t>
            </a:r>
          </a:p>
        </p:txBody>
      </p:sp>
      <p:sp>
        <p:nvSpPr>
          <p:cNvPr id="24" name="Rounded Rectangle 23"/>
          <p:cNvSpPr/>
          <p:nvPr/>
        </p:nvSpPr>
        <p:spPr>
          <a:xfrm>
            <a:off x="6272784" y="3712463"/>
            <a:ext cx="5074920" cy="1371600"/>
          </a:xfrm>
          <a:prstGeom prst="roundRect">
            <a:avLst>
              <a:gd name="adj" fmla="val 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65392" y="4059935"/>
            <a:ext cx="676656" cy="676656"/>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lipboard.png"/>
          <p:cNvPicPr>
            <a:picLocks noChangeAspect="1"/>
          </p:cNvPicPr>
          <p:nvPr/>
        </p:nvPicPr>
        <p:blipFill>
          <a:blip r:embed="rId5"/>
          <a:stretch>
            <a:fillRect/>
          </a:stretch>
        </p:blipFill>
        <p:spPr>
          <a:xfrm>
            <a:off x="6727789" y="4222333"/>
            <a:ext cx="351861" cy="351861"/>
          </a:xfrm>
          <a:prstGeom prst="rect">
            <a:avLst/>
          </a:prstGeom>
        </p:spPr>
      </p:pic>
      <p:sp>
        <p:nvSpPr>
          <p:cNvPr id="27" name="TextBox 26"/>
          <p:cNvSpPr txBox="1"/>
          <p:nvPr/>
        </p:nvSpPr>
        <p:spPr>
          <a:xfrm>
            <a:off x="7443216" y="3968496"/>
            <a:ext cx="3749039" cy="365760"/>
          </a:xfrm>
          <a:prstGeom prst="rect">
            <a:avLst/>
          </a:prstGeom>
          <a:noFill/>
        </p:spPr>
        <p:txBody>
          <a:bodyPr wrap="square" anchor="t" lIns="0" rIns="0" tIns="0" bIns="0"/>
          <a:lstStyle/>
          <a:p>
            <a:pPr algn="l">
              <a:spcBef>
                <a:spcPts val="0"/>
              </a:spcBef>
              <a:spcAft>
                <a:spcPts val="0"/>
              </a:spcAft>
            </a:pPr>
            <a:r>
              <a:rPr sz="1600" b="1" i="0">
                <a:solidFill>
                  <a:srgbClr val="FFFFFF"/>
                </a:solidFill>
                <a:latin typeface="Aptos"/>
              </a:rPr>
              <a:t>Controls and an audit trail</a:t>
            </a:r>
          </a:p>
        </p:txBody>
      </p:sp>
      <p:sp>
        <p:nvSpPr>
          <p:cNvPr id="28" name="TextBox 27"/>
          <p:cNvSpPr txBox="1"/>
          <p:nvPr/>
        </p:nvSpPr>
        <p:spPr>
          <a:xfrm>
            <a:off x="7443216" y="4370831"/>
            <a:ext cx="3703320" cy="640080"/>
          </a:xfrm>
          <a:prstGeom prst="rect">
            <a:avLst/>
          </a:prstGeom>
          <a:noFill/>
        </p:spPr>
        <p:txBody>
          <a:bodyPr wrap="square" anchor="t" lIns="0" rIns="0" tIns="0" bIns="0"/>
          <a:lstStyle/>
          <a:p>
            <a:pPr algn="l">
              <a:lnSpc>
                <a:spcPct val="115000"/>
              </a:lnSpc>
              <a:spcBef>
                <a:spcPts val="0"/>
              </a:spcBef>
              <a:spcAft>
                <a:spcPts val="0"/>
              </a:spcAft>
            </a:pPr>
            <a:r>
              <a:rPr sz="1250" b="0" i="0">
                <a:solidFill>
                  <a:srgbClr val="9FB0D8"/>
                </a:solidFill>
                <a:latin typeface="Aptos"/>
              </a:rPr>
              <a:t>Purview gives IT visibility, DLP policies, and audit logs across Copilot.</a:t>
            </a:r>
          </a:p>
        </p:txBody>
      </p:sp>
      <p:sp>
        <p:nvSpPr>
          <p:cNvPr id="29" name="Rounded Rectangle 28"/>
          <p:cNvSpPr/>
          <p:nvPr/>
        </p:nvSpPr>
        <p:spPr>
          <a:xfrm>
            <a:off x="822960" y="5687568"/>
            <a:ext cx="10543032" cy="566928"/>
          </a:xfrm>
          <a:prstGeom prst="roundRect">
            <a:avLst>
              <a:gd name="adj" fmla="val 1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5687568"/>
            <a:ext cx="9994392" cy="566928"/>
          </a:xfrm>
          <a:prstGeom prst="rect">
            <a:avLst/>
          </a:prstGeom>
          <a:noFill/>
        </p:spPr>
        <p:txBody>
          <a:bodyPr wrap="square" anchor="ctr" lIns="0" rIns="0" tIns="0" bIns="0"/>
          <a:lstStyle/>
          <a:p>
            <a:pPr algn="l">
              <a:spcBef>
                <a:spcPts val="0"/>
              </a:spcBef>
              <a:spcAft>
                <a:spcPts val="0"/>
              </a:spcAft>
            </a:pPr>
            <a:r>
              <a:rPr sz="1400" b="1" i="0">
                <a:solidFill>
                  <a:srgbClr val="12B3C4"/>
                </a:solidFill>
                <a:latin typeface="Consolas"/>
              </a:rPr>
              <a:t>›_  </a:t>
            </a:r>
            <a:r>
              <a:rPr sz="1350" b="0" i="1">
                <a:solidFill>
                  <a:srgbClr val="D7E0F5"/>
                </a:solidFill>
                <a:latin typeface="Consolas"/>
              </a:rPr>
              <a:t>Clean permissions are the prerequisite. Copilot only surfaces what a person can already see.</a:t>
            </a:r>
          </a:p>
        </p:txBody>
      </p:sp>
      <p:sp>
        <p:nvSpPr>
          <p:cNvPr id="31" name="TextBox 30"/>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9FB0D8"/>
                </a:solidFill>
                <a:latin typeface="Aptos"/>
              </a:rPr>
              <a:t>Microsoft 365 Copilot Premium</a:t>
            </a:r>
            <a:r>
              <a:rPr sz="900" b="0" i="0">
                <a:solidFill>
                  <a:srgbClr val="9FB0D8"/>
                </a:solidFill>
                <a:latin typeface="Aptos"/>
              </a:rPr>
              <a:t>   ·   Executive Sponsorship</a:t>
            </a:r>
          </a:p>
        </p:txBody>
      </p:sp>
      <p:sp>
        <p:nvSpPr>
          <p:cNvPr id="32" name="TextBox 31"/>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9FB0D8"/>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DELIVERY OPTIONS</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111C44"/>
                </a:solidFill>
                <a:latin typeface="Aptos"/>
              </a:rPr>
              <a:t>Three ways to run it. You decide who carries it.</a:t>
            </a:r>
          </a:p>
        </p:txBody>
      </p:sp>
      <p:sp>
        <p:nvSpPr>
          <p:cNvPr id="5" name="Rounded Rectangle 4"/>
          <p:cNvSpPr/>
          <p:nvPr/>
        </p:nvSpPr>
        <p:spPr>
          <a:xfrm>
            <a:off x="640080" y="1700784"/>
            <a:ext cx="3602736" cy="356616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00784"/>
            <a:ext cx="3602736" cy="100584"/>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50976" y="2029968"/>
            <a:ext cx="548640" cy="548640"/>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2029968"/>
            <a:ext cx="548640" cy="548640"/>
          </a:xfrm>
          <a:prstGeom prst="rect">
            <a:avLst/>
          </a:prstGeom>
          <a:noFill/>
        </p:spPr>
        <p:txBody>
          <a:bodyPr wrap="square" anchor="ctr" lIns="0" rIns="0" tIns="0" bIns="0"/>
          <a:lstStyle/>
          <a:p>
            <a:pPr algn="ctr">
              <a:spcBef>
                <a:spcPts val="0"/>
              </a:spcBef>
              <a:spcAft>
                <a:spcPts val="0"/>
              </a:spcAft>
            </a:pPr>
            <a:r>
              <a:rPr sz="2000" b="1" i="0">
                <a:solidFill>
                  <a:srgbClr val="FFFFFF"/>
                </a:solidFill>
                <a:latin typeface="Aptos"/>
              </a:rPr>
              <a:t>1</a:t>
            </a:r>
          </a:p>
        </p:txBody>
      </p:sp>
      <p:sp>
        <p:nvSpPr>
          <p:cNvPr id="9" name="TextBox 8"/>
          <p:cNvSpPr txBox="1"/>
          <p:nvPr/>
        </p:nvSpPr>
        <p:spPr>
          <a:xfrm>
            <a:off x="1645920" y="2084832"/>
            <a:ext cx="2414015" cy="457200"/>
          </a:xfrm>
          <a:prstGeom prst="rect">
            <a:avLst/>
          </a:prstGeom>
          <a:noFill/>
        </p:spPr>
        <p:txBody>
          <a:bodyPr wrap="square" anchor="t" lIns="0" rIns="0" tIns="0" bIns="0"/>
          <a:lstStyle/>
          <a:p>
            <a:pPr algn="l">
              <a:spcBef>
                <a:spcPts val="0"/>
              </a:spcBef>
              <a:spcAft>
                <a:spcPts val="0"/>
              </a:spcAft>
            </a:pPr>
            <a:r>
              <a:rPr sz="1700" b="1" i="0">
                <a:solidFill>
                  <a:srgbClr val="111C44"/>
                </a:solidFill>
                <a:latin typeface="Aptos"/>
              </a:rPr>
              <a:t>Microsoft-led</a:t>
            </a:r>
          </a:p>
        </p:txBody>
      </p:sp>
      <p:sp>
        <p:nvSpPr>
          <p:cNvPr id="10" name="TextBox 9"/>
          <p:cNvSpPr txBox="1"/>
          <p:nvPr/>
        </p:nvSpPr>
        <p:spPr>
          <a:xfrm>
            <a:off x="950976" y="2834640"/>
            <a:ext cx="2999232" cy="1554480"/>
          </a:xfrm>
          <a:prstGeom prst="rect">
            <a:avLst/>
          </a:prstGeom>
          <a:noFill/>
        </p:spPr>
        <p:txBody>
          <a:bodyPr wrap="square" anchor="t" lIns="0" rIns="0" tIns="0" bIns="0"/>
          <a:lstStyle/>
          <a:p>
            <a:pPr algn="l">
              <a:lnSpc>
                <a:spcPct val="120000"/>
              </a:lnSpc>
              <a:spcBef>
                <a:spcPts val="0"/>
              </a:spcBef>
              <a:spcAft>
                <a:spcPts val="0"/>
              </a:spcAft>
            </a:pPr>
            <a:r>
              <a:rPr sz="1280" b="0" i="0">
                <a:solidFill>
                  <a:srgbClr val="45536E"/>
                </a:solidFill>
                <a:latin typeface="Aptos"/>
              </a:rPr>
              <a:t>Microsoft facilitates the full program with our leaders, session by session. We bring the room, they run it.</a:t>
            </a:r>
          </a:p>
        </p:txBody>
      </p:sp>
      <p:sp>
        <p:nvSpPr>
          <p:cNvPr id="11" name="Rectangle 10"/>
          <p:cNvSpPr/>
          <p:nvPr/>
        </p:nvSpPr>
        <p:spPr>
          <a:xfrm>
            <a:off x="950976" y="4407408"/>
            <a:ext cx="2980944" cy="18288"/>
          </a:xfrm>
          <a:prstGeom prst="rect">
            <a:avLst/>
          </a:prstGeom>
          <a:solidFill>
            <a:srgbClr val="E6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4517136"/>
            <a:ext cx="2999232" cy="640080"/>
          </a:xfrm>
          <a:prstGeom prst="rect">
            <a:avLst/>
          </a:prstGeom>
          <a:noFill/>
        </p:spPr>
        <p:txBody>
          <a:bodyPr wrap="square" anchor="t" lIns="0" rIns="0" tIns="0" bIns="0"/>
          <a:lstStyle/>
          <a:p>
            <a:pPr algn="l">
              <a:spcBef>
                <a:spcPts val="0"/>
              </a:spcBef>
              <a:spcAft>
                <a:spcPts val="0"/>
              </a:spcAft>
            </a:pPr>
            <a:r>
              <a:rPr sz="1150" b="1" i="0">
                <a:solidFill>
                  <a:srgbClr val="2D6CDF"/>
                </a:solidFill>
                <a:latin typeface="Aptos"/>
              </a:rPr>
              <a:t>Best when:  </a:t>
            </a:r>
            <a:r>
              <a:rPr sz="1150" b="0" i="0">
                <a:solidFill>
                  <a:srgbClr val="8A93A6"/>
                </a:solidFill>
                <a:latin typeface="Aptos"/>
              </a:rPr>
              <a:t>Expert-led delivery and the fastest path.</a:t>
            </a:r>
          </a:p>
        </p:txBody>
      </p:sp>
      <p:sp>
        <p:nvSpPr>
          <p:cNvPr id="13" name="Rounded Rectangle 12"/>
          <p:cNvSpPr/>
          <p:nvPr/>
        </p:nvSpPr>
        <p:spPr>
          <a:xfrm>
            <a:off x="4379976" y="1700784"/>
            <a:ext cx="3602736" cy="356616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700784"/>
            <a:ext cx="3602736" cy="100584"/>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90872" y="2029968"/>
            <a:ext cx="548640" cy="548640"/>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90872" y="2029968"/>
            <a:ext cx="548640" cy="548640"/>
          </a:xfrm>
          <a:prstGeom prst="rect">
            <a:avLst/>
          </a:prstGeom>
          <a:noFill/>
        </p:spPr>
        <p:txBody>
          <a:bodyPr wrap="square" anchor="ctr" lIns="0" rIns="0" tIns="0" bIns="0"/>
          <a:lstStyle/>
          <a:p>
            <a:pPr algn="ctr">
              <a:spcBef>
                <a:spcPts val="0"/>
              </a:spcBef>
              <a:spcAft>
                <a:spcPts val="0"/>
              </a:spcAft>
            </a:pPr>
            <a:r>
              <a:rPr sz="2000" b="1" i="0">
                <a:solidFill>
                  <a:srgbClr val="FFFFFF"/>
                </a:solidFill>
                <a:latin typeface="Aptos"/>
              </a:rPr>
              <a:t>2</a:t>
            </a:r>
          </a:p>
        </p:txBody>
      </p:sp>
      <p:sp>
        <p:nvSpPr>
          <p:cNvPr id="17" name="TextBox 16"/>
          <p:cNvSpPr txBox="1"/>
          <p:nvPr/>
        </p:nvSpPr>
        <p:spPr>
          <a:xfrm>
            <a:off x="5385816" y="2084832"/>
            <a:ext cx="2414015" cy="457200"/>
          </a:xfrm>
          <a:prstGeom prst="rect">
            <a:avLst/>
          </a:prstGeom>
          <a:noFill/>
        </p:spPr>
        <p:txBody>
          <a:bodyPr wrap="square" anchor="t" lIns="0" rIns="0" tIns="0" bIns="0"/>
          <a:lstStyle/>
          <a:p>
            <a:pPr algn="l">
              <a:spcBef>
                <a:spcPts val="0"/>
              </a:spcBef>
              <a:spcAft>
                <a:spcPts val="0"/>
              </a:spcAft>
            </a:pPr>
            <a:r>
              <a:rPr sz="1700" b="1" i="0">
                <a:solidFill>
                  <a:srgbClr val="111C44"/>
                </a:solidFill>
                <a:latin typeface="Aptos"/>
              </a:rPr>
              <a:t>We start, you scale</a:t>
            </a:r>
          </a:p>
        </p:txBody>
      </p:sp>
      <p:sp>
        <p:nvSpPr>
          <p:cNvPr id="18" name="TextBox 17"/>
          <p:cNvSpPr txBox="1"/>
          <p:nvPr/>
        </p:nvSpPr>
        <p:spPr>
          <a:xfrm>
            <a:off x="4690872" y="2834640"/>
            <a:ext cx="2999232" cy="1554480"/>
          </a:xfrm>
          <a:prstGeom prst="rect">
            <a:avLst/>
          </a:prstGeom>
          <a:noFill/>
        </p:spPr>
        <p:txBody>
          <a:bodyPr wrap="square" anchor="t" lIns="0" rIns="0" tIns="0" bIns="0"/>
          <a:lstStyle/>
          <a:p>
            <a:pPr algn="l">
              <a:lnSpc>
                <a:spcPct val="120000"/>
              </a:lnSpc>
              <a:spcBef>
                <a:spcPts val="0"/>
              </a:spcBef>
              <a:spcAft>
                <a:spcPts val="0"/>
              </a:spcAft>
            </a:pPr>
            <a:r>
              <a:rPr sz="1280" b="0" i="0">
                <a:solidFill>
                  <a:srgbClr val="45536E"/>
                </a:solidFill>
                <a:latin typeface="Aptos"/>
              </a:rPr>
              <a:t>Microsoft runs the foundation live, trains our trainers, and hands us the deck and framework. We build out the rest.</a:t>
            </a:r>
          </a:p>
        </p:txBody>
      </p:sp>
      <p:sp>
        <p:nvSpPr>
          <p:cNvPr id="19" name="Rectangle 18"/>
          <p:cNvSpPr/>
          <p:nvPr/>
        </p:nvSpPr>
        <p:spPr>
          <a:xfrm>
            <a:off x="4690872" y="4407408"/>
            <a:ext cx="2980944" cy="18288"/>
          </a:xfrm>
          <a:prstGeom prst="rect">
            <a:avLst/>
          </a:prstGeom>
          <a:solidFill>
            <a:srgbClr val="E6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90872" y="4517136"/>
            <a:ext cx="2999232" cy="640080"/>
          </a:xfrm>
          <a:prstGeom prst="rect">
            <a:avLst/>
          </a:prstGeom>
          <a:noFill/>
        </p:spPr>
        <p:txBody>
          <a:bodyPr wrap="square" anchor="t" lIns="0" rIns="0" tIns="0" bIns="0"/>
          <a:lstStyle/>
          <a:p>
            <a:pPr algn="l">
              <a:spcBef>
                <a:spcPts val="0"/>
              </a:spcBef>
              <a:spcAft>
                <a:spcPts val="0"/>
              </a:spcAft>
            </a:pPr>
            <a:r>
              <a:rPr sz="1150" b="1" i="0">
                <a:solidFill>
                  <a:srgbClr val="7C5CFC"/>
                </a:solidFill>
                <a:latin typeface="Aptos"/>
              </a:rPr>
              <a:t>Best when:  </a:t>
            </a:r>
            <a:r>
              <a:rPr sz="1150" b="0" i="0">
                <a:solidFill>
                  <a:srgbClr val="8A93A6"/>
                </a:solidFill>
                <a:latin typeface="Aptos"/>
              </a:rPr>
              <a:t>Building the capability in-house.</a:t>
            </a:r>
          </a:p>
        </p:txBody>
      </p:sp>
      <p:sp>
        <p:nvSpPr>
          <p:cNvPr id="21" name="Rounded Rectangle 20"/>
          <p:cNvSpPr/>
          <p:nvPr/>
        </p:nvSpPr>
        <p:spPr>
          <a:xfrm>
            <a:off x="8119872" y="1700784"/>
            <a:ext cx="3602736" cy="3566160"/>
          </a:xfrm>
          <a:prstGeom prst="roundRect">
            <a:avLst>
              <a:gd name="adj" fmla="val 4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19872" y="1700784"/>
            <a:ext cx="3602736" cy="100584"/>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430768" y="2029968"/>
            <a:ext cx="548640" cy="548640"/>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30768" y="2029968"/>
            <a:ext cx="548640" cy="548640"/>
          </a:xfrm>
          <a:prstGeom prst="rect">
            <a:avLst/>
          </a:prstGeom>
          <a:noFill/>
        </p:spPr>
        <p:txBody>
          <a:bodyPr wrap="square" anchor="ctr" lIns="0" rIns="0" tIns="0" bIns="0"/>
          <a:lstStyle/>
          <a:p>
            <a:pPr algn="ctr">
              <a:spcBef>
                <a:spcPts val="0"/>
              </a:spcBef>
              <a:spcAft>
                <a:spcPts val="0"/>
              </a:spcAft>
            </a:pPr>
            <a:r>
              <a:rPr sz="2000" b="1" i="0">
                <a:solidFill>
                  <a:srgbClr val="FFFFFF"/>
                </a:solidFill>
                <a:latin typeface="Aptos"/>
              </a:rPr>
              <a:t>3</a:t>
            </a:r>
          </a:p>
        </p:txBody>
      </p:sp>
      <p:sp>
        <p:nvSpPr>
          <p:cNvPr id="25" name="TextBox 24"/>
          <p:cNvSpPr txBox="1"/>
          <p:nvPr/>
        </p:nvSpPr>
        <p:spPr>
          <a:xfrm>
            <a:off x="9125712" y="2084832"/>
            <a:ext cx="2414015" cy="457200"/>
          </a:xfrm>
          <a:prstGeom prst="rect">
            <a:avLst/>
          </a:prstGeom>
          <a:noFill/>
        </p:spPr>
        <p:txBody>
          <a:bodyPr wrap="square" anchor="t" lIns="0" rIns="0" tIns="0" bIns="0"/>
          <a:lstStyle/>
          <a:p>
            <a:pPr algn="l">
              <a:spcBef>
                <a:spcPts val="0"/>
              </a:spcBef>
              <a:spcAft>
                <a:spcPts val="0"/>
              </a:spcAft>
            </a:pPr>
            <a:r>
              <a:rPr sz="1700" b="1" i="0">
                <a:solidFill>
                  <a:srgbClr val="111C44"/>
                </a:solidFill>
                <a:latin typeface="Aptos"/>
              </a:rPr>
              <a:t>Partner-led</a:t>
            </a:r>
          </a:p>
        </p:txBody>
      </p:sp>
      <p:sp>
        <p:nvSpPr>
          <p:cNvPr id="26" name="TextBox 25"/>
          <p:cNvSpPr txBox="1"/>
          <p:nvPr/>
        </p:nvSpPr>
        <p:spPr>
          <a:xfrm>
            <a:off x="8430768" y="2834640"/>
            <a:ext cx="2999232" cy="1554480"/>
          </a:xfrm>
          <a:prstGeom prst="rect">
            <a:avLst/>
          </a:prstGeom>
          <a:noFill/>
        </p:spPr>
        <p:txBody>
          <a:bodyPr wrap="square" anchor="t" lIns="0" rIns="0" tIns="0" bIns="0"/>
          <a:lstStyle/>
          <a:p>
            <a:pPr algn="l">
              <a:lnSpc>
                <a:spcPct val="120000"/>
              </a:lnSpc>
              <a:spcBef>
                <a:spcPts val="0"/>
              </a:spcBef>
              <a:spcAft>
                <a:spcPts val="0"/>
              </a:spcAft>
            </a:pPr>
            <a:r>
              <a:rPr sz="1280" b="0" i="0">
                <a:solidFill>
                  <a:srgbClr val="45536E"/>
                </a:solidFill>
                <a:latin typeface="Aptos"/>
              </a:rPr>
              <a:t>A Microsoft partner delivers and customizes the full program alongside us. A dedicated team owns rollout and adoption.</a:t>
            </a:r>
          </a:p>
        </p:txBody>
      </p:sp>
      <p:sp>
        <p:nvSpPr>
          <p:cNvPr id="27" name="Rectangle 26"/>
          <p:cNvSpPr/>
          <p:nvPr/>
        </p:nvSpPr>
        <p:spPr>
          <a:xfrm>
            <a:off x="8430768" y="4407408"/>
            <a:ext cx="2980944" cy="18288"/>
          </a:xfrm>
          <a:prstGeom prst="rect">
            <a:avLst/>
          </a:prstGeom>
          <a:solidFill>
            <a:srgbClr val="E6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30768" y="4517136"/>
            <a:ext cx="2999232" cy="640080"/>
          </a:xfrm>
          <a:prstGeom prst="rect">
            <a:avLst/>
          </a:prstGeom>
          <a:noFill/>
        </p:spPr>
        <p:txBody>
          <a:bodyPr wrap="square" anchor="t" lIns="0" rIns="0" tIns="0" bIns="0"/>
          <a:lstStyle/>
          <a:p>
            <a:pPr algn="l">
              <a:spcBef>
                <a:spcPts val="0"/>
              </a:spcBef>
              <a:spcAft>
                <a:spcPts val="0"/>
              </a:spcAft>
            </a:pPr>
            <a:r>
              <a:rPr sz="1150" b="1" i="0">
                <a:solidFill>
                  <a:srgbClr val="F0A500"/>
                </a:solidFill>
                <a:latin typeface="Aptos"/>
              </a:rPr>
              <a:t>Best when:  </a:t>
            </a:r>
            <a:r>
              <a:rPr sz="1150" b="0" i="0">
                <a:solidFill>
                  <a:srgbClr val="8A93A6"/>
                </a:solidFill>
                <a:latin typeface="Aptos"/>
              </a:rPr>
              <a:t>A committed team to own it long term.</a:t>
            </a:r>
          </a:p>
        </p:txBody>
      </p:sp>
      <p:sp>
        <p:nvSpPr>
          <p:cNvPr id="29" name="TextBox 28"/>
          <p:cNvSpPr txBox="1"/>
          <p:nvPr/>
        </p:nvSpPr>
        <p:spPr>
          <a:xfrm>
            <a:off x="640080" y="5742432"/>
            <a:ext cx="10698480" cy="365760"/>
          </a:xfrm>
          <a:prstGeom prst="rect">
            <a:avLst/>
          </a:prstGeom>
          <a:noFill/>
        </p:spPr>
        <p:txBody>
          <a:bodyPr wrap="square" anchor="t" lIns="0" rIns="0" tIns="0" bIns="0"/>
          <a:lstStyle/>
          <a:p>
            <a:pPr algn="ctr">
              <a:spcBef>
                <a:spcPts val="0"/>
              </a:spcBef>
              <a:spcAft>
                <a:spcPts val="0"/>
              </a:spcAft>
            </a:pPr>
            <a:r>
              <a:rPr sz="1450" b="1" i="1">
                <a:solidFill>
                  <a:srgbClr val="111C44"/>
                </a:solidFill>
                <a:latin typeface="Aptos"/>
              </a:rPr>
              <a:t>Same framework, three speeds.  </a:t>
            </a:r>
            <a:r>
              <a:rPr sz="1450" b="1" i="1">
                <a:solidFill>
                  <a:srgbClr val="2D6CDF"/>
                </a:solidFill>
                <a:latin typeface="Aptos"/>
              </a:rPr>
              <a:t>You own it either way.</a:t>
            </a:r>
          </a:p>
        </p:txBody>
      </p:sp>
      <p:sp>
        <p:nvSpPr>
          <p:cNvPr id="30" name="TextBox 29"/>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31" name="TextBox 30"/>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MAKING IT STICK</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111C44"/>
                </a:solidFill>
                <a:latin typeface="Aptos"/>
              </a:rPr>
              <a:t>A training is a spark. This keeps the fire lit.</a:t>
            </a:r>
          </a:p>
        </p:txBody>
      </p:sp>
      <p:sp>
        <p:nvSpPr>
          <p:cNvPr id="5" name="TextBox 4"/>
          <p:cNvSpPr txBox="1"/>
          <p:nvPr/>
        </p:nvSpPr>
        <p:spPr>
          <a:xfrm>
            <a:off x="640080" y="1481328"/>
            <a:ext cx="10607040" cy="822960"/>
          </a:xfrm>
          <a:prstGeom prst="rect">
            <a:avLst/>
          </a:prstGeom>
          <a:noFill/>
        </p:spPr>
        <p:txBody>
          <a:bodyPr wrap="square" anchor="t" lIns="0" rIns="0" tIns="0" bIns="0"/>
          <a:lstStyle/>
          <a:p>
            <a:pPr algn="l">
              <a:lnSpc>
                <a:spcPct val="120000"/>
              </a:lnSpc>
              <a:spcBef>
                <a:spcPts val="0"/>
              </a:spcBef>
              <a:spcAft>
                <a:spcPts val="0"/>
              </a:spcAft>
            </a:pPr>
            <a:r>
              <a:rPr sz="1500" b="0" i="0">
                <a:solidFill>
                  <a:srgbClr val="45536E"/>
                </a:solidFill>
                <a:latin typeface="Aptos"/>
              </a:rPr>
              <a:t>Most of what people learn in a session is gone in a day without reinforcement. Five moves turn a good training into an adoption engine, and one small team owns them all.</a:t>
            </a:r>
          </a:p>
        </p:txBody>
      </p:sp>
      <p:sp>
        <p:nvSpPr>
          <p:cNvPr id="6" name="Rounded Rectangle 5"/>
          <p:cNvSpPr/>
          <p:nvPr/>
        </p:nvSpPr>
        <p:spPr>
          <a:xfrm>
            <a:off x="640080" y="2395728"/>
            <a:ext cx="3602736" cy="149961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95728"/>
            <a:ext cx="3602736" cy="82296"/>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2724912"/>
            <a:ext cx="566928" cy="566928"/>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ar.png"/>
          <p:cNvPicPr>
            <a:picLocks noChangeAspect="1"/>
          </p:cNvPicPr>
          <p:nvPr/>
        </p:nvPicPr>
        <p:blipFill>
          <a:blip r:embed="rId2"/>
          <a:stretch>
            <a:fillRect/>
          </a:stretch>
        </p:blipFill>
        <p:spPr>
          <a:xfrm>
            <a:off x="1068750" y="2860974"/>
            <a:ext cx="294802" cy="294802"/>
          </a:xfrm>
          <a:prstGeom prst="rect">
            <a:avLst/>
          </a:prstGeom>
        </p:spPr>
      </p:pic>
      <p:sp>
        <p:nvSpPr>
          <p:cNvPr id="10" name="TextBox 9"/>
          <p:cNvSpPr txBox="1"/>
          <p:nvPr/>
        </p:nvSpPr>
        <p:spPr>
          <a:xfrm>
            <a:off x="1645920" y="2761488"/>
            <a:ext cx="2414015" cy="365760"/>
          </a:xfrm>
          <a:prstGeom prst="rect">
            <a:avLst/>
          </a:prstGeom>
          <a:noFill/>
        </p:spPr>
        <p:txBody>
          <a:bodyPr wrap="square" anchor="t" lIns="0" rIns="0" tIns="0" bIns="0"/>
          <a:lstStyle/>
          <a:p>
            <a:pPr algn="l">
              <a:spcBef>
                <a:spcPts val="0"/>
              </a:spcBef>
              <a:spcAft>
                <a:spcPts val="0"/>
              </a:spcAft>
            </a:pPr>
            <a:r>
              <a:rPr sz="1500" b="1" i="0">
                <a:solidFill>
                  <a:srgbClr val="111C44"/>
                </a:solidFill>
                <a:latin typeface="Aptos"/>
              </a:rPr>
              <a:t>Champions</a:t>
            </a:r>
          </a:p>
        </p:txBody>
      </p:sp>
      <p:sp>
        <p:nvSpPr>
          <p:cNvPr id="11" name="TextBox 10"/>
          <p:cNvSpPr txBox="1"/>
          <p:nvPr/>
        </p:nvSpPr>
        <p:spPr>
          <a:xfrm>
            <a:off x="932688" y="336499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45536E"/>
                </a:solidFill>
                <a:latin typeface="Aptos"/>
              </a:rPr>
              <a:t>A trusted peer in each department. Not IT, not Microsoft.</a:t>
            </a:r>
          </a:p>
        </p:txBody>
      </p:sp>
      <p:sp>
        <p:nvSpPr>
          <p:cNvPr id="12" name="Rounded Rectangle 11"/>
          <p:cNvSpPr/>
          <p:nvPr/>
        </p:nvSpPr>
        <p:spPr>
          <a:xfrm>
            <a:off x="4379976" y="2395728"/>
            <a:ext cx="3602736" cy="149961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9976" y="2395728"/>
            <a:ext cx="3602736" cy="82296"/>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72584" y="2724912"/>
            <a:ext cx="566928" cy="566928"/>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shield.png"/>
          <p:cNvPicPr>
            <a:picLocks noChangeAspect="1"/>
          </p:cNvPicPr>
          <p:nvPr/>
        </p:nvPicPr>
        <p:blipFill>
          <a:blip r:embed="rId3"/>
          <a:stretch>
            <a:fillRect/>
          </a:stretch>
        </p:blipFill>
        <p:spPr>
          <a:xfrm>
            <a:off x="4808646" y="2860974"/>
            <a:ext cx="294802" cy="294802"/>
          </a:xfrm>
          <a:prstGeom prst="rect">
            <a:avLst/>
          </a:prstGeom>
        </p:spPr>
      </p:pic>
      <p:sp>
        <p:nvSpPr>
          <p:cNvPr id="16" name="TextBox 15"/>
          <p:cNvSpPr txBox="1"/>
          <p:nvPr/>
        </p:nvSpPr>
        <p:spPr>
          <a:xfrm>
            <a:off x="5385816" y="2761488"/>
            <a:ext cx="2414015" cy="365760"/>
          </a:xfrm>
          <a:prstGeom prst="rect">
            <a:avLst/>
          </a:prstGeom>
          <a:noFill/>
        </p:spPr>
        <p:txBody>
          <a:bodyPr wrap="square" anchor="t" lIns="0" rIns="0" tIns="0" bIns="0"/>
          <a:lstStyle/>
          <a:p>
            <a:pPr algn="l">
              <a:spcBef>
                <a:spcPts val="0"/>
              </a:spcBef>
              <a:spcAft>
                <a:spcPts val="0"/>
              </a:spcAft>
            </a:pPr>
            <a:r>
              <a:rPr sz="1500" b="1" i="0">
                <a:solidFill>
                  <a:srgbClr val="111C44"/>
                </a:solidFill>
                <a:latin typeface="Aptos"/>
              </a:rPr>
              <a:t>Governance</a:t>
            </a:r>
          </a:p>
        </p:txBody>
      </p:sp>
      <p:sp>
        <p:nvSpPr>
          <p:cNvPr id="17" name="TextBox 16"/>
          <p:cNvSpPr txBox="1"/>
          <p:nvPr/>
        </p:nvSpPr>
        <p:spPr>
          <a:xfrm>
            <a:off x="4672584" y="336499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45536E"/>
                </a:solidFill>
                <a:latin typeface="Aptos"/>
              </a:rPr>
              <a:t>Guardrails with Purview before we go wide.</a:t>
            </a:r>
          </a:p>
        </p:txBody>
      </p:sp>
      <p:sp>
        <p:nvSpPr>
          <p:cNvPr id="18" name="Rounded Rectangle 17"/>
          <p:cNvSpPr/>
          <p:nvPr/>
        </p:nvSpPr>
        <p:spPr>
          <a:xfrm>
            <a:off x="8119872" y="2395728"/>
            <a:ext cx="3602736" cy="149961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2395728"/>
            <a:ext cx="3602736" cy="82296"/>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0" y="2724912"/>
            <a:ext cx="566928" cy="566928"/>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art.png"/>
          <p:cNvPicPr>
            <a:picLocks noChangeAspect="1"/>
          </p:cNvPicPr>
          <p:nvPr/>
        </p:nvPicPr>
        <p:blipFill>
          <a:blip r:embed="rId4"/>
          <a:stretch>
            <a:fillRect/>
          </a:stretch>
        </p:blipFill>
        <p:spPr>
          <a:xfrm>
            <a:off x="8548542" y="2860974"/>
            <a:ext cx="294802" cy="294802"/>
          </a:xfrm>
          <a:prstGeom prst="rect">
            <a:avLst/>
          </a:prstGeom>
        </p:spPr>
      </p:pic>
      <p:sp>
        <p:nvSpPr>
          <p:cNvPr id="22" name="TextBox 21"/>
          <p:cNvSpPr txBox="1"/>
          <p:nvPr/>
        </p:nvSpPr>
        <p:spPr>
          <a:xfrm>
            <a:off x="9125712" y="2761488"/>
            <a:ext cx="2414015" cy="365760"/>
          </a:xfrm>
          <a:prstGeom prst="rect">
            <a:avLst/>
          </a:prstGeom>
          <a:noFill/>
        </p:spPr>
        <p:txBody>
          <a:bodyPr wrap="square" anchor="t" lIns="0" rIns="0" tIns="0" bIns="0"/>
          <a:lstStyle/>
          <a:p>
            <a:pPr algn="l">
              <a:spcBef>
                <a:spcPts val="0"/>
              </a:spcBef>
              <a:spcAft>
                <a:spcPts val="0"/>
              </a:spcAft>
            </a:pPr>
            <a:r>
              <a:rPr sz="1500" b="1" i="0">
                <a:solidFill>
                  <a:srgbClr val="111C44"/>
                </a:solidFill>
                <a:latin typeface="Aptos"/>
              </a:rPr>
              <a:t>Measure it</a:t>
            </a:r>
          </a:p>
        </p:txBody>
      </p:sp>
      <p:sp>
        <p:nvSpPr>
          <p:cNvPr id="23" name="TextBox 22"/>
          <p:cNvSpPr txBox="1"/>
          <p:nvPr/>
        </p:nvSpPr>
        <p:spPr>
          <a:xfrm>
            <a:off x="8412480" y="336499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45536E"/>
                </a:solidFill>
                <a:latin typeface="Aptos"/>
              </a:rPr>
              <a:t>Four numbers in a monthly leadership review.</a:t>
            </a:r>
          </a:p>
        </p:txBody>
      </p:sp>
      <p:sp>
        <p:nvSpPr>
          <p:cNvPr id="24" name="Rounded Rectangle 23"/>
          <p:cNvSpPr/>
          <p:nvPr/>
        </p:nvSpPr>
        <p:spPr>
          <a:xfrm>
            <a:off x="640080" y="4041648"/>
            <a:ext cx="3602736" cy="149961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041648"/>
            <a:ext cx="3602736"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32688" y="4370832"/>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arget.png"/>
          <p:cNvPicPr>
            <a:picLocks noChangeAspect="1"/>
          </p:cNvPicPr>
          <p:nvPr/>
        </p:nvPicPr>
        <p:blipFill>
          <a:blip r:embed="rId5"/>
          <a:stretch>
            <a:fillRect/>
          </a:stretch>
        </p:blipFill>
        <p:spPr>
          <a:xfrm>
            <a:off x="1068750" y="4506894"/>
            <a:ext cx="294802" cy="294802"/>
          </a:xfrm>
          <a:prstGeom prst="rect">
            <a:avLst/>
          </a:prstGeom>
        </p:spPr>
      </p:pic>
      <p:sp>
        <p:nvSpPr>
          <p:cNvPr id="28" name="TextBox 27"/>
          <p:cNvSpPr txBox="1"/>
          <p:nvPr/>
        </p:nvSpPr>
        <p:spPr>
          <a:xfrm>
            <a:off x="1645920" y="4407408"/>
            <a:ext cx="2414015" cy="365760"/>
          </a:xfrm>
          <a:prstGeom prst="rect">
            <a:avLst/>
          </a:prstGeom>
          <a:noFill/>
        </p:spPr>
        <p:txBody>
          <a:bodyPr wrap="square" anchor="t" lIns="0" rIns="0" tIns="0" bIns="0"/>
          <a:lstStyle/>
          <a:p>
            <a:pPr algn="l">
              <a:spcBef>
                <a:spcPts val="0"/>
              </a:spcBef>
              <a:spcAft>
                <a:spcPts val="0"/>
              </a:spcAft>
            </a:pPr>
            <a:r>
              <a:rPr sz="1500" b="1" i="0">
                <a:solidFill>
                  <a:srgbClr val="111C44"/>
                </a:solidFill>
                <a:latin typeface="Aptos"/>
              </a:rPr>
              <a:t>Scenario library</a:t>
            </a:r>
          </a:p>
        </p:txBody>
      </p:sp>
      <p:sp>
        <p:nvSpPr>
          <p:cNvPr id="29" name="TextBox 28"/>
          <p:cNvSpPr txBox="1"/>
          <p:nvPr/>
        </p:nvSpPr>
        <p:spPr>
          <a:xfrm>
            <a:off x="932688" y="501091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45536E"/>
                </a:solidFill>
                <a:latin typeface="Aptos"/>
              </a:rPr>
              <a:t>Pick two high-value wins per team and prove them.</a:t>
            </a:r>
          </a:p>
        </p:txBody>
      </p:sp>
      <p:sp>
        <p:nvSpPr>
          <p:cNvPr id="30" name="Rounded Rectangle 29"/>
          <p:cNvSpPr/>
          <p:nvPr/>
        </p:nvSpPr>
        <p:spPr>
          <a:xfrm>
            <a:off x="4379976" y="4041648"/>
            <a:ext cx="3602736" cy="149961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79976" y="4041648"/>
            <a:ext cx="3602736" cy="82296"/>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72584" y="4370832"/>
            <a:ext cx="566928" cy="56692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hat.png"/>
          <p:cNvPicPr>
            <a:picLocks noChangeAspect="1"/>
          </p:cNvPicPr>
          <p:nvPr/>
        </p:nvPicPr>
        <p:blipFill>
          <a:blip r:embed="rId6"/>
          <a:stretch>
            <a:fillRect/>
          </a:stretch>
        </p:blipFill>
        <p:spPr>
          <a:xfrm>
            <a:off x="4808646" y="4506894"/>
            <a:ext cx="294802" cy="294802"/>
          </a:xfrm>
          <a:prstGeom prst="rect">
            <a:avLst/>
          </a:prstGeom>
        </p:spPr>
      </p:pic>
      <p:sp>
        <p:nvSpPr>
          <p:cNvPr id="34" name="TextBox 33"/>
          <p:cNvSpPr txBox="1"/>
          <p:nvPr/>
        </p:nvSpPr>
        <p:spPr>
          <a:xfrm>
            <a:off x="5385816" y="4407408"/>
            <a:ext cx="2414015" cy="365760"/>
          </a:xfrm>
          <a:prstGeom prst="rect">
            <a:avLst/>
          </a:prstGeom>
          <a:noFill/>
        </p:spPr>
        <p:txBody>
          <a:bodyPr wrap="square" anchor="t" lIns="0" rIns="0" tIns="0" bIns="0"/>
          <a:lstStyle/>
          <a:p>
            <a:pPr algn="l">
              <a:spcBef>
                <a:spcPts val="0"/>
              </a:spcBef>
              <a:spcAft>
                <a:spcPts val="0"/>
              </a:spcAft>
            </a:pPr>
            <a:r>
              <a:rPr sz="1500" b="1" i="0">
                <a:solidFill>
                  <a:srgbClr val="111C44"/>
                </a:solidFill>
                <a:latin typeface="Aptos"/>
              </a:rPr>
              <a:t>Community of practice</a:t>
            </a:r>
          </a:p>
        </p:txBody>
      </p:sp>
      <p:sp>
        <p:nvSpPr>
          <p:cNvPr id="35" name="TextBox 34"/>
          <p:cNvSpPr txBox="1"/>
          <p:nvPr/>
        </p:nvSpPr>
        <p:spPr>
          <a:xfrm>
            <a:off x="4672584" y="501091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45536E"/>
                </a:solidFill>
                <a:latin typeface="Aptos"/>
              </a:rPr>
              <a:t>A Teams community and a prompt of the week.</a:t>
            </a:r>
          </a:p>
        </p:txBody>
      </p:sp>
      <p:sp>
        <p:nvSpPr>
          <p:cNvPr id="36" name="Rounded Rectangle 35"/>
          <p:cNvSpPr/>
          <p:nvPr/>
        </p:nvSpPr>
        <p:spPr>
          <a:xfrm>
            <a:off x="8119872" y="4041648"/>
            <a:ext cx="3602736" cy="1499616"/>
          </a:xfrm>
          <a:prstGeom prst="roundRect">
            <a:avLst>
              <a:gd name="adj" fmla="val 6000"/>
            </a:avLst>
          </a:prstGeom>
          <a:solidFill>
            <a:srgbClr val="111C44"/>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12480" y="4370832"/>
            <a:ext cx="566928" cy="56692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hub.png"/>
          <p:cNvPicPr>
            <a:picLocks noChangeAspect="1"/>
          </p:cNvPicPr>
          <p:nvPr/>
        </p:nvPicPr>
        <p:blipFill>
          <a:blip r:embed="rId7"/>
          <a:stretch>
            <a:fillRect/>
          </a:stretch>
        </p:blipFill>
        <p:spPr>
          <a:xfrm>
            <a:off x="8548542" y="4506894"/>
            <a:ext cx="294802" cy="294802"/>
          </a:xfrm>
          <a:prstGeom prst="rect">
            <a:avLst/>
          </a:prstGeom>
        </p:spPr>
      </p:pic>
      <p:sp>
        <p:nvSpPr>
          <p:cNvPr id="39" name="TextBox 38"/>
          <p:cNvSpPr txBox="1"/>
          <p:nvPr/>
        </p:nvSpPr>
        <p:spPr>
          <a:xfrm>
            <a:off x="9125712" y="4407408"/>
            <a:ext cx="2414015" cy="365760"/>
          </a:xfrm>
          <a:prstGeom prst="rect">
            <a:avLst/>
          </a:prstGeom>
          <a:noFill/>
        </p:spPr>
        <p:txBody>
          <a:bodyPr wrap="square" anchor="t" lIns="0" rIns="0" tIns="0" bIns="0"/>
          <a:lstStyle/>
          <a:p>
            <a:pPr algn="l">
              <a:spcBef>
                <a:spcPts val="0"/>
              </a:spcBef>
              <a:spcAft>
                <a:spcPts val="0"/>
              </a:spcAft>
            </a:pPr>
            <a:r>
              <a:rPr sz="1500" b="1" i="0">
                <a:solidFill>
                  <a:srgbClr val="FFFFFF"/>
                </a:solidFill>
                <a:latin typeface="Aptos"/>
              </a:rPr>
              <a:t>Center of Excellence</a:t>
            </a:r>
          </a:p>
        </p:txBody>
      </p:sp>
      <p:sp>
        <p:nvSpPr>
          <p:cNvPr id="40" name="TextBox 39"/>
          <p:cNvSpPr txBox="1"/>
          <p:nvPr/>
        </p:nvSpPr>
        <p:spPr>
          <a:xfrm>
            <a:off x="8412480" y="5010912"/>
            <a:ext cx="3054096" cy="457200"/>
          </a:xfrm>
          <a:prstGeom prst="rect">
            <a:avLst/>
          </a:prstGeom>
          <a:noFill/>
        </p:spPr>
        <p:txBody>
          <a:bodyPr wrap="square" anchor="t" lIns="0" rIns="0" tIns="0" bIns="0"/>
          <a:lstStyle/>
          <a:p>
            <a:pPr algn="l">
              <a:lnSpc>
                <a:spcPct val="112000"/>
              </a:lnSpc>
              <a:spcBef>
                <a:spcPts val="0"/>
              </a:spcBef>
              <a:spcAft>
                <a:spcPts val="0"/>
              </a:spcAft>
            </a:pPr>
            <a:r>
              <a:rPr sz="1200" b="0" i="0">
                <a:solidFill>
                  <a:srgbClr val="9FB0D8"/>
                </a:solidFill>
                <a:latin typeface="Aptos"/>
              </a:rPr>
              <a:t>One small cross-functional team that owns all five.</a:t>
            </a:r>
          </a:p>
        </p:txBody>
      </p:sp>
      <p:sp>
        <p:nvSpPr>
          <p:cNvPr id="41" name="TextBox 40"/>
          <p:cNvSpPr txBox="1"/>
          <p:nvPr/>
        </p:nvSpPr>
        <p:spPr>
          <a:xfrm>
            <a:off x="640080" y="5797296"/>
            <a:ext cx="10698480" cy="365760"/>
          </a:xfrm>
          <a:prstGeom prst="rect">
            <a:avLst/>
          </a:prstGeom>
          <a:noFill/>
        </p:spPr>
        <p:txBody>
          <a:bodyPr wrap="square" anchor="t" lIns="0" rIns="0" tIns="0" bIns="0"/>
          <a:lstStyle/>
          <a:p>
            <a:pPr algn="l">
              <a:spcBef>
                <a:spcPts val="0"/>
              </a:spcBef>
              <a:spcAft>
                <a:spcPts val="0"/>
              </a:spcAft>
            </a:pPr>
            <a:r>
              <a:rPr sz="1350" b="0" i="1">
                <a:solidFill>
                  <a:srgbClr val="8A93A6"/>
                </a:solidFill>
                <a:latin typeface="Aptos"/>
              </a:rPr>
              <a:t>Give adoption a team and a name, </a:t>
            </a:r>
            <a:r>
              <a:rPr sz="1350" b="1" i="1">
                <a:solidFill>
                  <a:srgbClr val="111C44"/>
                </a:solidFill>
                <a:latin typeface="Aptos"/>
              </a:rPr>
              <a:t>or watch it quietly stall in week six.</a:t>
            </a:r>
          </a:p>
        </p:txBody>
      </p:sp>
      <p:sp>
        <p:nvSpPr>
          <p:cNvPr id="42" name="TextBox 41"/>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43" name="TextBox 42"/>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F0A500"/>
                </a:solidFill>
                <a:latin typeface="Aptos"/>
              </a:rPr>
              <a:t>PROVING THE RETURN</a:t>
            </a:r>
          </a:p>
        </p:txBody>
      </p:sp>
      <p:sp>
        <p:nvSpPr>
          <p:cNvPr id="7" name="TextBox 6"/>
          <p:cNvSpPr txBox="1"/>
          <p:nvPr/>
        </p:nvSpPr>
        <p:spPr>
          <a:xfrm>
            <a:off x="804672" y="896112"/>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FFFFFF"/>
                </a:solidFill>
                <a:latin typeface="Aptos"/>
              </a:rPr>
              <a:t>How we'll know it's working</a:t>
            </a:r>
          </a:p>
        </p:txBody>
      </p:sp>
      <p:sp>
        <p:nvSpPr>
          <p:cNvPr id="8" name="TextBox 7"/>
          <p:cNvSpPr txBox="1"/>
          <p:nvPr/>
        </p:nvSpPr>
        <p:spPr>
          <a:xfrm>
            <a:off x="822960" y="1572768"/>
            <a:ext cx="10241280" cy="457200"/>
          </a:xfrm>
          <a:prstGeom prst="rect">
            <a:avLst/>
          </a:prstGeom>
          <a:noFill/>
        </p:spPr>
        <p:txBody>
          <a:bodyPr wrap="square" anchor="t" lIns="0" rIns="0" tIns="0" bIns="0"/>
          <a:lstStyle/>
          <a:p>
            <a:pPr algn="l">
              <a:spcBef>
                <a:spcPts val="0"/>
              </a:spcBef>
              <a:spcAft>
                <a:spcPts val="0"/>
              </a:spcAft>
            </a:pPr>
            <a:r>
              <a:rPr sz="1550" b="0" i="0">
                <a:solidFill>
                  <a:srgbClr val="9FB0D8"/>
                </a:solidFill>
                <a:latin typeface="Aptos"/>
              </a:rPr>
              <a:t>Four numbers in a monthly leadership review tell us if the investment is landing.</a:t>
            </a:r>
          </a:p>
        </p:txBody>
      </p:sp>
      <p:sp>
        <p:nvSpPr>
          <p:cNvPr id="9" name="Rounded Rectangle 8"/>
          <p:cNvSpPr/>
          <p:nvPr/>
        </p:nvSpPr>
        <p:spPr>
          <a:xfrm>
            <a:off x="822960" y="2231136"/>
            <a:ext cx="2587752" cy="1517904"/>
          </a:xfrm>
          <a:prstGeom prst="roundRect">
            <a:avLst>
              <a:gd name="adj" fmla="val 7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33372" y="2450591"/>
            <a:ext cx="566928" cy="566928"/>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ople.png"/>
          <p:cNvPicPr>
            <a:picLocks noChangeAspect="1"/>
          </p:cNvPicPr>
          <p:nvPr/>
        </p:nvPicPr>
        <p:blipFill>
          <a:blip r:embed="rId2"/>
          <a:stretch>
            <a:fillRect/>
          </a:stretch>
        </p:blipFill>
        <p:spPr>
          <a:xfrm>
            <a:off x="1969434" y="2586654"/>
            <a:ext cx="294802" cy="294802"/>
          </a:xfrm>
          <a:prstGeom prst="rect">
            <a:avLst/>
          </a:prstGeom>
        </p:spPr>
      </p:pic>
      <p:sp>
        <p:nvSpPr>
          <p:cNvPr id="12" name="TextBox 11"/>
          <p:cNvSpPr txBox="1"/>
          <p:nvPr/>
        </p:nvSpPr>
        <p:spPr>
          <a:xfrm>
            <a:off x="822960" y="3108960"/>
            <a:ext cx="2587752" cy="329184"/>
          </a:xfrm>
          <a:prstGeom prst="rect">
            <a:avLst/>
          </a:prstGeom>
          <a:noFill/>
        </p:spPr>
        <p:txBody>
          <a:bodyPr wrap="square" anchor="t" lIns="0" rIns="0" tIns="0" bIns="0"/>
          <a:lstStyle/>
          <a:p>
            <a:pPr algn="ctr">
              <a:spcBef>
                <a:spcPts val="0"/>
              </a:spcBef>
              <a:spcAft>
                <a:spcPts val="0"/>
              </a:spcAft>
            </a:pPr>
            <a:r>
              <a:rPr sz="1650" b="1" i="0">
                <a:solidFill>
                  <a:srgbClr val="FFFFFF"/>
                </a:solidFill>
                <a:latin typeface="Aptos"/>
              </a:rPr>
              <a:t>Active</a:t>
            </a:r>
          </a:p>
        </p:txBody>
      </p:sp>
      <p:sp>
        <p:nvSpPr>
          <p:cNvPr id="13" name="TextBox 12"/>
          <p:cNvSpPr txBox="1"/>
          <p:nvPr/>
        </p:nvSpPr>
        <p:spPr>
          <a:xfrm>
            <a:off x="822960" y="3419856"/>
            <a:ext cx="2587752" cy="274320"/>
          </a:xfrm>
          <a:prstGeom prst="rect">
            <a:avLst/>
          </a:prstGeom>
          <a:noFill/>
        </p:spPr>
        <p:txBody>
          <a:bodyPr wrap="square" anchor="t" lIns="0" rIns="0" tIns="0" bIns="0"/>
          <a:lstStyle/>
          <a:p>
            <a:pPr algn="ctr">
              <a:spcBef>
                <a:spcPts val="0"/>
              </a:spcBef>
              <a:spcAft>
                <a:spcPts val="0"/>
              </a:spcAft>
            </a:pPr>
            <a:r>
              <a:rPr sz="1200" b="0" i="0">
                <a:solidFill>
                  <a:srgbClr val="9FB0D8"/>
                </a:solidFill>
                <a:latin typeface="Aptos"/>
              </a:rPr>
              <a:t>users</a:t>
            </a:r>
          </a:p>
        </p:txBody>
      </p:sp>
      <p:sp>
        <p:nvSpPr>
          <p:cNvPr id="14" name="Rounded Rectangle 13"/>
          <p:cNvSpPr/>
          <p:nvPr/>
        </p:nvSpPr>
        <p:spPr>
          <a:xfrm>
            <a:off x="3575304" y="2231136"/>
            <a:ext cx="2587752" cy="1517904"/>
          </a:xfrm>
          <a:prstGeom prst="roundRect">
            <a:avLst>
              <a:gd name="adj" fmla="val 7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85716" y="2450591"/>
            <a:ext cx="566928" cy="566928"/>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refresh.png"/>
          <p:cNvPicPr>
            <a:picLocks noChangeAspect="1"/>
          </p:cNvPicPr>
          <p:nvPr/>
        </p:nvPicPr>
        <p:blipFill>
          <a:blip r:embed="rId3"/>
          <a:stretch>
            <a:fillRect/>
          </a:stretch>
        </p:blipFill>
        <p:spPr>
          <a:xfrm>
            <a:off x="4721778" y="2586654"/>
            <a:ext cx="294802" cy="294802"/>
          </a:xfrm>
          <a:prstGeom prst="rect">
            <a:avLst/>
          </a:prstGeom>
        </p:spPr>
      </p:pic>
      <p:sp>
        <p:nvSpPr>
          <p:cNvPr id="17" name="TextBox 16"/>
          <p:cNvSpPr txBox="1"/>
          <p:nvPr/>
        </p:nvSpPr>
        <p:spPr>
          <a:xfrm>
            <a:off x="3575304" y="3108960"/>
            <a:ext cx="2587752" cy="329184"/>
          </a:xfrm>
          <a:prstGeom prst="rect">
            <a:avLst/>
          </a:prstGeom>
          <a:noFill/>
        </p:spPr>
        <p:txBody>
          <a:bodyPr wrap="square" anchor="t" lIns="0" rIns="0" tIns="0" bIns="0"/>
          <a:lstStyle/>
          <a:p>
            <a:pPr algn="ctr">
              <a:spcBef>
                <a:spcPts val="0"/>
              </a:spcBef>
              <a:spcAft>
                <a:spcPts val="0"/>
              </a:spcAft>
            </a:pPr>
            <a:r>
              <a:rPr sz="1650" b="1" i="0">
                <a:solidFill>
                  <a:srgbClr val="FFFFFF"/>
                </a:solidFill>
                <a:latin typeface="Aptos"/>
              </a:rPr>
              <a:t>Returning</a:t>
            </a:r>
          </a:p>
        </p:txBody>
      </p:sp>
      <p:sp>
        <p:nvSpPr>
          <p:cNvPr id="18" name="TextBox 17"/>
          <p:cNvSpPr txBox="1"/>
          <p:nvPr/>
        </p:nvSpPr>
        <p:spPr>
          <a:xfrm>
            <a:off x="3575304" y="3419856"/>
            <a:ext cx="2587752" cy="274320"/>
          </a:xfrm>
          <a:prstGeom prst="rect">
            <a:avLst/>
          </a:prstGeom>
          <a:noFill/>
        </p:spPr>
        <p:txBody>
          <a:bodyPr wrap="square" anchor="t" lIns="0" rIns="0" tIns="0" bIns="0"/>
          <a:lstStyle/>
          <a:p>
            <a:pPr algn="ctr">
              <a:spcBef>
                <a:spcPts val="0"/>
              </a:spcBef>
              <a:spcAft>
                <a:spcPts val="0"/>
              </a:spcAft>
            </a:pPr>
            <a:r>
              <a:rPr sz="1200" b="0" i="0">
                <a:solidFill>
                  <a:srgbClr val="9FB0D8"/>
                </a:solidFill>
                <a:latin typeface="Aptos"/>
              </a:rPr>
              <a:t>users</a:t>
            </a:r>
          </a:p>
        </p:txBody>
      </p:sp>
      <p:sp>
        <p:nvSpPr>
          <p:cNvPr id="19" name="Rounded Rectangle 18"/>
          <p:cNvSpPr/>
          <p:nvPr/>
        </p:nvSpPr>
        <p:spPr>
          <a:xfrm>
            <a:off x="6327648" y="2231136"/>
            <a:ext cx="2587752" cy="1517904"/>
          </a:xfrm>
          <a:prstGeom prst="roundRect">
            <a:avLst>
              <a:gd name="adj" fmla="val 7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38060" y="2450591"/>
            <a:ext cx="566928" cy="566928"/>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lock.png"/>
          <p:cNvPicPr>
            <a:picLocks noChangeAspect="1"/>
          </p:cNvPicPr>
          <p:nvPr/>
        </p:nvPicPr>
        <p:blipFill>
          <a:blip r:embed="rId4"/>
          <a:stretch>
            <a:fillRect/>
          </a:stretch>
        </p:blipFill>
        <p:spPr>
          <a:xfrm>
            <a:off x="7474122" y="2586654"/>
            <a:ext cx="294802" cy="294802"/>
          </a:xfrm>
          <a:prstGeom prst="rect">
            <a:avLst/>
          </a:prstGeom>
        </p:spPr>
      </p:pic>
      <p:sp>
        <p:nvSpPr>
          <p:cNvPr id="22" name="TextBox 21"/>
          <p:cNvSpPr txBox="1"/>
          <p:nvPr/>
        </p:nvSpPr>
        <p:spPr>
          <a:xfrm>
            <a:off x="6327648" y="3108960"/>
            <a:ext cx="2587752" cy="329184"/>
          </a:xfrm>
          <a:prstGeom prst="rect">
            <a:avLst/>
          </a:prstGeom>
          <a:noFill/>
        </p:spPr>
        <p:txBody>
          <a:bodyPr wrap="square" anchor="t" lIns="0" rIns="0" tIns="0" bIns="0"/>
          <a:lstStyle/>
          <a:p>
            <a:pPr algn="ctr">
              <a:spcBef>
                <a:spcPts val="0"/>
              </a:spcBef>
              <a:spcAft>
                <a:spcPts val="0"/>
              </a:spcAft>
            </a:pPr>
            <a:r>
              <a:rPr sz="1650" b="1" i="0">
                <a:solidFill>
                  <a:srgbClr val="FFFFFF"/>
                </a:solidFill>
                <a:latin typeface="Aptos"/>
              </a:rPr>
              <a:t>Assisted</a:t>
            </a:r>
          </a:p>
        </p:txBody>
      </p:sp>
      <p:sp>
        <p:nvSpPr>
          <p:cNvPr id="23" name="TextBox 22"/>
          <p:cNvSpPr txBox="1"/>
          <p:nvPr/>
        </p:nvSpPr>
        <p:spPr>
          <a:xfrm>
            <a:off x="6327648" y="3419856"/>
            <a:ext cx="2587752" cy="274320"/>
          </a:xfrm>
          <a:prstGeom prst="rect">
            <a:avLst/>
          </a:prstGeom>
          <a:noFill/>
        </p:spPr>
        <p:txBody>
          <a:bodyPr wrap="square" anchor="t" lIns="0" rIns="0" tIns="0" bIns="0"/>
          <a:lstStyle/>
          <a:p>
            <a:pPr algn="ctr">
              <a:spcBef>
                <a:spcPts val="0"/>
              </a:spcBef>
              <a:spcAft>
                <a:spcPts val="0"/>
              </a:spcAft>
            </a:pPr>
            <a:r>
              <a:rPr sz="1200" b="0" i="0">
                <a:solidFill>
                  <a:srgbClr val="9FB0D8"/>
                </a:solidFill>
                <a:latin typeface="Aptos"/>
              </a:rPr>
              <a:t>hours</a:t>
            </a:r>
          </a:p>
        </p:txBody>
      </p:sp>
      <p:sp>
        <p:nvSpPr>
          <p:cNvPr id="24" name="Rounded Rectangle 23"/>
          <p:cNvSpPr/>
          <p:nvPr/>
        </p:nvSpPr>
        <p:spPr>
          <a:xfrm>
            <a:off x="9079992" y="2231136"/>
            <a:ext cx="2587752" cy="1517904"/>
          </a:xfrm>
          <a:prstGeom prst="roundRect">
            <a:avLst>
              <a:gd name="adj" fmla="val 7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090404" y="2450591"/>
            <a:ext cx="566928" cy="56692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star.png"/>
          <p:cNvPicPr>
            <a:picLocks noChangeAspect="1"/>
          </p:cNvPicPr>
          <p:nvPr/>
        </p:nvPicPr>
        <p:blipFill>
          <a:blip r:embed="rId5"/>
          <a:stretch>
            <a:fillRect/>
          </a:stretch>
        </p:blipFill>
        <p:spPr>
          <a:xfrm>
            <a:off x="10226466" y="2586654"/>
            <a:ext cx="294802" cy="294802"/>
          </a:xfrm>
          <a:prstGeom prst="rect">
            <a:avLst/>
          </a:prstGeom>
        </p:spPr>
      </p:pic>
      <p:sp>
        <p:nvSpPr>
          <p:cNvPr id="27" name="TextBox 26"/>
          <p:cNvSpPr txBox="1"/>
          <p:nvPr/>
        </p:nvSpPr>
        <p:spPr>
          <a:xfrm>
            <a:off x="9079992" y="3108960"/>
            <a:ext cx="2587752" cy="329184"/>
          </a:xfrm>
          <a:prstGeom prst="rect">
            <a:avLst/>
          </a:prstGeom>
          <a:noFill/>
        </p:spPr>
        <p:txBody>
          <a:bodyPr wrap="square" anchor="t" lIns="0" rIns="0" tIns="0" bIns="0"/>
          <a:lstStyle/>
          <a:p>
            <a:pPr algn="ctr">
              <a:spcBef>
                <a:spcPts val="0"/>
              </a:spcBef>
              <a:spcAft>
                <a:spcPts val="0"/>
              </a:spcAft>
            </a:pPr>
            <a:r>
              <a:rPr sz="1650" b="1" i="0">
                <a:solidFill>
                  <a:srgbClr val="FFFFFF"/>
                </a:solidFill>
                <a:latin typeface="Aptos"/>
              </a:rPr>
              <a:t>Satisfaction</a:t>
            </a:r>
          </a:p>
        </p:txBody>
      </p:sp>
      <p:sp>
        <p:nvSpPr>
          <p:cNvPr id="28" name="TextBox 27"/>
          <p:cNvSpPr txBox="1"/>
          <p:nvPr/>
        </p:nvSpPr>
        <p:spPr>
          <a:xfrm>
            <a:off x="9079992" y="3419856"/>
            <a:ext cx="2587752" cy="274320"/>
          </a:xfrm>
          <a:prstGeom prst="rect">
            <a:avLst/>
          </a:prstGeom>
          <a:noFill/>
        </p:spPr>
        <p:txBody>
          <a:bodyPr wrap="square" anchor="t" lIns="0" rIns="0" tIns="0" bIns="0"/>
          <a:lstStyle/>
          <a:p>
            <a:pPr algn="ctr">
              <a:spcBef>
                <a:spcPts val="0"/>
              </a:spcBef>
              <a:spcAft>
                <a:spcPts val="0"/>
              </a:spcAft>
            </a:pPr>
            <a:r>
              <a:rPr sz="1200" b="0" i="0">
                <a:solidFill>
                  <a:srgbClr val="9FB0D8"/>
                </a:solidFill>
                <a:latin typeface="Aptos"/>
              </a:rPr>
              <a:t>score</a:t>
            </a:r>
          </a:p>
        </p:txBody>
      </p:sp>
      <p:sp>
        <p:nvSpPr>
          <p:cNvPr id="29" name="Rounded Rectangle 28"/>
          <p:cNvSpPr/>
          <p:nvPr/>
        </p:nvSpPr>
        <p:spPr>
          <a:xfrm>
            <a:off x="822960" y="4114800"/>
            <a:ext cx="10543032" cy="1133856"/>
          </a:xfrm>
          <a:prstGeom prst="roundRect">
            <a:avLst>
              <a:gd name="adj" fmla="val 5000"/>
            </a:avLst>
          </a:prstGeom>
          <a:solidFill>
            <a:srgbClr val="1B2A55"/>
          </a:solidFill>
          <a:ln w="15875">
            <a:solidFill>
              <a:srgbClr val="F0A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114800"/>
            <a:ext cx="2103120" cy="1133856"/>
          </a:xfrm>
          <a:prstGeom prst="rect">
            <a:avLst/>
          </a:prstGeom>
          <a:noFill/>
        </p:spPr>
        <p:txBody>
          <a:bodyPr wrap="square" anchor="ctr" lIns="0" rIns="0" tIns="0" bIns="0"/>
          <a:lstStyle/>
          <a:p>
            <a:pPr algn="ctr">
              <a:spcBef>
                <a:spcPts val="0"/>
              </a:spcBef>
              <a:spcAft>
                <a:spcPts val="0"/>
              </a:spcAft>
            </a:pPr>
            <a:r>
              <a:rPr sz="3000" b="1" i="0">
                <a:solidFill>
                  <a:srgbClr val="F0A500"/>
                </a:solidFill>
                <a:latin typeface="Aptos"/>
              </a:rPr>
              <a:t>11 × 11</a:t>
            </a:r>
          </a:p>
        </p:txBody>
      </p:sp>
      <p:sp>
        <p:nvSpPr>
          <p:cNvPr id="31" name="Rectangle 30"/>
          <p:cNvSpPr/>
          <p:nvPr/>
        </p:nvSpPr>
        <p:spPr>
          <a:xfrm>
            <a:off x="3337560" y="4334256"/>
            <a:ext cx="18288" cy="694944"/>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4224528"/>
            <a:ext cx="7589520" cy="914400"/>
          </a:xfrm>
          <a:prstGeom prst="rect">
            <a:avLst/>
          </a:prstGeom>
          <a:noFill/>
        </p:spPr>
        <p:txBody>
          <a:bodyPr wrap="square" anchor="ctr" lIns="0" rIns="0" tIns="0" bIns="0"/>
          <a:lstStyle/>
          <a:p>
            <a:pPr algn="l">
              <a:spcBef>
                <a:spcPts val="0"/>
              </a:spcBef>
              <a:spcAft>
                <a:spcPts val="0"/>
              </a:spcAft>
            </a:pPr>
            <a:r>
              <a:rPr sz="1400" b="1" i="0">
                <a:solidFill>
                  <a:srgbClr val="FFFFFF"/>
                </a:solidFill>
                <a:latin typeface="Aptos"/>
              </a:rPr>
              <a:t>The tipping point:  </a:t>
            </a:r>
            <a:r>
              <a:rPr sz="1400" b="0" i="0">
                <a:solidFill>
                  <a:srgbClr val="9FB0D8"/>
                </a:solidFill>
                <a:latin typeface="Aptos"/>
              </a:rPr>
              <a:t>about 11 minutes saved a day over 11 weeks of steady use before the productivity signal shows. Give it runway, and don't grade ROI in the first 30 days.</a:t>
            </a:r>
          </a:p>
        </p:txBody>
      </p:sp>
      <p:sp>
        <p:nvSpPr>
          <p:cNvPr id="33" name="Rounded Rectangle 32"/>
          <p:cNvSpPr/>
          <p:nvPr/>
        </p:nvSpPr>
        <p:spPr>
          <a:xfrm>
            <a:off x="822960" y="5541264"/>
            <a:ext cx="10543032" cy="548640"/>
          </a:xfrm>
          <a:prstGeom prst="roundRect">
            <a:avLst>
              <a:gd name="adj" fmla="val 1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5568" y="5541264"/>
            <a:ext cx="9994392" cy="548640"/>
          </a:xfrm>
          <a:prstGeom prst="rect">
            <a:avLst/>
          </a:prstGeom>
          <a:noFill/>
        </p:spPr>
        <p:txBody>
          <a:bodyPr wrap="square" anchor="ctr" lIns="0" rIns="0" tIns="0" bIns="0"/>
          <a:lstStyle/>
          <a:p>
            <a:pPr algn="l">
              <a:spcBef>
                <a:spcPts val="0"/>
              </a:spcBef>
              <a:spcAft>
                <a:spcPts val="0"/>
              </a:spcAft>
            </a:pPr>
            <a:r>
              <a:rPr sz="1400" b="1" i="0">
                <a:solidFill>
                  <a:srgbClr val="F0A500"/>
                </a:solidFill>
                <a:latin typeface="Consolas"/>
              </a:rPr>
              <a:t>›_  </a:t>
            </a:r>
            <a:r>
              <a:rPr sz="1350" b="0" i="1">
                <a:solidFill>
                  <a:srgbClr val="D7E0F5"/>
                </a:solidFill>
                <a:latin typeface="Consolas"/>
              </a:rPr>
              <a:t>Watch the returning users, not the sign-ups. The habit is the ROI.</a:t>
            </a:r>
          </a:p>
        </p:txBody>
      </p:sp>
      <p:sp>
        <p:nvSpPr>
          <p:cNvPr id="35" name="TextBox 34"/>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9FB0D8"/>
                </a:solidFill>
                <a:latin typeface="Aptos"/>
              </a:rPr>
              <a:t>Microsoft 365 Copilot Premium</a:t>
            </a:r>
            <a:r>
              <a:rPr sz="900" b="0" i="0">
                <a:solidFill>
                  <a:srgbClr val="9FB0D8"/>
                </a:solidFill>
                <a:latin typeface="Aptos"/>
              </a:rPr>
              <a:t>   ·   Executive Sponsorship</a:t>
            </a:r>
          </a:p>
        </p:txBody>
      </p:sp>
      <p:sp>
        <p:nvSpPr>
          <p:cNvPr id="36" name="TextBox 35"/>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9FB0D8"/>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2D6CDF"/>
                </a:solidFill>
                <a:latin typeface="Aptos"/>
              </a:rPr>
              <a:t>THE PLAN</a:t>
            </a:r>
          </a:p>
        </p:txBody>
      </p:sp>
      <p:sp>
        <p:nvSpPr>
          <p:cNvPr id="4" name="TextBox 3"/>
          <p:cNvSpPr txBox="1"/>
          <p:nvPr/>
        </p:nvSpPr>
        <p:spPr>
          <a:xfrm>
            <a:off x="640080" y="914400"/>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111C44"/>
                </a:solidFill>
                <a:latin typeface="Aptos"/>
              </a:rPr>
              <a:t>The first 90 days</a:t>
            </a:r>
          </a:p>
        </p:txBody>
      </p:sp>
      <p:sp>
        <p:nvSpPr>
          <p:cNvPr id="5" name="TextBox 4"/>
          <p:cNvSpPr txBox="1"/>
          <p:nvPr/>
        </p:nvSpPr>
        <p:spPr>
          <a:xfrm>
            <a:off x="640080" y="1481328"/>
            <a:ext cx="10607040" cy="457200"/>
          </a:xfrm>
          <a:prstGeom prst="rect">
            <a:avLst/>
          </a:prstGeom>
          <a:noFill/>
        </p:spPr>
        <p:txBody>
          <a:bodyPr wrap="square" anchor="t" lIns="0" rIns="0" tIns="0" bIns="0"/>
          <a:lstStyle/>
          <a:p>
            <a:pPr algn="l">
              <a:spcBef>
                <a:spcPts val="0"/>
              </a:spcBef>
              <a:spcAft>
                <a:spcPts val="0"/>
              </a:spcAft>
            </a:pPr>
            <a:r>
              <a:rPr sz="1550" b="0" i="0">
                <a:solidFill>
                  <a:srgbClr val="45536E"/>
                </a:solidFill>
                <a:latin typeface="Aptos"/>
              </a:rPr>
              <a:t>A simple path from sponsorship to a habit our leaders feel, and numbers we can review.</a:t>
            </a:r>
          </a:p>
        </p:txBody>
      </p:sp>
      <p:sp>
        <p:nvSpPr>
          <p:cNvPr id="6" name="Rectangle 5"/>
          <p:cNvSpPr/>
          <p:nvPr/>
        </p:nvSpPr>
        <p:spPr>
          <a:xfrm>
            <a:off x="914400" y="2615184"/>
            <a:ext cx="10378440" cy="27432"/>
          </a:xfrm>
          <a:prstGeom prst="rect">
            <a:avLst/>
          </a:prstGeom>
          <a:solidFill>
            <a:srgbClr val="D6D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73936" y="2505456"/>
            <a:ext cx="274320" cy="274320"/>
          </a:xfrm>
          <a:prstGeom prst="ellipse">
            <a:avLst/>
          </a:prstGeom>
          <a:solidFill>
            <a:srgbClr val="2D6CDF"/>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871216"/>
            <a:ext cx="2542032" cy="274320"/>
          </a:xfrm>
          <a:prstGeom prst="rect">
            <a:avLst/>
          </a:prstGeom>
          <a:noFill/>
        </p:spPr>
        <p:txBody>
          <a:bodyPr wrap="square" anchor="t" lIns="0" rIns="0" tIns="0" bIns="0"/>
          <a:lstStyle/>
          <a:p>
            <a:pPr algn="ctr">
              <a:spcBef>
                <a:spcPts val="0"/>
              </a:spcBef>
              <a:spcAft>
                <a:spcPts val="0"/>
              </a:spcAft>
            </a:pPr>
            <a:r>
              <a:rPr sz="1100" b="1" i="0" spc="120">
                <a:solidFill>
                  <a:srgbClr val="2D6CDF"/>
                </a:solidFill>
                <a:latin typeface="Aptos"/>
              </a:rPr>
              <a:t>WEEKS 1-2</a:t>
            </a:r>
          </a:p>
        </p:txBody>
      </p:sp>
      <p:sp>
        <p:nvSpPr>
          <p:cNvPr id="9" name="Rounded Rectangle 8"/>
          <p:cNvSpPr/>
          <p:nvPr/>
        </p:nvSpPr>
        <p:spPr>
          <a:xfrm>
            <a:off x="640080" y="3200400"/>
            <a:ext cx="2542032" cy="232257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3200400"/>
            <a:ext cx="2542032" cy="82296"/>
          </a:xfrm>
          <a:prstGeom prst="rect">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00199" y="3438144"/>
            <a:ext cx="621792" cy="621792"/>
          </a:xfrm>
          <a:prstGeom prst="ellipse">
            <a:avLst/>
          </a:prstGeom>
          <a:solidFill>
            <a:srgbClr val="2D6C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png"/>
          <p:cNvPicPr>
            <a:picLocks noChangeAspect="1"/>
          </p:cNvPicPr>
          <p:nvPr/>
        </p:nvPicPr>
        <p:blipFill>
          <a:blip r:embed="rId2"/>
          <a:stretch>
            <a:fillRect/>
          </a:stretch>
        </p:blipFill>
        <p:spPr>
          <a:xfrm>
            <a:off x="1749430" y="3587374"/>
            <a:ext cx="323331" cy="323331"/>
          </a:xfrm>
          <a:prstGeom prst="rect">
            <a:avLst/>
          </a:prstGeom>
        </p:spPr>
      </p:pic>
      <p:sp>
        <p:nvSpPr>
          <p:cNvPr id="13" name="TextBox 12"/>
          <p:cNvSpPr txBox="1"/>
          <p:nvPr/>
        </p:nvSpPr>
        <p:spPr>
          <a:xfrm>
            <a:off x="786384" y="4187952"/>
            <a:ext cx="2249424" cy="640080"/>
          </a:xfrm>
          <a:prstGeom prst="rect">
            <a:avLst/>
          </a:prstGeom>
          <a:noFill/>
        </p:spPr>
        <p:txBody>
          <a:bodyPr wrap="square" anchor="t" lIns="0" rIns="0" tIns="0" bIns="0"/>
          <a:lstStyle/>
          <a:p>
            <a:pPr algn="ctr">
              <a:lnSpc>
                <a:spcPct val="100000"/>
              </a:lnSpc>
              <a:spcBef>
                <a:spcPts val="0"/>
              </a:spcBef>
              <a:spcAft>
                <a:spcPts val="0"/>
              </a:spcAft>
            </a:pPr>
            <a:r>
              <a:rPr sz="1550" b="1" i="0">
                <a:solidFill>
                  <a:srgbClr val="111C44"/>
                </a:solidFill>
                <a:latin typeface="Aptos"/>
              </a:rPr>
              <a:t>Sponsor and set up</a:t>
            </a:r>
          </a:p>
        </p:txBody>
      </p:sp>
      <p:sp>
        <p:nvSpPr>
          <p:cNvPr id="14" name="TextBox 13"/>
          <p:cNvSpPr txBox="1"/>
          <p:nvPr/>
        </p:nvSpPr>
        <p:spPr>
          <a:xfrm>
            <a:off x="822959" y="4809744"/>
            <a:ext cx="2176272" cy="914400"/>
          </a:xfrm>
          <a:prstGeom prst="rect">
            <a:avLst/>
          </a:prstGeom>
          <a:noFill/>
        </p:spPr>
        <p:txBody>
          <a:bodyPr wrap="square" anchor="t" lIns="0" rIns="0" tIns="0" bIns="0"/>
          <a:lstStyle/>
          <a:p>
            <a:pPr algn="ctr">
              <a:lnSpc>
                <a:spcPct val="115000"/>
              </a:lnSpc>
              <a:spcBef>
                <a:spcPts val="0"/>
              </a:spcBef>
              <a:spcAft>
                <a:spcPts val="0"/>
              </a:spcAft>
            </a:pPr>
            <a:r>
              <a:rPr sz="1250" b="0" i="0">
                <a:solidFill>
                  <a:srgbClr val="45536E"/>
                </a:solidFill>
                <a:latin typeface="Aptos"/>
              </a:rPr>
              <a:t>Approve the program, name the owner, book the first session.</a:t>
            </a:r>
          </a:p>
        </p:txBody>
      </p:sp>
      <p:sp>
        <p:nvSpPr>
          <p:cNvPr id="15" name="Oval 14"/>
          <p:cNvSpPr/>
          <p:nvPr/>
        </p:nvSpPr>
        <p:spPr>
          <a:xfrm>
            <a:off x="4434839" y="2505456"/>
            <a:ext cx="274320" cy="274320"/>
          </a:xfrm>
          <a:prstGeom prst="ellipse">
            <a:avLst/>
          </a:prstGeom>
          <a:solidFill>
            <a:srgbClr val="7C5CFC"/>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00983" y="2871216"/>
            <a:ext cx="2542032" cy="274320"/>
          </a:xfrm>
          <a:prstGeom prst="rect">
            <a:avLst/>
          </a:prstGeom>
          <a:noFill/>
        </p:spPr>
        <p:txBody>
          <a:bodyPr wrap="square" anchor="t" lIns="0" rIns="0" tIns="0" bIns="0"/>
          <a:lstStyle/>
          <a:p>
            <a:pPr algn="ctr">
              <a:spcBef>
                <a:spcPts val="0"/>
              </a:spcBef>
              <a:spcAft>
                <a:spcPts val="0"/>
              </a:spcAft>
            </a:pPr>
            <a:r>
              <a:rPr sz="1100" b="1" i="0" spc="120">
                <a:solidFill>
                  <a:srgbClr val="7C5CFC"/>
                </a:solidFill>
                <a:latin typeface="Aptos"/>
              </a:rPr>
              <a:t>WEEKS 3-6</a:t>
            </a:r>
          </a:p>
        </p:txBody>
      </p:sp>
      <p:sp>
        <p:nvSpPr>
          <p:cNvPr id="17" name="Rounded Rectangle 16"/>
          <p:cNvSpPr/>
          <p:nvPr/>
        </p:nvSpPr>
        <p:spPr>
          <a:xfrm>
            <a:off x="3300983" y="3200400"/>
            <a:ext cx="2542032" cy="232257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00983" y="3200400"/>
            <a:ext cx="2542032" cy="82296"/>
          </a:xfrm>
          <a:prstGeom prst="rect">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61103" y="3438144"/>
            <a:ext cx="621792" cy="621792"/>
          </a:xfrm>
          <a:prstGeom prst="ellipse">
            <a:avLst/>
          </a:prstGeom>
          <a:solidFill>
            <a:srgbClr val="7C5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lag.png"/>
          <p:cNvPicPr>
            <a:picLocks noChangeAspect="1"/>
          </p:cNvPicPr>
          <p:nvPr/>
        </p:nvPicPr>
        <p:blipFill>
          <a:blip r:embed="rId3"/>
          <a:stretch>
            <a:fillRect/>
          </a:stretch>
        </p:blipFill>
        <p:spPr>
          <a:xfrm>
            <a:off x="4410334" y="3587374"/>
            <a:ext cx="323331" cy="323331"/>
          </a:xfrm>
          <a:prstGeom prst="rect">
            <a:avLst/>
          </a:prstGeom>
        </p:spPr>
      </p:pic>
      <p:sp>
        <p:nvSpPr>
          <p:cNvPr id="21" name="TextBox 20"/>
          <p:cNvSpPr txBox="1"/>
          <p:nvPr/>
        </p:nvSpPr>
        <p:spPr>
          <a:xfrm>
            <a:off x="3447287" y="4187952"/>
            <a:ext cx="2249424" cy="640080"/>
          </a:xfrm>
          <a:prstGeom prst="rect">
            <a:avLst/>
          </a:prstGeom>
          <a:noFill/>
        </p:spPr>
        <p:txBody>
          <a:bodyPr wrap="square" anchor="t" lIns="0" rIns="0" tIns="0" bIns="0"/>
          <a:lstStyle/>
          <a:p>
            <a:pPr algn="ctr">
              <a:lnSpc>
                <a:spcPct val="100000"/>
              </a:lnSpc>
              <a:spcBef>
                <a:spcPts val="0"/>
              </a:spcBef>
              <a:spcAft>
                <a:spcPts val="0"/>
              </a:spcAft>
            </a:pPr>
            <a:r>
              <a:rPr sz="1550" b="1" i="0">
                <a:solidFill>
                  <a:srgbClr val="111C44"/>
                </a:solidFill>
                <a:latin typeface="Aptos"/>
              </a:rPr>
              <a:t>Leadership foundations</a:t>
            </a:r>
          </a:p>
        </p:txBody>
      </p:sp>
      <p:sp>
        <p:nvSpPr>
          <p:cNvPr id="22" name="TextBox 21"/>
          <p:cNvSpPr txBox="1"/>
          <p:nvPr/>
        </p:nvSpPr>
        <p:spPr>
          <a:xfrm>
            <a:off x="3483863" y="4809744"/>
            <a:ext cx="2176272" cy="914400"/>
          </a:xfrm>
          <a:prstGeom prst="rect">
            <a:avLst/>
          </a:prstGeom>
          <a:noFill/>
        </p:spPr>
        <p:txBody>
          <a:bodyPr wrap="square" anchor="t" lIns="0" rIns="0" tIns="0" bIns="0"/>
          <a:lstStyle/>
          <a:p>
            <a:pPr algn="ctr">
              <a:lnSpc>
                <a:spcPct val="115000"/>
              </a:lnSpc>
              <a:spcBef>
                <a:spcPts val="0"/>
              </a:spcBef>
              <a:spcAft>
                <a:spcPts val="0"/>
              </a:spcAft>
            </a:pPr>
            <a:r>
              <a:rPr sz="1250" b="0" i="0">
                <a:solidFill>
                  <a:srgbClr val="45536E"/>
                </a:solidFill>
                <a:latin typeface="Aptos"/>
              </a:rPr>
              <a:t>Leaders run Tier 1 and get their first real wins.</a:t>
            </a:r>
          </a:p>
        </p:txBody>
      </p:sp>
      <p:sp>
        <p:nvSpPr>
          <p:cNvPr id="23" name="Oval 22"/>
          <p:cNvSpPr/>
          <p:nvPr/>
        </p:nvSpPr>
        <p:spPr>
          <a:xfrm>
            <a:off x="7095743" y="2505456"/>
            <a:ext cx="274320" cy="274320"/>
          </a:xfrm>
          <a:prstGeom prst="ellipse">
            <a:avLst/>
          </a:prstGeom>
          <a:solidFill>
            <a:srgbClr val="12B3C4"/>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61888" y="2871216"/>
            <a:ext cx="2542032" cy="274320"/>
          </a:xfrm>
          <a:prstGeom prst="rect">
            <a:avLst/>
          </a:prstGeom>
          <a:noFill/>
        </p:spPr>
        <p:txBody>
          <a:bodyPr wrap="square" anchor="t" lIns="0" rIns="0" tIns="0" bIns="0"/>
          <a:lstStyle/>
          <a:p>
            <a:pPr algn="ctr">
              <a:spcBef>
                <a:spcPts val="0"/>
              </a:spcBef>
              <a:spcAft>
                <a:spcPts val="0"/>
              </a:spcAft>
            </a:pPr>
            <a:r>
              <a:rPr sz="1100" b="1" i="0" spc="120">
                <a:solidFill>
                  <a:srgbClr val="12B3C4"/>
                </a:solidFill>
                <a:latin typeface="Aptos"/>
              </a:rPr>
              <a:t>WEEKS 7-10</a:t>
            </a:r>
          </a:p>
        </p:txBody>
      </p:sp>
      <p:sp>
        <p:nvSpPr>
          <p:cNvPr id="25" name="Rounded Rectangle 24"/>
          <p:cNvSpPr/>
          <p:nvPr/>
        </p:nvSpPr>
        <p:spPr>
          <a:xfrm>
            <a:off x="5961888" y="3200400"/>
            <a:ext cx="2542032" cy="232257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61888" y="3200400"/>
            <a:ext cx="2542032" cy="82296"/>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22007" y="3438144"/>
            <a:ext cx="621792" cy="621792"/>
          </a:xfrm>
          <a:prstGeom prst="ellipse">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bolt.png"/>
          <p:cNvPicPr>
            <a:picLocks noChangeAspect="1"/>
          </p:cNvPicPr>
          <p:nvPr/>
        </p:nvPicPr>
        <p:blipFill>
          <a:blip r:embed="rId4"/>
          <a:stretch>
            <a:fillRect/>
          </a:stretch>
        </p:blipFill>
        <p:spPr>
          <a:xfrm>
            <a:off x="7071238" y="3587374"/>
            <a:ext cx="323331" cy="323331"/>
          </a:xfrm>
          <a:prstGeom prst="rect">
            <a:avLst/>
          </a:prstGeom>
        </p:spPr>
      </p:pic>
      <p:sp>
        <p:nvSpPr>
          <p:cNvPr id="29" name="TextBox 28"/>
          <p:cNvSpPr txBox="1"/>
          <p:nvPr/>
        </p:nvSpPr>
        <p:spPr>
          <a:xfrm>
            <a:off x="6108192" y="4187952"/>
            <a:ext cx="2249424" cy="640080"/>
          </a:xfrm>
          <a:prstGeom prst="rect">
            <a:avLst/>
          </a:prstGeom>
          <a:noFill/>
        </p:spPr>
        <p:txBody>
          <a:bodyPr wrap="square" anchor="t" lIns="0" rIns="0" tIns="0" bIns="0"/>
          <a:lstStyle/>
          <a:p>
            <a:pPr algn="ctr">
              <a:lnSpc>
                <a:spcPct val="100000"/>
              </a:lnSpc>
              <a:spcBef>
                <a:spcPts val="0"/>
              </a:spcBef>
              <a:spcAft>
                <a:spcPts val="0"/>
              </a:spcAft>
            </a:pPr>
            <a:r>
              <a:rPr sz="1550" b="1" i="0">
                <a:solidFill>
                  <a:srgbClr val="111C44"/>
                </a:solidFill>
                <a:latin typeface="Aptos"/>
              </a:rPr>
              <a:t>Deeper value and agents</a:t>
            </a:r>
          </a:p>
        </p:txBody>
      </p:sp>
      <p:sp>
        <p:nvSpPr>
          <p:cNvPr id="30" name="TextBox 29"/>
          <p:cNvSpPr txBox="1"/>
          <p:nvPr/>
        </p:nvSpPr>
        <p:spPr>
          <a:xfrm>
            <a:off x="6144768" y="4809744"/>
            <a:ext cx="2176272" cy="914400"/>
          </a:xfrm>
          <a:prstGeom prst="rect">
            <a:avLst/>
          </a:prstGeom>
          <a:noFill/>
        </p:spPr>
        <p:txBody>
          <a:bodyPr wrap="square" anchor="t" lIns="0" rIns="0" tIns="0" bIns="0"/>
          <a:lstStyle/>
          <a:p>
            <a:pPr algn="ctr">
              <a:lnSpc>
                <a:spcPct val="115000"/>
              </a:lnSpc>
              <a:spcBef>
                <a:spcPts val="0"/>
              </a:spcBef>
              <a:spcAft>
                <a:spcPts val="0"/>
              </a:spcAft>
            </a:pPr>
            <a:r>
              <a:rPr sz="1250" b="0" i="0">
                <a:solidFill>
                  <a:srgbClr val="45536E"/>
                </a:solidFill>
                <a:latin typeface="Aptos"/>
              </a:rPr>
              <a:t>Reasoning agents and the chief-of-staff setup.</a:t>
            </a:r>
          </a:p>
        </p:txBody>
      </p:sp>
      <p:sp>
        <p:nvSpPr>
          <p:cNvPr id="31" name="Oval 30"/>
          <p:cNvSpPr/>
          <p:nvPr/>
        </p:nvSpPr>
        <p:spPr>
          <a:xfrm>
            <a:off x="9756647" y="2505456"/>
            <a:ext cx="274320" cy="274320"/>
          </a:xfrm>
          <a:prstGeom prst="ellipse">
            <a:avLst/>
          </a:prstGeom>
          <a:solidFill>
            <a:srgbClr val="F0A500"/>
          </a:solidFill>
          <a:ln w="317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22791" y="2871216"/>
            <a:ext cx="2542032" cy="274320"/>
          </a:xfrm>
          <a:prstGeom prst="rect">
            <a:avLst/>
          </a:prstGeom>
          <a:noFill/>
        </p:spPr>
        <p:txBody>
          <a:bodyPr wrap="square" anchor="t" lIns="0" rIns="0" tIns="0" bIns="0"/>
          <a:lstStyle/>
          <a:p>
            <a:pPr algn="ctr">
              <a:spcBef>
                <a:spcPts val="0"/>
              </a:spcBef>
              <a:spcAft>
                <a:spcPts val="0"/>
              </a:spcAft>
            </a:pPr>
            <a:r>
              <a:rPr sz="1100" b="1" i="0" spc="120">
                <a:solidFill>
                  <a:srgbClr val="F0A500"/>
                </a:solidFill>
                <a:latin typeface="Aptos"/>
              </a:rPr>
              <a:t>WEEKS 11-13</a:t>
            </a:r>
          </a:p>
        </p:txBody>
      </p:sp>
      <p:sp>
        <p:nvSpPr>
          <p:cNvPr id="33" name="Rounded Rectangle 32"/>
          <p:cNvSpPr/>
          <p:nvPr/>
        </p:nvSpPr>
        <p:spPr>
          <a:xfrm>
            <a:off x="8622791" y="3200400"/>
            <a:ext cx="2542032" cy="2322576"/>
          </a:xfrm>
          <a:prstGeom prst="roundRect">
            <a:avLst>
              <a:gd name="adj" fmla="val 6000"/>
            </a:avLst>
          </a:prstGeom>
          <a:solidFill>
            <a:srgbClr val="FFFFFF"/>
          </a:solidFill>
          <a:ln>
            <a:noFill/>
          </a:ln>
          <a:effectLst/>
          <a:effectLst>
            <a:outerShdw blurRad="91440" dist="45720" dir="5400000" rotWithShape="0">
              <a:srgbClr val="1220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622791" y="3200400"/>
            <a:ext cx="2542032" cy="82296"/>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582911" y="3438144"/>
            <a:ext cx="621792" cy="621792"/>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hart.png"/>
          <p:cNvPicPr>
            <a:picLocks noChangeAspect="1"/>
          </p:cNvPicPr>
          <p:nvPr/>
        </p:nvPicPr>
        <p:blipFill>
          <a:blip r:embed="rId5"/>
          <a:stretch>
            <a:fillRect/>
          </a:stretch>
        </p:blipFill>
        <p:spPr>
          <a:xfrm>
            <a:off x="9732142" y="3587374"/>
            <a:ext cx="323331" cy="323331"/>
          </a:xfrm>
          <a:prstGeom prst="rect">
            <a:avLst/>
          </a:prstGeom>
        </p:spPr>
      </p:pic>
      <p:sp>
        <p:nvSpPr>
          <p:cNvPr id="37" name="TextBox 36"/>
          <p:cNvSpPr txBox="1"/>
          <p:nvPr/>
        </p:nvSpPr>
        <p:spPr>
          <a:xfrm>
            <a:off x="8769095" y="4187952"/>
            <a:ext cx="2249424" cy="640080"/>
          </a:xfrm>
          <a:prstGeom prst="rect">
            <a:avLst/>
          </a:prstGeom>
          <a:noFill/>
        </p:spPr>
        <p:txBody>
          <a:bodyPr wrap="square" anchor="t" lIns="0" rIns="0" tIns="0" bIns="0"/>
          <a:lstStyle/>
          <a:p>
            <a:pPr algn="ctr">
              <a:lnSpc>
                <a:spcPct val="100000"/>
              </a:lnSpc>
              <a:spcBef>
                <a:spcPts val="0"/>
              </a:spcBef>
              <a:spcAft>
                <a:spcPts val="0"/>
              </a:spcAft>
            </a:pPr>
            <a:r>
              <a:rPr sz="1550" b="1" i="0">
                <a:solidFill>
                  <a:srgbClr val="111C44"/>
                </a:solidFill>
                <a:latin typeface="Aptos"/>
              </a:rPr>
              <a:t>Scale and measure</a:t>
            </a:r>
          </a:p>
        </p:txBody>
      </p:sp>
      <p:sp>
        <p:nvSpPr>
          <p:cNvPr id="38" name="TextBox 37"/>
          <p:cNvSpPr txBox="1"/>
          <p:nvPr/>
        </p:nvSpPr>
        <p:spPr>
          <a:xfrm>
            <a:off x="8805671" y="4809744"/>
            <a:ext cx="2176272" cy="914400"/>
          </a:xfrm>
          <a:prstGeom prst="rect">
            <a:avLst/>
          </a:prstGeom>
          <a:noFill/>
        </p:spPr>
        <p:txBody>
          <a:bodyPr wrap="square" anchor="t" lIns="0" rIns="0" tIns="0" bIns="0"/>
          <a:lstStyle/>
          <a:p>
            <a:pPr algn="ctr">
              <a:lnSpc>
                <a:spcPct val="115000"/>
              </a:lnSpc>
              <a:spcBef>
                <a:spcPts val="0"/>
              </a:spcBef>
              <a:spcAft>
                <a:spcPts val="0"/>
              </a:spcAft>
            </a:pPr>
            <a:r>
              <a:rPr sz="1250" b="0" i="0">
                <a:solidFill>
                  <a:srgbClr val="45536E"/>
                </a:solidFill>
                <a:latin typeface="Aptos"/>
              </a:rPr>
              <a:t>Stand up champions and scenarios. First numbers to leadership.</a:t>
            </a:r>
          </a:p>
        </p:txBody>
      </p:sp>
      <p:sp>
        <p:nvSpPr>
          <p:cNvPr id="39" name="TextBox 38"/>
          <p:cNvSpPr txBox="1"/>
          <p:nvPr/>
        </p:nvSpPr>
        <p:spPr>
          <a:xfrm>
            <a:off x="640080" y="5870448"/>
            <a:ext cx="10698480" cy="365760"/>
          </a:xfrm>
          <a:prstGeom prst="rect">
            <a:avLst/>
          </a:prstGeom>
          <a:noFill/>
        </p:spPr>
        <p:txBody>
          <a:bodyPr wrap="square" anchor="t" lIns="0" rIns="0" tIns="0" bIns="0"/>
          <a:lstStyle/>
          <a:p>
            <a:pPr algn="l">
              <a:spcBef>
                <a:spcPts val="0"/>
              </a:spcBef>
              <a:spcAft>
                <a:spcPts val="0"/>
              </a:spcAft>
            </a:pPr>
            <a:r>
              <a:rPr sz="1350" b="1" i="1">
                <a:solidFill>
                  <a:srgbClr val="111C44"/>
                </a:solidFill>
                <a:latin typeface="Aptos"/>
              </a:rPr>
              <a:t>Fifteen minutes a day beats a training marathon.  </a:t>
            </a:r>
            <a:r>
              <a:rPr sz="1350" b="0" i="1">
                <a:solidFill>
                  <a:srgbClr val="8A93A6"/>
                </a:solidFill>
                <a:latin typeface="Aptos"/>
              </a:rPr>
              <a:t>This starts in two weeks, not next quarter.</a:t>
            </a:r>
          </a:p>
        </p:txBody>
      </p:sp>
      <p:sp>
        <p:nvSpPr>
          <p:cNvPr id="40" name="TextBox 39"/>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8A93A6"/>
                </a:solidFill>
                <a:latin typeface="Aptos"/>
              </a:rPr>
              <a:t>Microsoft 365 Copilot Premium</a:t>
            </a:r>
            <a:r>
              <a:rPr sz="900" b="0" i="0">
                <a:solidFill>
                  <a:srgbClr val="8A93A6"/>
                </a:solidFill>
                <a:latin typeface="Aptos"/>
              </a:rPr>
              <a:t>   ·   Executive Sponsorship</a:t>
            </a:r>
          </a:p>
        </p:txBody>
      </p:sp>
      <p:sp>
        <p:nvSpPr>
          <p:cNvPr id="41" name="TextBox 40"/>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8A93A6"/>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66928"/>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F0A500"/>
                </a:solidFill>
                <a:latin typeface="Aptos"/>
              </a:rPr>
              <a:t>THE DECISION</a:t>
            </a:r>
          </a:p>
        </p:txBody>
      </p:sp>
      <p:sp>
        <p:nvSpPr>
          <p:cNvPr id="7" name="TextBox 6"/>
          <p:cNvSpPr txBox="1"/>
          <p:nvPr/>
        </p:nvSpPr>
        <p:spPr>
          <a:xfrm>
            <a:off x="804672" y="896112"/>
            <a:ext cx="10972800" cy="1371600"/>
          </a:xfrm>
          <a:prstGeom prst="rect">
            <a:avLst/>
          </a:prstGeom>
          <a:noFill/>
        </p:spPr>
        <p:txBody>
          <a:bodyPr wrap="square" anchor="t" lIns="0" rIns="0" tIns="0" bIns="0"/>
          <a:lstStyle/>
          <a:p>
            <a:pPr algn="l">
              <a:lnSpc>
                <a:spcPct val="100000"/>
              </a:lnSpc>
              <a:spcBef>
                <a:spcPts val="0"/>
              </a:spcBef>
              <a:spcAft>
                <a:spcPts val="0"/>
              </a:spcAft>
            </a:pPr>
            <a:r>
              <a:rPr sz="3300" b="1" i="0">
                <a:solidFill>
                  <a:srgbClr val="FFFFFF"/>
                </a:solidFill>
                <a:latin typeface="Aptos"/>
              </a:rPr>
              <a:t>What I need from you today</a:t>
            </a:r>
          </a:p>
        </p:txBody>
      </p:sp>
      <p:sp>
        <p:nvSpPr>
          <p:cNvPr id="8" name="Rounded Rectangle 7"/>
          <p:cNvSpPr/>
          <p:nvPr/>
        </p:nvSpPr>
        <p:spPr>
          <a:xfrm>
            <a:off x="822960" y="1700784"/>
            <a:ext cx="10543032" cy="822960"/>
          </a:xfrm>
          <a:prstGeom prst="roundRect">
            <a:avLst>
              <a:gd name="adj" fmla="val 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60704" y="1874520"/>
            <a:ext cx="475488" cy="47548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1874520"/>
            <a:ext cx="475488" cy="475488"/>
          </a:xfrm>
          <a:prstGeom prst="rect">
            <a:avLst/>
          </a:prstGeom>
          <a:noFill/>
        </p:spPr>
        <p:txBody>
          <a:bodyPr wrap="square" anchor="ctr" lIns="0" rIns="0" tIns="0" bIns="0"/>
          <a:lstStyle/>
          <a:p>
            <a:pPr algn="ctr">
              <a:spcBef>
                <a:spcPts val="0"/>
              </a:spcBef>
              <a:spcAft>
                <a:spcPts val="0"/>
              </a:spcAft>
            </a:pPr>
            <a:r>
              <a:rPr sz="2000" b="1" i="0">
                <a:solidFill>
                  <a:srgbClr val="111C44"/>
                </a:solidFill>
                <a:latin typeface="Aptos"/>
              </a:rPr>
              <a:t>1</a:t>
            </a:r>
          </a:p>
        </p:txBody>
      </p:sp>
      <p:sp>
        <p:nvSpPr>
          <p:cNvPr id="11" name="TextBox 10"/>
          <p:cNvSpPr txBox="1"/>
          <p:nvPr/>
        </p:nvSpPr>
        <p:spPr>
          <a:xfrm>
            <a:off x="1773936" y="1700784"/>
            <a:ext cx="4937760" cy="822960"/>
          </a:xfrm>
          <a:prstGeom prst="rect">
            <a:avLst/>
          </a:prstGeom>
          <a:noFill/>
        </p:spPr>
        <p:txBody>
          <a:bodyPr wrap="square" anchor="ctr" lIns="0" rIns="0" tIns="0" bIns="0"/>
          <a:lstStyle/>
          <a:p>
            <a:pPr algn="l">
              <a:spcBef>
                <a:spcPts val="0"/>
              </a:spcBef>
              <a:spcAft>
                <a:spcPts val="0"/>
              </a:spcAft>
            </a:pPr>
            <a:r>
              <a:rPr sz="1650" b="1" i="0">
                <a:solidFill>
                  <a:srgbClr val="FFFFFF"/>
                </a:solidFill>
                <a:latin typeface="Aptos"/>
              </a:rPr>
              <a:t>Approve and sponsor the program</a:t>
            </a:r>
          </a:p>
        </p:txBody>
      </p:sp>
      <p:sp>
        <p:nvSpPr>
          <p:cNvPr id="12" name="Rectangle 11"/>
          <p:cNvSpPr/>
          <p:nvPr/>
        </p:nvSpPr>
        <p:spPr>
          <a:xfrm>
            <a:off x="6766560" y="1901952"/>
            <a:ext cx="18288" cy="420624"/>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22592" y="1700784"/>
            <a:ext cx="4050791" cy="822960"/>
          </a:xfrm>
          <a:prstGeom prst="rect">
            <a:avLst/>
          </a:prstGeom>
          <a:noFill/>
        </p:spPr>
        <p:txBody>
          <a:bodyPr wrap="square" anchor="ctr" lIns="0" rIns="0" tIns="0" bIns="0"/>
          <a:lstStyle/>
          <a:p>
            <a:pPr algn="l">
              <a:lnSpc>
                <a:spcPct val="112000"/>
              </a:lnSpc>
              <a:spcBef>
                <a:spcPts val="0"/>
              </a:spcBef>
              <a:spcAft>
                <a:spcPts val="0"/>
              </a:spcAft>
            </a:pPr>
            <a:r>
              <a:rPr sz="1350" b="0" i="0">
                <a:solidFill>
                  <a:srgbClr val="9FB0D8"/>
                </a:solidFill>
                <a:latin typeface="Aptos"/>
              </a:rPr>
              <a:t>Say yes, and commit to going first as a leadership team.</a:t>
            </a:r>
          </a:p>
        </p:txBody>
      </p:sp>
      <p:sp>
        <p:nvSpPr>
          <p:cNvPr id="14" name="Rounded Rectangle 13"/>
          <p:cNvSpPr/>
          <p:nvPr/>
        </p:nvSpPr>
        <p:spPr>
          <a:xfrm>
            <a:off x="822960" y="2670048"/>
            <a:ext cx="10543032" cy="822960"/>
          </a:xfrm>
          <a:prstGeom prst="roundRect">
            <a:avLst>
              <a:gd name="adj" fmla="val 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60704" y="2843784"/>
            <a:ext cx="475488" cy="47548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0704" y="2843784"/>
            <a:ext cx="475488" cy="475488"/>
          </a:xfrm>
          <a:prstGeom prst="rect">
            <a:avLst/>
          </a:prstGeom>
          <a:noFill/>
        </p:spPr>
        <p:txBody>
          <a:bodyPr wrap="square" anchor="ctr" lIns="0" rIns="0" tIns="0" bIns="0"/>
          <a:lstStyle/>
          <a:p>
            <a:pPr algn="ctr">
              <a:spcBef>
                <a:spcPts val="0"/>
              </a:spcBef>
              <a:spcAft>
                <a:spcPts val="0"/>
              </a:spcAft>
            </a:pPr>
            <a:r>
              <a:rPr sz="2000" b="1" i="0">
                <a:solidFill>
                  <a:srgbClr val="111C44"/>
                </a:solidFill>
                <a:latin typeface="Aptos"/>
              </a:rPr>
              <a:t>2</a:t>
            </a:r>
          </a:p>
        </p:txBody>
      </p:sp>
      <p:sp>
        <p:nvSpPr>
          <p:cNvPr id="17" name="TextBox 16"/>
          <p:cNvSpPr txBox="1"/>
          <p:nvPr/>
        </p:nvSpPr>
        <p:spPr>
          <a:xfrm>
            <a:off x="1773936" y="2670048"/>
            <a:ext cx="4937760" cy="822960"/>
          </a:xfrm>
          <a:prstGeom prst="rect">
            <a:avLst/>
          </a:prstGeom>
          <a:noFill/>
        </p:spPr>
        <p:txBody>
          <a:bodyPr wrap="square" anchor="ctr" lIns="0" rIns="0" tIns="0" bIns="0"/>
          <a:lstStyle/>
          <a:p>
            <a:pPr algn="l">
              <a:spcBef>
                <a:spcPts val="0"/>
              </a:spcBef>
              <a:spcAft>
                <a:spcPts val="0"/>
              </a:spcAft>
            </a:pPr>
            <a:r>
              <a:rPr sz="1650" b="1" i="0">
                <a:solidFill>
                  <a:srgbClr val="FFFFFF"/>
                </a:solidFill>
                <a:latin typeface="Aptos"/>
              </a:rPr>
              <a:t>Name the owner and the CoE team</a:t>
            </a:r>
          </a:p>
        </p:txBody>
      </p:sp>
      <p:sp>
        <p:nvSpPr>
          <p:cNvPr id="18" name="Rectangle 17"/>
          <p:cNvSpPr/>
          <p:nvPr/>
        </p:nvSpPr>
        <p:spPr>
          <a:xfrm>
            <a:off x="6766560" y="2871216"/>
            <a:ext cx="18288" cy="420624"/>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22592" y="2670048"/>
            <a:ext cx="4050791" cy="822960"/>
          </a:xfrm>
          <a:prstGeom prst="rect">
            <a:avLst/>
          </a:prstGeom>
          <a:noFill/>
        </p:spPr>
        <p:txBody>
          <a:bodyPr wrap="square" anchor="ctr" lIns="0" rIns="0" tIns="0" bIns="0"/>
          <a:lstStyle/>
          <a:p>
            <a:pPr algn="l">
              <a:lnSpc>
                <a:spcPct val="112000"/>
              </a:lnSpc>
              <a:spcBef>
                <a:spcPts val="0"/>
              </a:spcBef>
              <a:spcAft>
                <a:spcPts val="0"/>
              </a:spcAft>
            </a:pPr>
            <a:r>
              <a:rPr sz="1350" b="0" i="0">
                <a:solidFill>
                  <a:srgbClr val="9FB0D8"/>
                </a:solidFill>
                <a:latin typeface="Aptos"/>
              </a:rPr>
              <a:t>One small cross-functional team that owns adoption.</a:t>
            </a:r>
          </a:p>
        </p:txBody>
      </p:sp>
      <p:sp>
        <p:nvSpPr>
          <p:cNvPr id="20" name="Rounded Rectangle 19"/>
          <p:cNvSpPr/>
          <p:nvPr/>
        </p:nvSpPr>
        <p:spPr>
          <a:xfrm>
            <a:off x="822960" y="3639312"/>
            <a:ext cx="10543032" cy="822960"/>
          </a:xfrm>
          <a:prstGeom prst="roundRect">
            <a:avLst>
              <a:gd name="adj" fmla="val 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0704" y="3813048"/>
            <a:ext cx="475488" cy="47548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3813048"/>
            <a:ext cx="475488" cy="475488"/>
          </a:xfrm>
          <a:prstGeom prst="rect">
            <a:avLst/>
          </a:prstGeom>
          <a:noFill/>
        </p:spPr>
        <p:txBody>
          <a:bodyPr wrap="square" anchor="ctr" lIns="0" rIns="0" tIns="0" bIns="0"/>
          <a:lstStyle/>
          <a:p>
            <a:pPr algn="ctr">
              <a:spcBef>
                <a:spcPts val="0"/>
              </a:spcBef>
              <a:spcAft>
                <a:spcPts val="0"/>
              </a:spcAft>
            </a:pPr>
            <a:r>
              <a:rPr sz="2000" b="1" i="0">
                <a:solidFill>
                  <a:srgbClr val="111C44"/>
                </a:solidFill>
                <a:latin typeface="Aptos"/>
              </a:rPr>
              <a:t>3</a:t>
            </a:r>
          </a:p>
        </p:txBody>
      </p:sp>
      <p:sp>
        <p:nvSpPr>
          <p:cNvPr id="23" name="TextBox 22"/>
          <p:cNvSpPr txBox="1"/>
          <p:nvPr/>
        </p:nvSpPr>
        <p:spPr>
          <a:xfrm>
            <a:off x="1773936" y="3639312"/>
            <a:ext cx="4937760" cy="822960"/>
          </a:xfrm>
          <a:prstGeom prst="rect">
            <a:avLst/>
          </a:prstGeom>
          <a:noFill/>
        </p:spPr>
        <p:txBody>
          <a:bodyPr wrap="square" anchor="ctr" lIns="0" rIns="0" tIns="0" bIns="0"/>
          <a:lstStyle/>
          <a:p>
            <a:pPr algn="l">
              <a:spcBef>
                <a:spcPts val="0"/>
              </a:spcBef>
              <a:spcAft>
                <a:spcPts val="0"/>
              </a:spcAft>
            </a:pPr>
            <a:r>
              <a:rPr sz="1650" b="1" i="0">
                <a:solidFill>
                  <a:srgbClr val="FFFFFF"/>
                </a:solidFill>
                <a:latin typeface="Aptos"/>
              </a:rPr>
              <a:t>Green-light the 90-day rollout</a:t>
            </a:r>
          </a:p>
        </p:txBody>
      </p:sp>
      <p:sp>
        <p:nvSpPr>
          <p:cNvPr id="24" name="Rectangle 23"/>
          <p:cNvSpPr/>
          <p:nvPr/>
        </p:nvSpPr>
        <p:spPr>
          <a:xfrm>
            <a:off x="6766560" y="3840480"/>
            <a:ext cx="18288" cy="420624"/>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22592" y="3639312"/>
            <a:ext cx="4050791" cy="822960"/>
          </a:xfrm>
          <a:prstGeom prst="rect">
            <a:avLst/>
          </a:prstGeom>
          <a:noFill/>
        </p:spPr>
        <p:txBody>
          <a:bodyPr wrap="square" anchor="ctr" lIns="0" rIns="0" tIns="0" bIns="0"/>
          <a:lstStyle/>
          <a:p>
            <a:pPr algn="l">
              <a:lnSpc>
                <a:spcPct val="112000"/>
              </a:lnSpc>
              <a:spcBef>
                <a:spcPts val="0"/>
              </a:spcBef>
              <a:spcAft>
                <a:spcPts val="0"/>
              </a:spcAft>
            </a:pPr>
            <a:r>
              <a:rPr sz="1350" b="0" i="0">
                <a:solidFill>
                  <a:srgbClr val="9FB0D8"/>
                </a:solidFill>
                <a:latin typeface="Aptos"/>
              </a:rPr>
              <a:t>Time on calendars and the first working session booked.</a:t>
            </a:r>
          </a:p>
        </p:txBody>
      </p:sp>
      <p:sp>
        <p:nvSpPr>
          <p:cNvPr id="26" name="Rounded Rectangle 25"/>
          <p:cNvSpPr/>
          <p:nvPr/>
        </p:nvSpPr>
        <p:spPr>
          <a:xfrm>
            <a:off x="822960" y="4608576"/>
            <a:ext cx="10543032" cy="822960"/>
          </a:xfrm>
          <a:prstGeom prst="roundRect">
            <a:avLst>
              <a:gd name="adj" fmla="val 8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60704" y="4782312"/>
            <a:ext cx="475488" cy="475488"/>
          </a:xfrm>
          <a:prstGeom prst="ellipse">
            <a:avLst/>
          </a:prstGeom>
          <a:solidFill>
            <a:srgbClr val="F0A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0704" y="4782312"/>
            <a:ext cx="475488" cy="475488"/>
          </a:xfrm>
          <a:prstGeom prst="rect">
            <a:avLst/>
          </a:prstGeom>
          <a:noFill/>
        </p:spPr>
        <p:txBody>
          <a:bodyPr wrap="square" anchor="ctr" lIns="0" rIns="0" tIns="0" bIns="0"/>
          <a:lstStyle/>
          <a:p>
            <a:pPr algn="ctr">
              <a:spcBef>
                <a:spcPts val="0"/>
              </a:spcBef>
              <a:spcAft>
                <a:spcPts val="0"/>
              </a:spcAft>
            </a:pPr>
            <a:r>
              <a:rPr sz="2000" b="1" i="0">
                <a:solidFill>
                  <a:srgbClr val="111C44"/>
                </a:solidFill>
                <a:latin typeface="Aptos"/>
              </a:rPr>
              <a:t>4</a:t>
            </a:r>
          </a:p>
        </p:txBody>
      </p:sp>
      <p:sp>
        <p:nvSpPr>
          <p:cNvPr id="29" name="TextBox 28"/>
          <p:cNvSpPr txBox="1"/>
          <p:nvPr/>
        </p:nvSpPr>
        <p:spPr>
          <a:xfrm>
            <a:off x="1773936" y="4608576"/>
            <a:ext cx="4937760" cy="822960"/>
          </a:xfrm>
          <a:prstGeom prst="rect">
            <a:avLst/>
          </a:prstGeom>
          <a:noFill/>
        </p:spPr>
        <p:txBody>
          <a:bodyPr wrap="square" anchor="ctr" lIns="0" rIns="0" tIns="0" bIns="0"/>
          <a:lstStyle/>
          <a:p>
            <a:pPr algn="l">
              <a:spcBef>
                <a:spcPts val="0"/>
              </a:spcBef>
              <a:spcAft>
                <a:spcPts val="0"/>
              </a:spcAft>
            </a:pPr>
            <a:r>
              <a:rPr sz="1650" b="1" i="0">
                <a:solidFill>
                  <a:srgbClr val="FFFFFF"/>
                </a:solidFill>
                <a:latin typeface="Aptos"/>
              </a:rPr>
              <a:t>Reinforce the habit</a:t>
            </a:r>
          </a:p>
        </p:txBody>
      </p:sp>
      <p:sp>
        <p:nvSpPr>
          <p:cNvPr id="30" name="Rectangle 29"/>
          <p:cNvSpPr/>
          <p:nvPr/>
        </p:nvSpPr>
        <p:spPr>
          <a:xfrm>
            <a:off x="6766560" y="4809744"/>
            <a:ext cx="18288" cy="420624"/>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22592" y="4608576"/>
            <a:ext cx="4050791" cy="822960"/>
          </a:xfrm>
          <a:prstGeom prst="rect">
            <a:avLst/>
          </a:prstGeom>
          <a:noFill/>
        </p:spPr>
        <p:txBody>
          <a:bodyPr wrap="square" anchor="ctr" lIns="0" rIns="0" tIns="0" bIns="0"/>
          <a:lstStyle/>
          <a:p>
            <a:pPr algn="l">
              <a:lnSpc>
                <a:spcPct val="112000"/>
              </a:lnSpc>
              <a:spcBef>
                <a:spcPts val="0"/>
              </a:spcBef>
              <a:spcAft>
                <a:spcPts val="0"/>
              </a:spcAft>
            </a:pPr>
            <a:r>
              <a:rPr sz="1350" b="0" i="0">
                <a:solidFill>
                  <a:srgbClr val="9FB0D8"/>
                </a:solidFill>
                <a:latin typeface="Aptos"/>
              </a:rPr>
              <a:t>Model it yourselves, and ask your teams what they automated.</a:t>
            </a:r>
          </a:p>
        </p:txBody>
      </p:sp>
      <p:sp>
        <p:nvSpPr>
          <p:cNvPr id="32" name="Rounded Rectangle 31"/>
          <p:cNvSpPr/>
          <p:nvPr/>
        </p:nvSpPr>
        <p:spPr>
          <a:xfrm>
            <a:off x="822960" y="5742432"/>
            <a:ext cx="10543032" cy="548640"/>
          </a:xfrm>
          <a:prstGeom prst="roundRect">
            <a:avLst>
              <a:gd name="adj" fmla="val 16000"/>
            </a:avLst>
          </a:prstGeom>
          <a:solidFill>
            <a:srgbClr val="1B2A55"/>
          </a:solidFill>
          <a:ln w="12700">
            <a:solidFill>
              <a:srgbClr val="2C3B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5568" y="5742432"/>
            <a:ext cx="9994392" cy="548640"/>
          </a:xfrm>
          <a:prstGeom prst="rect">
            <a:avLst/>
          </a:prstGeom>
          <a:noFill/>
        </p:spPr>
        <p:txBody>
          <a:bodyPr wrap="square" anchor="ctr" lIns="0" rIns="0" tIns="0" bIns="0"/>
          <a:lstStyle/>
          <a:p>
            <a:pPr algn="l">
              <a:spcBef>
                <a:spcPts val="0"/>
              </a:spcBef>
              <a:spcAft>
                <a:spcPts val="0"/>
              </a:spcAft>
            </a:pPr>
            <a:r>
              <a:rPr sz="1400" b="1" i="0">
                <a:solidFill>
                  <a:srgbClr val="F0A500"/>
                </a:solidFill>
                <a:latin typeface="Consolas"/>
              </a:rPr>
              <a:t>›_  </a:t>
            </a:r>
            <a:r>
              <a:rPr sz="1350" b="0" i="1">
                <a:solidFill>
                  <a:srgbClr val="D7E0F5"/>
                </a:solidFill>
                <a:latin typeface="Consolas"/>
              </a:rPr>
              <a:t>Say yes to the program, go first, and name who owns it. I'll bring the plan and the room.</a:t>
            </a:r>
          </a:p>
        </p:txBody>
      </p:sp>
      <p:sp>
        <p:nvSpPr>
          <p:cNvPr id="34" name="TextBox 33"/>
          <p:cNvSpPr txBox="1"/>
          <p:nvPr/>
        </p:nvSpPr>
        <p:spPr>
          <a:xfrm>
            <a:off x="640080" y="6446520"/>
            <a:ext cx="7315200" cy="274320"/>
          </a:xfrm>
          <a:prstGeom prst="rect">
            <a:avLst/>
          </a:prstGeom>
          <a:noFill/>
        </p:spPr>
        <p:txBody>
          <a:bodyPr wrap="square" anchor="ctr" lIns="0" rIns="0" tIns="0" bIns="0"/>
          <a:lstStyle/>
          <a:p>
            <a:pPr algn="l">
              <a:spcBef>
                <a:spcPts val="0"/>
              </a:spcBef>
              <a:spcAft>
                <a:spcPts val="0"/>
              </a:spcAft>
            </a:pPr>
            <a:r>
              <a:rPr sz="900" b="0" i="0">
                <a:solidFill>
                  <a:srgbClr val="9FB0D8"/>
                </a:solidFill>
                <a:latin typeface="Aptos"/>
              </a:rPr>
              <a:t>Microsoft 365 Copilot Premium</a:t>
            </a:r>
            <a:r>
              <a:rPr sz="900" b="0" i="0">
                <a:solidFill>
                  <a:srgbClr val="9FB0D8"/>
                </a:solidFill>
                <a:latin typeface="Aptos"/>
              </a:rPr>
              <a:t>   ·   Executive Sponsorship</a:t>
            </a:r>
          </a:p>
        </p:txBody>
      </p:sp>
      <p:sp>
        <p:nvSpPr>
          <p:cNvPr id="35" name="TextBox 34"/>
          <p:cNvSpPr txBox="1"/>
          <p:nvPr/>
        </p:nvSpPr>
        <p:spPr>
          <a:xfrm>
            <a:off x="10607040" y="6446520"/>
            <a:ext cx="941832" cy="274320"/>
          </a:xfrm>
          <a:prstGeom prst="rect">
            <a:avLst/>
          </a:prstGeom>
          <a:noFill/>
        </p:spPr>
        <p:txBody>
          <a:bodyPr wrap="square" anchor="ctr" lIns="0" rIns="0" tIns="0" bIns="0"/>
          <a:lstStyle/>
          <a:p>
            <a:pPr algn="r">
              <a:spcBef>
                <a:spcPts val="0"/>
              </a:spcBef>
              <a:spcAft>
                <a:spcPts val="0"/>
              </a:spcAft>
            </a:pPr>
            <a:r>
              <a:rPr sz="900" b="0" i="0">
                <a:solidFill>
                  <a:srgbClr val="9FB0D8"/>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C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2103120"/>
            <a:ext cx="5486400" cy="5486400"/>
          </a:xfrm>
          <a:prstGeom prst="ellipse">
            <a:avLst/>
          </a:prstGeom>
          <a:solidFill>
            <a:srgbClr val="182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657600"/>
            <a:ext cx="3931920" cy="3931920"/>
          </a:xfrm>
          <a:prstGeom prst="ellipse">
            <a:avLst/>
          </a:prstGeom>
          <a:solidFill>
            <a:srgbClr val="1525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8016" cy="6858000"/>
          </a:xfrm>
          <a:prstGeom prst="rect">
            <a:avLst/>
          </a:prstGeom>
          <a:solidFill>
            <a:srgbClr val="12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34440"/>
            <a:ext cx="10972800" cy="320040"/>
          </a:xfrm>
          <a:prstGeom prst="rect">
            <a:avLst/>
          </a:prstGeom>
          <a:noFill/>
        </p:spPr>
        <p:txBody>
          <a:bodyPr wrap="square" anchor="ctr" lIns="0" rIns="0" tIns="0" bIns="0"/>
          <a:lstStyle/>
          <a:p>
            <a:pPr algn="l">
              <a:spcBef>
                <a:spcPts val="0"/>
              </a:spcBef>
              <a:spcAft>
                <a:spcPts val="0"/>
              </a:spcAft>
            </a:pPr>
            <a:r>
              <a:rPr sz="1250" b="1" i="0" spc="220">
                <a:solidFill>
                  <a:srgbClr val="F0A500"/>
                </a:solidFill>
                <a:latin typeface="Aptos"/>
              </a:rPr>
              <a:t>THE BOTTOM LINE</a:t>
            </a:r>
          </a:p>
        </p:txBody>
      </p:sp>
      <p:sp>
        <p:nvSpPr>
          <p:cNvPr id="7" name="TextBox 6"/>
          <p:cNvSpPr txBox="1"/>
          <p:nvPr/>
        </p:nvSpPr>
        <p:spPr>
          <a:xfrm>
            <a:off x="804672" y="1783080"/>
            <a:ext cx="10607040" cy="2103120"/>
          </a:xfrm>
          <a:prstGeom prst="rect">
            <a:avLst/>
          </a:prstGeom>
          <a:noFill/>
        </p:spPr>
        <p:txBody>
          <a:bodyPr wrap="square" anchor="t" lIns="0" rIns="0" tIns="0" bIns="0"/>
          <a:lstStyle/>
          <a:p>
            <a:pPr algn="l">
              <a:lnSpc>
                <a:spcPct val="102000"/>
              </a:lnSpc>
              <a:spcBef>
                <a:spcPts val="0"/>
              </a:spcBef>
              <a:spcAft>
                <a:spcPts val="0"/>
              </a:spcAft>
            </a:pPr>
            <a:r>
              <a:rPr sz="4000" b="1" i="0">
                <a:solidFill>
                  <a:srgbClr val="FFFFFF"/>
                </a:solidFill>
                <a:latin typeface="Aptos"/>
              </a:rPr>
              <a:t>Let's be the company that</a:t>
            </a:r>
          </a:p>
          <a:p>
            <a:pPr algn="l">
              <a:spcBef>
                <a:spcPts val="0"/>
              </a:spcBef>
              <a:spcAft>
                <a:spcPts val="0"/>
              </a:spcAft>
            </a:pPr>
            <a:r>
              <a:rPr sz="4000" b="1" i="0">
                <a:solidFill>
                  <a:srgbClr val="FFFFFF"/>
                </a:solidFill>
                <a:latin typeface="Aptos"/>
              </a:rPr>
              <a:t>runs on </a:t>
            </a:r>
            <a:r>
              <a:rPr sz="4000" b="1" i="0">
                <a:solidFill>
                  <a:srgbClr val="F0A500"/>
                </a:solidFill>
                <a:latin typeface="Aptos"/>
              </a:rPr>
              <a:t>Copilot</a:t>
            </a:r>
            <a:r>
              <a:rPr sz="4000" b="1" i="0">
                <a:solidFill>
                  <a:srgbClr val="FFFFFF"/>
                </a:solidFill>
                <a:latin typeface="Aptos"/>
              </a:rPr>
              <a:t>, not just the</a:t>
            </a:r>
          </a:p>
          <a:p>
            <a:pPr algn="l">
              <a:lnSpc>
                <a:spcPct val="102000"/>
              </a:lnSpc>
              <a:spcBef>
                <a:spcPts val="0"/>
              </a:spcBef>
              <a:spcAft>
                <a:spcPts val="0"/>
              </a:spcAft>
            </a:pPr>
            <a:r>
              <a:rPr sz="4000" b="1" i="0">
                <a:solidFill>
                  <a:srgbClr val="FFFFFF"/>
                </a:solidFill>
                <a:latin typeface="Aptos"/>
              </a:rPr>
              <a:t>one that bought it.</a:t>
            </a:r>
          </a:p>
        </p:txBody>
      </p:sp>
      <p:sp>
        <p:nvSpPr>
          <p:cNvPr id="8" name="TextBox 7"/>
          <p:cNvSpPr txBox="1"/>
          <p:nvPr/>
        </p:nvSpPr>
        <p:spPr>
          <a:xfrm>
            <a:off x="822960" y="4114800"/>
            <a:ext cx="10058400" cy="457200"/>
          </a:xfrm>
          <a:prstGeom prst="rect">
            <a:avLst/>
          </a:prstGeom>
          <a:noFill/>
        </p:spPr>
        <p:txBody>
          <a:bodyPr wrap="square" anchor="t" lIns="0" rIns="0" tIns="0" bIns="0"/>
          <a:lstStyle/>
          <a:p>
            <a:pPr algn="l">
              <a:spcBef>
                <a:spcPts val="0"/>
              </a:spcBef>
              <a:spcAft>
                <a:spcPts val="0"/>
              </a:spcAft>
            </a:pPr>
            <a:r>
              <a:rPr sz="1800" b="1" i="0">
                <a:solidFill>
                  <a:srgbClr val="9FB0D8"/>
                </a:solidFill>
                <a:latin typeface="Aptos"/>
              </a:rPr>
              <a:t>Leadership goes first. The organization follows.</a:t>
            </a:r>
          </a:p>
        </p:txBody>
      </p:sp>
      <p:sp>
        <p:nvSpPr>
          <p:cNvPr id="9" name="Rectangle 8"/>
          <p:cNvSpPr/>
          <p:nvPr/>
        </p:nvSpPr>
        <p:spPr>
          <a:xfrm>
            <a:off x="841248" y="4828032"/>
            <a:ext cx="10515600" cy="18288"/>
          </a:xfrm>
          <a:prstGeom prst="rect">
            <a:avLst/>
          </a:prstGeom>
          <a:solidFill>
            <a:srgbClr val="2C3B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5047488"/>
            <a:ext cx="10424160" cy="914400"/>
          </a:xfrm>
          <a:prstGeom prst="rect">
            <a:avLst/>
          </a:prstGeom>
          <a:noFill/>
        </p:spPr>
        <p:txBody>
          <a:bodyPr wrap="square" anchor="t" lIns="0" rIns="0" tIns="0" bIns="0"/>
          <a:lstStyle/>
          <a:p>
            <a:pPr algn="l">
              <a:spcBef>
                <a:spcPts val="0"/>
              </a:spcBef>
              <a:spcAft>
                <a:spcPts val="0"/>
              </a:spcAft>
            </a:pPr>
            <a:r>
              <a:rPr sz="1500" b="1" i="0">
                <a:solidFill>
                  <a:srgbClr val="12B3C4"/>
                </a:solidFill>
                <a:latin typeface="Aptos"/>
              </a:rPr>
              <a:t>Next step:  </a:t>
            </a:r>
            <a:r>
              <a:rPr sz="1500" b="0" i="0">
                <a:solidFill>
                  <a:srgbClr val="FFFFFF"/>
                </a:solidFill>
                <a:latin typeface="Aptos"/>
              </a:rPr>
              <a:t>book the 45-minute working session. We set up personalization, build a chief-of-staff agent, and get each leader a real win on their own work.</a:t>
            </a:r>
          </a:p>
        </p:txBody>
      </p:sp>
      <p:sp>
        <p:nvSpPr>
          <p:cNvPr id="11" name="TextBox 10"/>
          <p:cNvSpPr txBox="1"/>
          <p:nvPr/>
        </p:nvSpPr>
        <p:spPr>
          <a:xfrm>
            <a:off x="822960" y="6309360"/>
            <a:ext cx="10058400" cy="274320"/>
          </a:xfrm>
          <a:prstGeom prst="rect">
            <a:avLst/>
          </a:prstGeom>
          <a:noFill/>
        </p:spPr>
        <p:txBody>
          <a:bodyPr wrap="square" anchor="t" lIns="0" rIns="0" tIns="0" bIns="0"/>
          <a:lstStyle/>
          <a:p>
            <a:pPr algn="l">
              <a:spcBef>
                <a:spcPts val="0"/>
              </a:spcBef>
              <a:spcAft>
                <a:spcPts val="0"/>
              </a:spcAft>
            </a:pPr>
            <a:r>
              <a:rPr sz="1150" b="0" i="1">
                <a:solidFill>
                  <a:srgbClr val="12B3C4"/>
                </a:solidFill>
                <a:latin typeface="Aptos"/>
              </a:rPr>
              <a:t>Based on the Copilot Premium Executive Playbook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