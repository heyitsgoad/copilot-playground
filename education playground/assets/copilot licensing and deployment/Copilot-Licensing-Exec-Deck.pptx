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 spc="300">
                <a:solidFill>
                  <a:srgbClr val="FD8EA1"/>
                </a:solidFill>
                <a:latin typeface="Segoe UI Semibold"/>
              </a:rPr>
              <a:t>MICROSOFT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82880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Segoe UI Semibold"/>
              </a:rPr>
              <a:t>Copilot, without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Segoe UI Semibold"/>
              </a:rPr>
              <a:t>the guesswork.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F7F4EF"/>
                </a:solidFill>
                <a:latin typeface="Segoe UI"/>
              </a:rPr>
              <a:t>A leadership guide to licensing, cost, and rolling out AI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F7F4EF"/>
                </a:solidFill>
                <a:latin typeface="Segoe UI"/>
              </a:rPr>
              <a:t>without overwhelming your team.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F6F6F"/>
                </a:solidFill>
                <a:latin typeface="Segoe UI"/>
              </a:rPr>
              <a:t>Healthcare-forward, general enough for any knowledge-worker org.  Current July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Three things stall every Copilot rollout.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1560" y="2606040"/>
            <a:ext cx="50292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6207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1" i="0">
                <a:solidFill>
                  <a:srgbClr val="242424"/>
                </a:solidFill>
                <a:latin typeface="Segoe UI Semibold"/>
              </a:rPr>
              <a:t>The licensing maze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11880"/>
            <a:ext cx="2606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C5C5C"/>
                </a:solidFill>
                <a:latin typeface="Segoe UI"/>
              </a:rPr>
              <a:t>Chat, Copilot, Premium, Cowork, agents, credits. People buy the wrong thing and lose money and trust.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00600" y="2606040"/>
            <a:ext cx="50292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86207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1" i="0">
                <a:solidFill>
                  <a:srgbClr val="242424"/>
                </a:solidFill>
                <a:latin typeface="Segoe UI Semibold"/>
              </a:rPr>
              <a:t>Fear of exposing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611880"/>
            <a:ext cx="2606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C5C5C"/>
                </a:solidFill>
                <a:latin typeface="Segoe UI"/>
              </a:rPr>
              <a:t>In a health system, one overshared site plus an eager assistant is a compliance conversation nobody wants.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49639" y="2606040"/>
            <a:ext cx="50292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39" y="286207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1" i="0">
                <a:solidFill>
                  <a:srgbClr val="242424"/>
                </a:solidFill>
                <a:latin typeface="Segoe UI Semibold"/>
              </a:rPr>
              <a:t>Tool overwhelm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39" y="3611880"/>
            <a:ext cx="2606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C5C5C"/>
                </a:solidFill>
                <a:latin typeface="Segoe UI"/>
              </a:rPr>
              <a:t>Drop six new capabilities on a team in a week and adoption dies. The worry is real, and avoidable.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1">
                <a:solidFill>
                  <a:srgbClr val="242424"/>
                </a:solidFill>
                <a:latin typeface="Segoe UI"/>
              </a:rPr>
              <a:t>You already believe Copilot can help. This guide removes what stops you from acting on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Two tiers, one usage layer. That is the whole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7" y="253288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80">
                <a:solidFill>
                  <a:srgbClr val="6F6F6F"/>
                </a:solidFill>
                <a:latin typeface="Segoe UI Semibold"/>
              </a:rPr>
              <a:t>TIER 1 - THE FRONT DOOR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898648"/>
            <a:ext cx="2660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42424"/>
                </a:solidFill>
                <a:latin typeface="Segoe UI Semibold"/>
              </a:rPr>
              <a:t>Microsoft 365 Copilot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3872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1F4B"/>
                </a:solidFill>
                <a:latin typeface="Segoe UI"/>
              </a:rPr>
              <a:t>Included with your M365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31920"/>
            <a:ext cx="26609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Web-grounded AI with enterprise data protection. Safe to give broadly. Builds the habit at no added seat cost.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5400">
            <a:solidFill>
              <a:srgbClr val="B11F4B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3168" y="253288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80">
                <a:solidFill>
                  <a:srgbClr val="B11F4B"/>
                </a:solidFill>
                <a:latin typeface="Segoe UI Semibold"/>
              </a:rPr>
              <a:t>TIER 2 - THE PAID SEAT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2898648"/>
            <a:ext cx="2660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42424"/>
                </a:solidFill>
                <a:latin typeface="Segoe UI Semibold"/>
              </a:rPr>
              <a:t>Microsoft 365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53872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1F4B"/>
                </a:solidFill>
                <a:latin typeface="Segoe UI"/>
              </a:rPr>
              <a:t>Add-on, ~$30/user/mo (confirm live)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931920"/>
            <a:ext cx="26609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Grounds on your own data, edits in the Office apps, adds Researcher and Analyst, and zero-rates most agent 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59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2207" y="253288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80">
                <a:solidFill>
                  <a:srgbClr val="6F6F6F"/>
                </a:solidFill>
                <a:latin typeface="Segoe UI Semibold"/>
              </a:rPr>
              <a:t>USAGE LAYER - ON A PAID SEAT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2207" y="2898648"/>
            <a:ext cx="2660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42424"/>
                </a:solidFill>
                <a:latin typeface="Segoe UI Semibold"/>
              </a:rPr>
              <a:t>Cowork &amp; 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22207" y="353872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1F4B"/>
                </a:solidFill>
                <a:latin typeface="Segoe UI"/>
              </a:rPr>
              <a:t>Billed by usage in Copilot Credits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7" y="3931920"/>
            <a:ext cx="26609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Cowork runs multi-step work on its own. Agents run across both tiers. Off until an admin turns them 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806440"/>
            <a:ext cx="10908792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81558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There is no “Copilot Premium” to buy. It is an in-app label for the paid seat. Use two names: Chat (free) and Microsoft 365 Copilot (paid).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CENTERPIECE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Who gets what, by role.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78308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RECOMMENDED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783080"/>
            <a:ext cx="35021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COMES WITH THE SEAT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72" y="178308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PAYS EXTRA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24028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Director / Exec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4028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Paid seat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40280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Meeting + email synthesis, Researcher, Analyst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0072" y="224028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Cowork usage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807208"/>
            <a:ext cx="10908792" cy="566928"/>
          </a:xfrm>
          <a:prstGeom prst="rect">
            <a:avLst/>
          </a:prstGeom>
          <a:solidFill>
            <a:srgbClr val="F1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2807208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Manager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807208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Paid seat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807208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Recaps, team roll-ups, coordination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72" y="2807208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Cowork usage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74136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374136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Analyst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374136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Paid seat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374136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Excel + Analyst, data-to-deck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3374136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Cowork, Studio, Azure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941064"/>
            <a:ext cx="10908792" cy="566928"/>
          </a:xfrm>
          <a:prstGeom prst="rect">
            <a:avLst/>
          </a:prstGeom>
          <a:solidFill>
            <a:srgbClr val="F1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3941064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Knowledge worker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941064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Start free, graduate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3941064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Web chat, file upload, approved agents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3941064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Paid seat when engaged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07992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" y="4507992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Engineer / Dev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507992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GitHub Copilot + seat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507992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Code assist, collab, doc drafting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0072" y="4507992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Studio license, Azure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074920"/>
            <a:ext cx="10908792" cy="566928"/>
          </a:xfrm>
          <a:prstGeom prst="rect">
            <a:avLst/>
          </a:prstGeom>
          <a:solidFill>
            <a:srgbClr val="F1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59" y="507492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Frontline (F-plan)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507492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Free Chat; paid seat for leaders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5074920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Web chat; recaps for frontline managers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20072" y="507492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Paid add-on on F1/F3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641848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59" y="5641848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Security / Compliance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5641848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Security Copilot + paid seat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5641848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SOC workflows, governance, own collab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20072" y="5641848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Per product terms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FD8EA1"/>
                </a:solidFill>
                <a:latin typeface="Segoe UI Semibold"/>
              </a:rPr>
              <a:t>START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Segoe UI Semibold"/>
              </a:rPr>
              <a:t>Governance is step zero, not step eight.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7F4EF"/>
                </a:solidFill>
                <a:latin typeface="Segoe UI"/>
              </a:rPr>
              <a:t>Decide who owns AI, what good use looks like, and where the guardrails are before you buy a single seat. Skip it and you are cleaning up in production, which in a health system means a disclosure you then have to assess and may have to report.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80360"/>
            <a:ext cx="5394960" cy="1783080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5840" y="3200400"/>
            <a:ext cx="502920" cy="91440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5643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spc="60">
                <a:solidFill>
                  <a:srgbClr val="FFFFFF"/>
                </a:solidFill>
                <a:latin typeface="Segoe UI Semibold"/>
              </a:rPr>
              <a:t>THE PEOPLE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877056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E7DF"/>
                </a:solidFill>
                <a:latin typeface="Segoe UI"/>
              </a:rPr>
              <a:t>Sets direction and owns the decisions. Committee, sponsorship, culture, champions.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880360"/>
            <a:ext cx="5394960" cy="1783080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11112" y="3200400"/>
            <a:ext cx="502920" cy="91440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345643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spc="60">
                <a:solidFill>
                  <a:srgbClr val="FFFFFF"/>
                </a:solidFill>
                <a:latin typeface="Segoe UI Semibold"/>
              </a:rPr>
              <a:t>THE PLATFORM 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3877056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E7DF"/>
                </a:solidFill>
                <a:latin typeface="Segoe UI"/>
              </a:rPr>
              <a:t>The toolkit that makes those decisions real. SharePoint Advanced Management, Purview, the Agent Registry.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029200"/>
            <a:ext cx="10908792" cy="96012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029200"/>
            <a:ext cx="10424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You need both.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E9EE"/>
                </a:solidFill>
                <a:latin typeface="Segoe UI"/>
              </a:rPr>
              <a:t>One without the other is either a policy nobody enforces or a pile of controls nobody aimed.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FD8EA1"/>
                </a:solidFill>
                <a:latin typeface="Segoe UI Semibold"/>
              </a:rPr>
              <a:t>GOVERNANCE · THE PEOPLE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Segoe UI Semibold"/>
              </a:rPr>
              <a:t>Govern before you deploy.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72768"/>
            <a:ext cx="5394960" cy="1810512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19" y="1828800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9933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Stand up an AI governance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5915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7DF"/>
                </a:solidFill>
                <a:latin typeface="Segoe UI"/>
              </a:rPr>
              <a:t>One group owns the AI decisions instead of scattering them across IT tickets. Seats: an exec sponsor, IT and security, compliance, a clinical or business voice, HR. It owns acceptable use, data boundaries, licensing, and agent approval.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572768"/>
            <a:ext cx="5394960" cy="1810512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65392" y="1828800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933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Put AI in your mission and 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35915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7DF"/>
                </a:solidFill>
                <a:latin typeface="Segoe UI"/>
              </a:rPr>
              <a:t>If leadership treats Copilot as a tool IT bought, it stalls. Frame it as how the organization works now. Tie it to outcomes leaders already care about: clinician time back, lower cost, better care.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66160"/>
            <a:ext cx="5394960" cy="1810512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0119" y="3822192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398678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Drive culture from the 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4352544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7DF"/>
                </a:solidFill>
                <a:latin typeface="Segoe UI"/>
              </a:rPr>
              <a:t>Change management is a leadership job, not a training deck. Executives set the tone by using it themselves and naming the behavior they want. Top-down permission turns “we have licenses” into “this is how we work.”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3566160"/>
            <a:ext cx="5394960" cy="1810512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65392" y="3822192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398678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Build a champion network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4352544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7DF"/>
                </a:solidFill>
                <a:latin typeface="Segoe UI"/>
              </a:rPr>
              <a:t>Your bottom-up engine, paired with top-down sponsorship. A few enthusiastic peers per department, modeling real use, move adoption further than any mandate. The Success Kit and Copilot Academy arm them.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742432"/>
            <a:ext cx="10908792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7424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The sequence that works:  </a:t>
            </a:r>
            <a:r>
              <a:rPr sz="1250" b="0" i="0">
                <a:solidFill>
                  <a:srgbClr val="FFE9EE"/>
                </a:solidFill>
                <a:latin typeface="Segoe UI"/>
              </a:rPr>
              <a:t>sponsorship and the committee first, champions carry the last mile. In that order.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GOVERNANCE · THE PLATFORM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The controls that make it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SharePoint Advanced Management comes with your paid seats. The Purview pieces depend on your data-governance licensing (often E5 or a Purview add-on), so check what you hold.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12848"/>
            <a:ext cx="10908792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12848"/>
            <a:ext cx="82296" cy="841248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40864"/>
            <a:ext cx="3291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Microsoft 365 admin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340864"/>
            <a:ext cx="6858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The control plane. Manage who gets Copilot and Chat, control public web access, and manage agents from one place.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63824"/>
            <a:ext cx="10908792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63824"/>
            <a:ext cx="82296" cy="841248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91840"/>
            <a:ext cx="3291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SharePoint Advanced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291840"/>
            <a:ext cx="6858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Included with the paid seat, and the one people miss. Data Access Governance reports find overshared sites; Restricted Content Discovery cuts accidental tenant-wide discovery while you clean up permissions.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14800"/>
            <a:ext cx="10908792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82296" cy="841248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42816"/>
            <a:ext cx="3291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Microsoft Purview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242816"/>
            <a:ext cx="6858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Your data governance layer: sensitivity labels Copilot honors, Data Security Posture Management (DSPM) for AI, plus audit, eDiscovery, and insider-risk coverage.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65776"/>
            <a:ext cx="10908792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065776"/>
            <a:ext cx="82296" cy="841248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193792"/>
            <a:ext cx="3291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Registry + Agent 365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5193792"/>
            <a:ext cx="6858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One inventory across your agent platforms, with the power to observe, approve, block, and secure. Run it with the AI Administrator role, not Global Admin.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F6F6F"/>
                </a:solidFill>
                <a:latin typeface="Segoe UI"/>
              </a:rPr>
              <a:t>Timeline: committee before you buy seats  ·  oversharing + labels before you turn Copilot on  ·  Agent Registry before you scale agents.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LENS ONE · FOR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The executive approach.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Your job as sponsor is not to pick features. It is to fund the right populations, set the guardrails, and protect the rollout from turning into noise. Five moves.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84831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8483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5740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Fund the front door for everyone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340863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Give free Copilot Chat to every eligible employee. It builds the AI habit with no budget fight.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79776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7523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Buy paid seats where the work is heavy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3580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Meetings, email, and spreadsheets pay back fastest. Leaders, managers, analysts first. A focused cohort wins.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74720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44728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Treat Cowork and agents as a metered budget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73075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Consumption lines, not headcount. Turn them on where needed and set tenant, group, and per-agent caps.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69664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6966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14223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Measure, then expand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425696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The Copilot Dashboard surfaces who is ready for a seat. Let the data pull the next wave, not requests.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864608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8646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837176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Do not overwhelm your people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12064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Start with one or two habits that solve a real daily annoyance. Let people win before you add the next thing.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95160" y="2084831"/>
            <a:ext cx="4553712" cy="356616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2432304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C9D6"/>
                </a:solidFill>
                <a:latin typeface="Segoe UI Semibold"/>
              </a:rPr>
              <a:t>THE SOUND BITE FOR YOUR LEADERSHIP TEAM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063240"/>
            <a:ext cx="39319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Segoe UI Semibold"/>
              </a:rPr>
              <a:t>“Free Copilot for everyone, paid seats for the roles that live in meetings and spreadsheets, and agents turned on with a spending cap.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Segoe UI Semibold"/>
              </a:rPr>
              <a:t>We expand based on what the data shows, not what people ask for.”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LENS TWO · FOR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The IT deployment playbook.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Microsoft's guidance in five steps, with the mechanics that matter, including how you actually assign the licenses.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84831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8483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5740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Get the org ready, governance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340863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Stand up the committee, then run the Optimization Assessment and fix oversharing. Turn on MFA, audit, and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16351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78892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Choose the license per population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72383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Use the role matrix. Free Chat for everyone eligible, paid seats for the high-ROI roles. Write it down as named groups.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4787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54787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52044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Ready the apps and network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80390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M365 Apps on Current or Monthly Enterprise channel, Teams/Outlook/OneDrive configured, endpoints allowed.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7939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793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251959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Assign licenses with groups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53542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Group-based licensing in the admin center. One security group per population; membership drives the seat. Scales and audits cleanly.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1091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0109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983479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Enable users and give them a reason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26694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Welcome email, Copilot Academy, Prompt Gallery, and named champions. A license nobody was taught to use is wasted money.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0" y="2084831"/>
            <a:ext cx="3776472" cy="365760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2395728"/>
            <a:ext cx="45720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92440" y="257860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60">
                <a:solidFill>
                  <a:srgbClr val="B11F4B"/>
                </a:solidFill>
                <a:latin typeface="Segoe UI Semibold"/>
              </a:rPr>
              <a:t>HOW YOU MEASURE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017520"/>
            <a:ext cx="32004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The Copilot Dashboard in Viva Insights is your instrument panel.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No extra license, works with one seat, full picture at 50.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500" b="0" i="0">
                <a:solidFill>
                  <a:srgbClr val="5C5C5C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It shows readiness, adoption, and impact (assisted hours are modeled estimates).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500" b="0" i="0">
                <a:solidFill>
                  <a:srgbClr val="5C5C5C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Use it to justify the next wave with numbers, not anecdotes.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MONEY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The one fact that drives your budget.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623560" cy="18288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Paid seats zero-rate most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employee-facing agent use.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7F4EF"/>
                </a:solidFill>
                <a:latin typeface="Segoe UI"/>
              </a:rPr>
              <a:t>Free-Chat users pay per interaction.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03320"/>
            <a:ext cx="5623560" cy="2514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1363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50">
                <a:solidFill>
                  <a:srgbClr val="6F6F6F"/>
                </a:solidFill>
                <a:latin typeface="Segoe UI Semibold"/>
              </a:rPr>
              <a:t>WHAT AN ACTION COSTS (PAY-AS-YOU-GO, ~$0.01/CREDIT)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3159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Classic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31596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1 credit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67258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Generative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672583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2 credits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02919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Agent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5029199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5 credits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385815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Grounding on your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5385815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10 credits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742431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Grounded generative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5742431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12 credits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737360"/>
            <a:ext cx="5056632" cy="448056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201168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100">
                <a:solidFill>
                  <a:srgbClr val="B11F4B"/>
                </a:solidFill>
                <a:latin typeface="Segoe UI Semibold"/>
              </a:rPr>
              <a:t>YOUR COST CONTROLS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0" y="25603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25146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Copilot Credits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28072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Renamed from “messages” in 2025, same rate. PAYG bills through Azure.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34747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34290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Prepaid = a hard ceiling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7216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Agent flows stop at 100% of capacity; custom agents disable at 125%.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3891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43434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Pay-as-you-go = alerts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6360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Keeps billing past your alerts, so set per-agent caps on purpose.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53035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52578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Cowork spend limits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55504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Tenant, group, and per-user caps with usage alerts.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PART PEOPLE FEAR MOST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Agents: build, use, govern.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61188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611880" cy="502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611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80">
                <a:solidFill>
                  <a:srgbClr val="FFFFFF"/>
                </a:solidFill>
                <a:latin typeface="Segoe UI Semibold"/>
              </a:rPr>
              <a:t>WHO CAN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487168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798064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Business users, on a paid seat. Simple declarative agents.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374903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Copilot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4059935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IT and power makers. Full agents, governed environments.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5010912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Azure AI Foundry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19" y="5321807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Developers. Code-first, Azure RBAC and billing.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1783080"/>
            <a:ext cx="361188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783080"/>
            <a:ext cx="3611880" cy="502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544" y="1783080"/>
            <a:ext cx="3611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80">
                <a:solidFill>
                  <a:srgbClr val="FFFFFF"/>
                </a:solidFill>
                <a:latin typeface="Segoe UI Semibold"/>
              </a:rPr>
              <a:t>WHO CAN 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487168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Paid seat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2798064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Full Agent Store, Researcher and Analyst, most use free.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2584" y="374903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Free 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2584" y="4059935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Approved pay-as-you-go agents, metered per use.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5010912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Shared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2584" y="5321807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Consumers need no Studio license. Usage bills the tenant.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1783080"/>
            <a:ext cx="361188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1783080"/>
            <a:ext cx="3611880" cy="502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5008" y="1783080"/>
            <a:ext cx="3611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80">
                <a:solidFill>
                  <a:srgbClr val="FFFFFF"/>
                </a:solidFill>
                <a:latin typeface="Segoe UI Semibold"/>
              </a:rPr>
              <a:t>WHO GOVERNS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5048" y="2487168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Registry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2798064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One inventory. Block, allow, approve. AI Administrator role.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5048" y="374903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Power Platform DLP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5048" y="4059935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Force sign-in, block risky connectors, route makers.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5010912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365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5048" y="5321807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The control plane as agents scale: observe, govern, secure.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NON-NEGOTIABLE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Healthcare and compliance.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623560" cy="1965960"/>
          </a:xfrm>
          <a:prstGeom prst="roundRect">
            <a:avLst>
              <a:gd name="adj" fmla="val 5500"/>
            </a:avLst>
          </a:prstGeom>
          <a:solidFill>
            <a:srgbClr val="E5F2E9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80">
                <a:solidFill>
                  <a:srgbClr val="15803D"/>
                </a:solidFill>
                <a:latin typeface="Segoe UI Semibold"/>
              </a:rPr>
              <a:t>COVERED UNDER YOUR BAA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5029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42424"/>
                </a:solidFill>
                <a:latin typeface="Segoe UI"/>
              </a:rPr>
              <a:t>Microsoft 365 Copilot and Copilot Chat are HIPAA in-scope, with the BAA auto-included.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Web-search queries are the exception: keep PHI out of web-grounded prompts.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840480"/>
            <a:ext cx="5623560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4164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80">
                <a:solidFill>
                  <a:srgbClr val="B11F4B"/>
                </a:solidFill>
                <a:latin typeface="Segoe UI Semibold"/>
              </a:rPr>
              <a:t>THE PRODUCT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434840"/>
            <a:ext cx="5029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"/>
              </a:rPr>
              <a:t>Microsoft 365 Copilot</a:t>
            </a:r>
            <a:r>
              <a:rPr sz="1300" b="0" i="0">
                <a:solidFill>
                  <a:srgbClr val="5C5C5C"/>
                </a:solidFill>
                <a:latin typeface="Segoe UI"/>
              </a:rPr>
              <a:t> is for knowledge and admin workers.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"/>
              </a:rPr>
              <a:t>Dragon Copilot</a:t>
            </a:r>
            <a:r>
              <a:rPr sz="1300" b="0" i="0">
                <a:solidFill>
                  <a:srgbClr val="5C5C5C"/>
                </a:solidFill>
                <a:latin typeface="Segoe UI"/>
              </a:rPr>
              <a:t> is the separate product for clinicians doing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ambient documentation. Different license. Neither is a medical device.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37360"/>
            <a:ext cx="5056632" cy="4480560"/>
          </a:xfrm>
          <a:prstGeom prst="roundRect">
            <a:avLst>
              <a:gd name="adj" fmla="val 5500"/>
            </a:avLst>
          </a:prstGeom>
          <a:solidFill>
            <a:srgbClr val="FBF0DD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96596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80">
                <a:solidFill>
                  <a:srgbClr val="B96A12"/>
                </a:solidFill>
                <a:latin typeface="Segoe UI Semibold"/>
              </a:rPr>
              <a:t>COMPLIANCE GUARDRAILS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2450592"/>
            <a:ext cx="1234440" cy="384048"/>
          </a:xfrm>
          <a:prstGeom prst="roundRect">
            <a:avLst>
              <a:gd name="adj" fmla="val 5500"/>
            </a:avLst>
          </a:prstGeom>
          <a:solidFill>
            <a:srgbClr val="B9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245059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Week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404872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2424"/>
                </a:solidFill>
                <a:latin typeface="Segoe UI"/>
              </a:rPr>
              <a:t>Confirm which AI model providers meet your certification bar (HITRUST, SOC 1, FedRAMP High) and set model access to match.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3730752"/>
            <a:ext cx="1234440" cy="384048"/>
          </a:xfrm>
          <a:prstGeom prst="roundRect">
            <a:avLst>
              <a:gd name="adj" fmla="val 5500"/>
            </a:avLst>
          </a:prstGeom>
          <a:solidFill>
            <a:srgbClr val="B9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73075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Weeks 1-4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685032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2424"/>
                </a:solidFill>
                <a:latin typeface="Segoe UI"/>
              </a:rPr>
              <a:t>Move oversharing control to Restricted Content Discovery as legacy search retires.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5010912"/>
            <a:ext cx="1234440" cy="384048"/>
          </a:xfrm>
          <a:prstGeom prst="roundRect">
            <a:avLst>
              <a:gd name="adj" fmla="val 5500"/>
            </a:avLst>
          </a:prstGeom>
          <a:solidFill>
            <a:srgbClr val="B9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501091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Ongoing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965192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2424"/>
                </a:solidFill>
                <a:latin typeface="Segoe UI"/>
              </a:rPr>
              <a:t>Confirm Anthropic / EU Data Boundary BAA coverage before PHI-adjacent Cowork or Researcher use.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MAKE IT STICK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Roll it out without overwhelming the team.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1">
                <a:solidFill>
                  <a:srgbClr val="5C5C5C"/>
                </a:solidFill>
                <a:latin typeface="Segoe UI"/>
              </a:rPr>
              <a:t>Adoption is a habit you build in waves. Governance stands before Phase 1, not inside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61188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19" y="2377440"/>
            <a:ext cx="50292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260604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60">
                <a:solidFill>
                  <a:srgbClr val="B11F4B"/>
                </a:solidFill>
                <a:latin typeface="Segoe UI Semibold"/>
              </a:rPr>
              <a:t>PHASE 1 -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94436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42424"/>
                </a:solidFill>
                <a:latin typeface="Segoe UI Semibold"/>
              </a:rPr>
              <a:t>Weeks 1-4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3456432"/>
            <a:ext cx="2971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Free Chat to a broad group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Paid seats to a small high-ROI cohort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Name 3-5 champions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Teach one or two daily habits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2103120"/>
            <a:ext cx="361188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72584" y="2377440"/>
            <a:ext cx="50292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260604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60">
                <a:solidFill>
                  <a:srgbClr val="B11F4B"/>
                </a:solidFill>
                <a:latin typeface="Segoe UI Semibold"/>
              </a:rPr>
              <a:t>PHASE 2 - EXPAND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294436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42424"/>
                </a:solidFill>
                <a:latin typeface="Segoe UI Semibold"/>
              </a:rPr>
              <a:t>Weeks 5-10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456432"/>
            <a:ext cx="2971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Graduate engaged Chat users to seats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Ship one governed 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Share modeled assisted-hours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Turn on Cowork for a few, with a cap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8" y="2103120"/>
            <a:ext cx="361188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85048" y="2377440"/>
            <a:ext cx="50292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5048" y="260604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60">
                <a:solidFill>
                  <a:srgbClr val="B11F4B"/>
                </a:solidFill>
                <a:latin typeface="Segoe UI Semibold"/>
              </a:rPr>
              <a:t>PHASE 3 - 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94436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42424"/>
                </a:solidFill>
                <a:latin typeface="Segoe UI Semibold"/>
              </a:rPr>
              <a:t>Weeks 11+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8" y="3456432"/>
            <a:ext cx="2971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Expand department by department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Open building to governed makers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Roll Cowork to roles that earn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Review usage and spend monthly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FD8EA1"/>
                </a:solidFill>
                <a:latin typeface="Segoe UI Semibold"/>
              </a:rPr>
              <a:t>DO THIS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Segoe UI Semibold"/>
              </a:rPr>
              <a:t>Where to start this quarter.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76479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Stand up your AI governance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12264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Name the executive sponsor. This is step zero, before any spend.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9191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79191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660903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Turn on free Chat for everyone eligible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008375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It is already included. Handle the web-search path for PHI-heavy groups first.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75303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57530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557015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Buy a focused block of paid seats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904487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Dozens, not thousands. Leaders, managers, analysts.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71416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7141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45312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Do the oversharing 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SharePoint Advanced Management, and stand up the Agent Registry before you scale agents.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367527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367527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34924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Handle the compliance guardrails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69671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The model-provider settings first.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965960"/>
            <a:ext cx="155448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Free Copilot for everyone. Paid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seats where the work is heavy.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Agents with a governed on-switch.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F7F4EF"/>
                </a:solidFill>
                <a:latin typeface="Segoe UI"/>
              </a:rPr>
              <a:t>We expand on what the data shows, not what people ask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F6F6F"/>
                </a:solidFill>
                <a:latin typeface="Segoe UI"/>
              </a:rPr>
              <a:t>The full interactive guide:  </a:t>
            </a:r>
            <a:r>
              <a:rPr sz="1250" b="1" i="0">
                <a:solidFill>
                  <a:srgbClr val="FD8EA1"/>
                </a:solidFill>
                <a:latin typeface="Segoe UI"/>
              </a:rPr>
              <a:t>heyitsgoad.github.io/copilot-playground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