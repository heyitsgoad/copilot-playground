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spc="300">
                <a:solidFill>
                  <a:srgbClr val="FD8EA1"/>
                </a:solidFill>
                <a:latin typeface="Segoe UI Semibold"/>
              </a:rPr>
              <a:t>MICROSOFT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Segoe UI Semibold"/>
              </a:rPr>
              <a:t>Copilot, without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Segoe UI Semibold"/>
              </a:rPr>
              <a:t>the guesswork.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F7F4EF"/>
                </a:solidFill>
                <a:latin typeface="Segoe UI"/>
              </a:rPr>
              <a:t>A leadership guide to licensing, cost, and rolling out AI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F7F4EF"/>
                </a:solidFill>
                <a:latin typeface="Segoe UI"/>
              </a:rPr>
              <a:t>without overwhelming your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F6F6F"/>
                </a:solidFill>
                <a:latin typeface="Segoe UI"/>
              </a:rPr>
              <a:t>Healthcare-forward, general enough for any knowledge-worker org.  Current July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220">
                <a:solidFill>
                  <a:srgbClr val="B11F4B"/>
                </a:solidFill>
                <a:latin typeface="Segoe UI Semibold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242424"/>
                </a:solidFill>
                <a:latin typeface="Segoe UI Semibold"/>
              </a:rPr>
              <a:t>Three things stall every Copilot rollout.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2606040"/>
            <a:ext cx="502920" cy="9144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62072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50" b="1" i="0">
                <a:solidFill>
                  <a:srgbClr val="242424"/>
                </a:solidFill>
                <a:latin typeface="Segoe UI Semibold"/>
              </a:rPr>
              <a:t>The licensing maze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C5C5C"/>
                </a:solidFill>
                <a:latin typeface="Segoe UI"/>
              </a:rPr>
              <a:t>Chat, Copilot, Premium, Cowork, agents, credits. People buy the wrong thing and lose money and trust.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2606040"/>
            <a:ext cx="502920" cy="9144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862072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50" b="1" i="0">
                <a:solidFill>
                  <a:srgbClr val="242424"/>
                </a:solidFill>
                <a:latin typeface="Segoe UI Semibold"/>
              </a:rPr>
              <a:t>Fear of exposing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61188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C5C5C"/>
                </a:solidFill>
                <a:latin typeface="Segoe UI"/>
              </a:rPr>
              <a:t>In a health system, one overshared site plus an eager assistant is a compliance conversation nobody wants.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39" y="2606040"/>
            <a:ext cx="502920" cy="9144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39" y="2862072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50" b="1" i="0">
                <a:solidFill>
                  <a:srgbClr val="242424"/>
                </a:solidFill>
                <a:latin typeface="Segoe UI Semibold"/>
              </a:rPr>
              <a:t>Tool overwhelm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39" y="361188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C5C5C"/>
                </a:solidFill>
                <a:latin typeface="Segoe UI"/>
              </a:rPr>
              <a:t>Drop six new capabilities on a team in a week and adoption dies. The worry is real, and avoidable.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242424"/>
                </a:solidFill>
                <a:latin typeface="Segoe UI"/>
              </a:rPr>
              <a:t>You already believe Copilot can help. This guide removes what stops you from acting on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220">
                <a:solidFill>
                  <a:srgbClr val="B11F4B"/>
                </a:solidFill>
                <a:latin typeface="Segoe UI Semibold"/>
              </a:rPr>
              <a:t>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242424"/>
                </a:solidFill>
                <a:latin typeface="Segoe UI Semibold"/>
              </a:rPr>
              <a:t>Two tiers, one usage layer. That is the whole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7" y="2532888"/>
            <a:ext cx="2660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80">
                <a:solidFill>
                  <a:srgbClr val="6F6F6F"/>
                </a:solidFill>
                <a:latin typeface="Segoe UI Semibold"/>
              </a:rPr>
              <a:t>TIER 1 - THE FRONT DOOR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898648"/>
            <a:ext cx="2660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42424"/>
                </a:solidFill>
                <a:latin typeface="Segoe UI Semibold"/>
              </a:rPr>
              <a:t>Microsoft 365 Copilot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3538728"/>
            <a:ext cx="2660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Included with your M365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931920"/>
            <a:ext cx="2660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</a:rPr>
              <a:t>Web-grounded AI with enterprise data protection. Safe to give broadly. Builds the habit at no added seat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B11F4B"/>
            </a:solidFill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532888"/>
            <a:ext cx="2660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80">
                <a:solidFill>
                  <a:srgbClr val="B11F4B"/>
                </a:solidFill>
                <a:latin typeface="Segoe UI Semibold"/>
              </a:rPr>
              <a:t>TIER 2 - THE PAID SEAT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898648"/>
            <a:ext cx="2660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42424"/>
                </a:solidFill>
                <a:latin typeface="Segoe UI Semibold"/>
              </a:rPr>
              <a:t>Microsoft 365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538728"/>
            <a:ext cx="2660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Add-on, ~$30/user/mo (confirm live)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931920"/>
            <a:ext cx="2660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</a:rPr>
              <a:t>Grounds on your own data, edits in the Office apps, adds Researcher and Analyst, and zero-rates most agent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7" y="2532888"/>
            <a:ext cx="2660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80">
                <a:solidFill>
                  <a:srgbClr val="6F6F6F"/>
                </a:solidFill>
                <a:latin typeface="Segoe UI Semibold"/>
              </a:rPr>
              <a:t>USAGE LAYER - ON A PAID SEAT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2898648"/>
            <a:ext cx="2660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42424"/>
                </a:solidFill>
                <a:latin typeface="Segoe UI Semibold"/>
              </a:rPr>
              <a:t>Cowork &amp;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3538728"/>
            <a:ext cx="2660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1F4B"/>
                </a:solidFill>
                <a:latin typeface="Segoe UI"/>
              </a:rPr>
              <a:t>Billed by usage in Copilot Credits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3931920"/>
            <a:ext cx="2660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</a:rPr>
              <a:t>Cowork runs multi-step work on its own. Agents run across both tiers. Off until an admin turns them 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6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15584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There is no “Copilot Premium” to buy. It is an in-app label for the paid seat. Use two names: Chat (free) and Microsoft 365 Copilot (paid).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220">
                <a:solidFill>
                  <a:srgbClr val="B11F4B"/>
                </a:solidFill>
                <a:latin typeface="Segoe UI Semibold"/>
              </a:rPr>
              <a:t>THE CENTERPIECE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242424"/>
                </a:solidFill>
                <a:latin typeface="Segoe UI Semibold"/>
              </a:rPr>
              <a:t>Who gets what, by role.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60">
                <a:solidFill>
                  <a:srgbClr val="FFFFFF"/>
                </a:solidFill>
                <a:latin typeface="Segoe UI Semibold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60">
                <a:solidFill>
                  <a:srgbClr val="FFFFFF"/>
                </a:solidFill>
                <a:latin typeface="Segoe UI Semibold"/>
              </a:rPr>
              <a:t>RECOMMENDED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83080"/>
            <a:ext cx="3502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60">
                <a:solidFill>
                  <a:srgbClr val="FFFFFF"/>
                </a:solidFill>
                <a:latin typeface="Segoe UI Semibold"/>
              </a:rPr>
              <a:t>COMES WITH THE SEAT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72" y="178308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60">
                <a:solidFill>
                  <a:srgbClr val="FFFFFF"/>
                </a:solidFill>
                <a:latin typeface="Segoe UI Semibold"/>
              </a:rPr>
              <a:t>PAYS EXTRA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10908792" cy="5669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24028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Director / Exec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4028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11F4B"/>
                </a:solidFill>
                <a:latin typeface="Segoe UI"/>
              </a:rPr>
              <a:t>Paid seat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3502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Meeting + email synthesis, Researcher, 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24028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Cowork usage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07208"/>
            <a:ext cx="10908792" cy="566928"/>
          </a:xfrm>
          <a:prstGeom prst="rect">
            <a:avLst/>
          </a:prstGeom>
          <a:solidFill>
            <a:srgbClr val="F1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807208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807208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11F4B"/>
                </a:solidFill>
                <a:latin typeface="Segoe UI"/>
              </a:rPr>
              <a:t>Paid seat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807208"/>
            <a:ext cx="3502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Recaps, team roll-ups, coordination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72" y="2807208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Cowork usage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74136"/>
            <a:ext cx="10908792" cy="5669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374136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374136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11F4B"/>
                </a:solidFill>
                <a:latin typeface="Segoe UI"/>
              </a:rPr>
              <a:t>Paid seat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374136"/>
            <a:ext cx="3502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Excel + Analyst, data-to-deck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3374136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Cowork, Studio, Azure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41064"/>
            <a:ext cx="10908792" cy="566928"/>
          </a:xfrm>
          <a:prstGeom prst="rect">
            <a:avLst/>
          </a:prstGeom>
          <a:solidFill>
            <a:srgbClr val="F1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941064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Knowledge 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941064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11F4B"/>
                </a:solidFill>
                <a:latin typeface="Segoe UI"/>
              </a:rPr>
              <a:t>Start free, graduate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941064"/>
            <a:ext cx="3502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Web chat, file upload, approved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3941064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Paid seat when engaged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507992"/>
            <a:ext cx="10908792" cy="5669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507992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Engineer / Dev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507992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11F4B"/>
                </a:solidFill>
                <a:latin typeface="Segoe UI"/>
              </a:rPr>
              <a:t>GitHub Copilot + seat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507992"/>
            <a:ext cx="3502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Code assist, collab, doc drafting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4507992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Studio license, Azure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074920"/>
            <a:ext cx="10908792" cy="566928"/>
          </a:xfrm>
          <a:prstGeom prst="rect">
            <a:avLst/>
          </a:prstGeom>
          <a:solidFill>
            <a:srgbClr val="F1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507492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Frontline (F-plan)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07492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11F4B"/>
                </a:solidFill>
                <a:latin typeface="Segoe UI"/>
              </a:rPr>
              <a:t>Free Chat if eligible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074920"/>
            <a:ext cx="3502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Web chat on eligible plans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0072" y="507492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Paid add-on on F1/F3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641848"/>
            <a:ext cx="10908792" cy="566928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641848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Security / Compliance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641848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11F4B"/>
                </a:solidFill>
                <a:latin typeface="Segoe UI"/>
              </a:rPr>
              <a:t>Security Copilot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641848"/>
            <a:ext cx="3502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SOC workflows, governance tooling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0072" y="5641848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Per product terms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220">
                <a:solidFill>
                  <a:srgbClr val="FD8EA1"/>
                </a:solidFill>
                <a:latin typeface="Segoe UI Semibold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Segoe UI Semibold"/>
              </a:rPr>
              <a:t>Governance is step zero, not step eight.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7F4EF"/>
                </a:solidFill>
                <a:latin typeface="Segoe UI"/>
              </a:rPr>
              <a:t>Decide who owns AI, what data is in bounds, and where the guardrails are before you buy a seat. Two halves: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394960" cy="3977639"/>
          </a:xfrm>
          <a:prstGeom prst="roundRect">
            <a:avLst>
              <a:gd name="adj" fmla="val 6000"/>
            </a:avLst>
          </a:prstGeom>
          <a:solidFill>
            <a:srgbClr val="343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20">
                <a:solidFill>
                  <a:srgbClr val="FD8EA1"/>
                </a:solidFill>
                <a:latin typeface="Segoe UI Semibold"/>
              </a:rPr>
              <a:t>THE PEOPLE 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980944"/>
            <a:ext cx="128016" cy="128016"/>
          </a:xfrm>
          <a:prstGeom prst="rect">
            <a:avLst/>
          </a:prstGeom>
          <a:solidFill>
            <a:srgbClr val="FD8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9260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AI governance committee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21868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7F4EF"/>
                </a:solidFill>
                <a:latin typeface="Segoe UI"/>
              </a:rPr>
              <a:t>One group owns the decisions: sponsor, IT, security, compliance, a business voice, HR.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803904"/>
            <a:ext cx="128016" cy="128016"/>
          </a:xfrm>
          <a:prstGeom prst="rect">
            <a:avLst/>
          </a:prstGeom>
          <a:solidFill>
            <a:srgbClr val="FD8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74904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AI in mission and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04164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7F4EF"/>
                </a:solidFill>
                <a:latin typeface="Segoe UI"/>
              </a:rPr>
              <a:t>Leadership frames it as how you work now, not a tool IT bought.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626864"/>
            <a:ext cx="128016" cy="128016"/>
          </a:xfrm>
          <a:prstGeom prst="rect">
            <a:avLst/>
          </a:prstGeom>
          <a:solidFill>
            <a:srgbClr val="FD8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57200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Culture from the 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86460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7F4EF"/>
                </a:solidFill>
                <a:latin typeface="Segoe UI"/>
              </a:rPr>
              <a:t>Change management is a leadership job, not a training deck.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5449824"/>
            <a:ext cx="128016" cy="128016"/>
          </a:xfrm>
          <a:prstGeom prst="rect">
            <a:avLst/>
          </a:prstGeom>
          <a:solidFill>
            <a:srgbClr val="FD8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539496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A champion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568756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7F4EF"/>
                </a:solidFill>
                <a:latin typeface="Segoe UI"/>
              </a:rPr>
              <a:t>The bottom-up engine that pairs with top-down sponsorship.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286000"/>
            <a:ext cx="5376672" cy="3977639"/>
          </a:xfrm>
          <a:prstGeom prst="roundRect">
            <a:avLst>
              <a:gd name="adj" fmla="val 6000"/>
            </a:avLst>
          </a:prstGeom>
          <a:solidFill>
            <a:srgbClr val="343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514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20">
                <a:solidFill>
                  <a:srgbClr val="FD8EA1"/>
                </a:solidFill>
                <a:latin typeface="Segoe UI Semibold"/>
              </a:rPr>
              <a:t>THE PLATFORM SIDE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980944"/>
            <a:ext cx="128016" cy="128016"/>
          </a:xfrm>
          <a:prstGeom prst="rect">
            <a:avLst/>
          </a:prstGeom>
          <a:solidFill>
            <a:srgbClr val="FD8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8" y="29260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SharePoint Advanced Mgmt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321868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7F4EF"/>
                </a:solidFill>
                <a:latin typeface="Segoe UI"/>
              </a:rPr>
              <a:t>Comes with your paid seat. RCD + Data Access Governance to fix oversharing.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803904"/>
            <a:ext cx="128016" cy="128016"/>
          </a:xfrm>
          <a:prstGeom prst="rect">
            <a:avLst/>
          </a:prstGeom>
          <a:solidFill>
            <a:srgbClr val="FD8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374904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Microsoft Purview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404164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7F4EF"/>
                </a:solidFill>
                <a:latin typeface="Segoe UI"/>
              </a:rPr>
              <a:t>Sensitivity labels, DSPM for AI, audit. Depends on your Purview / E5 licensing.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626864"/>
            <a:ext cx="128016" cy="128016"/>
          </a:xfrm>
          <a:prstGeom prst="rect">
            <a:avLst/>
          </a:prstGeom>
          <a:solidFill>
            <a:srgbClr val="FD8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9128" y="457200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Agent Registry + Agent 365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486460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7F4EF"/>
                </a:solidFill>
                <a:latin typeface="Segoe UI"/>
              </a:rPr>
              <a:t>One inventory to observe, approve, block, and secure agents.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449824"/>
            <a:ext cx="128016" cy="128016"/>
          </a:xfrm>
          <a:prstGeom prst="rect">
            <a:avLst/>
          </a:prstGeom>
          <a:solidFill>
            <a:srgbClr val="FD8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9128" y="539496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Least privilege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568756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7F4EF"/>
                </a:solidFill>
                <a:latin typeface="Segoe UI"/>
              </a:rPr>
              <a:t>Run agent governance with the AI Administrator role, not Global Admin.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220">
                <a:solidFill>
                  <a:srgbClr val="B11F4B"/>
                </a:solidFill>
                <a:latin typeface="Segoe UI Semibold"/>
              </a:rPr>
              <a:t>THE MONEY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242424"/>
                </a:solidFill>
                <a:latin typeface="Segoe UI Semibold"/>
              </a:rPr>
              <a:t>The one fact that drives your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623560" cy="1828800"/>
          </a:xfrm>
          <a:prstGeom prst="roundRect">
            <a:avLst>
              <a:gd name="adj" fmla="val 6000"/>
            </a:avLst>
          </a:prstGeom>
          <a:solidFill>
            <a:srgbClr val="B11F4B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Paid seats zero-rate most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employee-facing agent use.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7F4EF"/>
                </a:solidFill>
                <a:latin typeface="Segoe UI"/>
              </a:rPr>
              <a:t>Free-Chat users pay per interaction.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562356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136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50">
                <a:solidFill>
                  <a:srgbClr val="6F6F6F"/>
                </a:solidFill>
                <a:latin typeface="Segoe UI Semibold"/>
              </a:rPr>
              <a:t>WHAT AN ACTION COSTS (PAY-AS-YOU-GO, ~$0.01/CREDIT)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Classic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3159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1 credit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7258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Generative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672583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2 credits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02919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Agent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02919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5 credits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85815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Grounding on your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385815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10 credits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742431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Grounded generative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742431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2424"/>
                </a:solidFill>
                <a:latin typeface="Segoe UI"/>
              </a:rPr>
              <a:t>12 credits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737360"/>
            <a:ext cx="5056632" cy="4480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00">
                <a:solidFill>
                  <a:srgbClr val="B11F4B"/>
                </a:solidFill>
                <a:latin typeface="Segoe UI Semibold"/>
              </a:rPr>
              <a:t>YOUR COST CONTROLS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560320"/>
            <a:ext cx="118872" cy="118872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5146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2424"/>
                </a:solidFill>
                <a:latin typeface="Segoe UI Semibold"/>
              </a:rPr>
              <a:t>Copilot Credits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80720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Segoe UI"/>
              </a:rPr>
              <a:t>Renamed from “messages” in 2025, same rate. PAYG bills through Azure.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474720"/>
            <a:ext cx="118872" cy="118872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34290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2424"/>
                </a:solidFill>
                <a:latin typeface="Segoe UI Semibold"/>
              </a:rPr>
              <a:t>Prepaid = a hard ceiling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72160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Segoe UI"/>
              </a:rPr>
              <a:t>Agent flows stop at 100% of capacity; custom agents disable at 125%.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389120"/>
            <a:ext cx="118872" cy="118872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43434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2424"/>
                </a:solidFill>
                <a:latin typeface="Segoe UI Semibold"/>
              </a:rPr>
              <a:t>Pay-as-you-go =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63600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Segoe UI"/>
              </a:rPr>
              <a:t>Keeps billing past your alerts, so set per-agent caps on purpose.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5303520"/>
            <a:ext cx="118872" cy="118872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52578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2424"/>
                </a:solidFill>
                <a:latin typeface="Segoe UI Semibold"/>
              </a:rPr>
              <a:t>Cowork spend limits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55040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Segoe UI"/>
              </a:rPr>
              <a:t>Tenant, group, and per-user caps with usage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220">
                <a:solidFill>
                  <a:srgbClr val="B11F4B"/>
                </a:solidFill>
                <a:latin typeface="Segoe UI Semibold"/>
              </a:rPr>
              <a:t>THE PART PEOPLE FEAR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242424"/>
                </a:solidFill>
                <a:latin typeface="Segoe UI Semibold"/>
              </a:rPr>
              <a:t>Agents: build, use, govern.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611880" cy="5029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80">
                <a:solidFill>
                  <a:srgbClr val="FFFFFF"/>
                </a:solidFill>
                <a:latin typeface="Segoe UI Semibold"/>
              </a:rPr>
              <a:t>WHO CAN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487168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F4B"/>
                </a:solidFill>
                <a:latin typeface="Segoe UI Semibold"/>
              </a:rPr>
              <a:t>Agent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79806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5C5C"/>
                </a:solidFill>
                <a:latin typeface="Segoe UI"/>
              </a:rPr>
              <a:t>Business users, on a paid seat. Simple declarative agents.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749039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F4B"/>
                </a:solidFill>
                <a:latin typeface="Segoe UI Semibold"/>
              </a:rPr>
              <a:t>Copilot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059935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5C5C"/>
                </a:solidFill>
                <a:latin typeface="Segoe UI"/>
              </a:rPr>
              <a:t>IT and power makers. Full agents, governed environments.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5010912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F4B"/>
                </a:solidFill>
                <a:latin typeface="Segoe UI Semibold"/>
              </a:rPr>
              <a:t>Azure AI Foundry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5321807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5C5C"/>
                </a:solidFill>
                <a:latin typeface="Segoe UI"/>
              </a:rPr>
              <a:t>Developers. Code-first, Azure RBAC and billing.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78308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783080"/>
            <a:ext cx="3611880" cy="5029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178308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80">
                <a:solidFill>
                  <a:srgbClr val="FFFFFF"/>
                </a:solidFill>
                <a:latin typeface="Segoe UI Semibold"/>
              </a:rPr>
              <a:t>WHO CAN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2487168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F4B"/>
                </a:solidFill>
                <a:latin typeface="Segoe UI Semibold"/>
              </a:rPr>
              <a:t>Paid seat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79806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5C5C"/>
                </a:solidFill>
                <a:latin typeface="Segoe UI"/>
              </a:rPr>
              <a:t>Full Agent Store, Researcher and Analyst, most use free.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749039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F4B"/>
                </a:solidFill>
                <a:latin typeface="Segoe UI Semibold"/>
              </a:rPr>
              <a:t>Free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4059935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5C5C"/>
                </a:solidFill>
                <a:latin typeface="Segoe UI"/>
              </a:rPr>
              <a:t>Approved pay-as-you-go agents, metered per 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5010912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F4B"/>
                </a:solidFill>
                <a:latin typeface="Segoe UI Semibold"/>
              </a:rPr>
              <a:t>Shared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5321807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5C5C"/>
                </a:solidFill>
                <a:latin typeface="Segoe UI"/>
              </a:rPr>
              <a:t>Consumers need no Studio license. Usage bills the tenant.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178308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1783080"/>
            <a:ext cx="3611880" cy="5029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178308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80">
                <a:solidFill>
                  <a:srgbClr val="FFFFFF"/>
                </a:solidFill>
                <a:latin typeface="Segoe UI Semibold"/>
              </a:rPr>
              <a:t>WHO GOVERNS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2487168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F4B"/>
                </a:solidFill>
                <a:latin typeface="Segoe UI Semibold"/>
              </a:rPr>
              <a:t>Agent Registry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79806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5C5C"/>
                </a:solidFill>
                <a:latin typeface="Segoe UI"/>
              </a:rPr>
              <a:t>One inventory. Block, allow, approve. AI Administrator role.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3749039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F4B"/>
                </a:solidFill>
                <a:latin typeface="Segoe UI Semibold"/>
              </a:rPr>
              <a:t>Power Platform DLP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059935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5C5C"/>
                </a:solidFill>
                <a:latin typeface="Segoe UI"/>
              </a:rPr>
              <a:t>Force sign-in, block risky connectors, route makers.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5010912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11F4B"/>
                </a:solidFill>
                <a:latin typeface="Segoe UI Semibold"/>
              </a:rPr>
              <a:t>Agent 365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5321807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5C5C"/>
                </a:solidFill>
                <a:latin typeface="Segoe UI"/>
              </a:rPr>
              <a:t>The control plane as agents scale: observe, govern, secure.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220">
                <a:solidFill>
                  <a:srgbClr val="B11F4B"/>
                </a:solidFill>
                <a:latin typeface="Segoe UI Semibold"/>
              </a:rPr>
              <a:t>THE NON-NEGOTIABLE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242424"/>
                </a:solidFill>
                <a:latin typeface="Segoe UI Semibold"/>
              </a:rPr>
              <a:t>Healthcare and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623560" cy="1965960"/>
          </a:xfrm>
          <a:prstGeom prst="roundRect">
            <a:avLst>
              <a:gd name="adj" fmla="val 6000"/>
            </a:avLst>
          </a:prstGeom>
          <a:solidFill>
            <a:srgbClr val="E5F2E9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spc="80">
                <a:solidFill>
                  <a:srgbClr val="15803D"/>
                </a:solidFill>
                <a:latin typeface="Segoe UI Semibold"/>
              </a:rPr>
              <a:t>COVERED UNDER YOUR BAA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42424"/>
                </a:solidFill>
                <a:latin typeface="Segoe UI"/>
              </a:rPr>
              <a:t>Microsoft 365 Copilot and Copilot Chat are HIPAA in-scope, with the BAA auto-included.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42424"/>
                </a:solidFill>
                <a:latin typeface="Segoe UI"/>
              </a:rPr>
              <a:t>Web-search queries are the exception: keep PHI out of web-grounded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5623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416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spc="80">
                <a:solidFill>
                  <a:srgbClr val="B11F4B"/>
                </a:solidFill>
                <a:latin typeface="Segoe UI Semibold"/>
              </a:rPr>
              <a:t>THE PRODUCT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34840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2424"/>
                </a:solidFill>
                <a:latin typeface="Segoe UI"/>
              </a:rPr>
              <a:t>Microsoft 365 Copilot</a:t>
            </a:r>
            <a:r>
              <a:rPr sz="1300" b="0" i="0">
                <a:solidFill>
                  <a:srgbClr val="5C5C5C"/>
                </a:solidFill>
                <a:latin typeface="Segoe UI"/>
              </a:rPr>
              <a:t> is for knowledge and admin workers.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2424"/>
                </a:solidFill>
                <a:latin typeface="Segoe UI"/>
              </a:rPr>
              <a:t>Dragon Copilot</a:t>
            </a:r>
            <a:r>
              <a:rPr sz="1300" b="0" i="0">
                <a:solidFill>
                  <a:srgbClr val="5C5C5C"/>
                </a:solidFill>
                <a:latin typeface="Segoe UI"/>
              </a:rPr>
              <a:t> is the separate product for clinicians doing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</a:rPr>
              <a:t>ambient documentation. Different license. Neither is a medical device.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737360"/>
            <a:ext cx="5056632" cy="448056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spc="80">
                <a:solidFill>
                  <a:srgbClr val="B96A12"/>
                </a:solidFill>
                <a:latin typeface="Segoe UI Semibold"/>
              </a:rPr>
              <a:t>THREE DATED ITEMS TO HANDLE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450592"/>
            <a:ext cx="1051560" cy="384048"/>
          </a:xfrm>
          <a:prstGeom prst="roundRect">
            <a:avLst>
              <a:gd name="adj" fmla="val 6000"/>
            </a:avLst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450592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July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404872"/>
            <a:ext cx="3383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OpenAI-operated models become enabled by default. They lack HITRUST, SOC 1, and FedRAMP High. Disable them if you need those.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730752"/>
            <a:ext cx="1051560" cy="384048"/>
          </a:xfrm>
          <a:prstGeom prst="roundRect">
            <a:avLst>
              <a:gd name="adj" fmla="val 6000"/>
            </a:avLst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730752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July 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685032"/>
            <a:ext cx="3383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New Restricted SharePoint Search enablement is blocked. Move oversharing control to Restricted Content Discovery.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5010912"/>
            <a:ext cx="1051560" cy="384048"/>
          </a:xfrm>
          <a:prstGeom prst="roundRect">
            <a:avLst>
              <a:gd name="adj" fmla="val 6000"/>
            </a:avLst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5010912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Ongoing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965192"/>
            <a:ext cx="3383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Anthropic (powers Cowork and Researcher) sits outside the EU Data Boundary. Confirm BAA coverage before PHI-adjacent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220">
                <a:solidFill>
                  <a:srgbClr val="B11F4B"/>
                </a:solidFill>
                <a:latin typeface="Segoe UI Semibold"/>
              </a:rPr>
              <a:t>MAKE IT STICK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242424"/>
                </a:solidFill>
                <a:latin typeface="Segoe UI Semibold"/>
              </a:rPr>
              <a:t>Roll it out without overwhelming the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5C5C5C"/>
                </a:solidFill>
                <a:latin typeface="Segoe UI"/>
              </a:rPr>
              <a:t>Adoption is a habit you build in waves. Governance stands before Phase 1, not inside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6118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19" y="2377440"/>
            <a:ext cx="502920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260604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60">
                <a:solidFill>
                  <a:srgbClr val="B11F4B"/>
                </a:solidFill>
                <a:latin typeface="Segoe UI Semibold"/>
              </a:rPr>
              <a:t>PHASE 1 - 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94436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42424"/>
                </a:solidFill>
                <a:latin typeface="Segoe UI Semibold"/>
              </a:rPr>
              <a:t>Weeks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456432"/>
            <a:ext cx="2971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Free Chat to a broad group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Paid seats to a small high-ROI cohort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Name 3-5 champions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Teach one or two daily habits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103120"/>
            <a:ext cx="36118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72584" y="2377440"/>
            <a:ext cx="502920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260604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60">
                <a:solidFill>
                  <a:srgbClr val="B11F4B"/>
                </a:solidFill>
                <a:latin typeface="Segoe UI Semibold"/>
              </a:rPr>
              <a:t>PHASE 2 - EXPAND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94436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42424"/>
                </a:solidFill>
                <a:latin typeface="Segoe UI Semibold"/>
              </a:rPr>
              <a:t>Weeks 5-10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456432"/>
            <a:ext cx="2971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Graduate engaged Chat users to seats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Ship one governed 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Share modeled assisted-hours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Turn on Cowork for a few, with a cap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103120"/>
            <a:ext cx="36118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000" dir="5400000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85048" y="2377440"/>
            <a:ext cx="502920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60604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60">
                <a:solidFill>
                  <a:srgbClr val="B11F4B"/>
                </a:solidFill>
                <a:latin typeface="Segoe UI Semibold"/>
              </a:rPr>
              <a:t>PHASE 3 -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94436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42424"/>
                </a:solidFill>
                <a:latin typeface="Segoe UI Semibold"/>
              </a:rPr>
              <a:t>Weeks 11+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56432"/>
            <a:ext cx="2971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Expand department by department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Open building to governed makers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Roll Cowork to roles that earn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C5C5C"/>
                </a:solidFill>
                <a:latin typeface="Segoe UI"/>
              </a:rPr>
              <a:t>•  Review usage and spend monthly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84048" cy="82296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220">
                <a:solidFill>
                  <a:srgbClr val="FD8EA1"/>
                </a:solidFill>
                <a:latin typeface="Segoe UI Semibold"/>
              </a:rPr>
              <a:t>DO THIS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Segoe UI Semibold"/>
              </a:rPr>
              <a:t>Where to start this quarter.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647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 Semibold"/>
              </a:rPr>
              <a:t>Stand up your AI governance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12264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F"/>
                </a:solidFill>
                <a:latin typeface="Segoe UI"/>
              </a:rPr>
              <a:t>Name the executive sponsor. This is step zero, before any spend.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9191"/>
            <a:ext cx="566928" cy="566928"/>
          </a:xfrm>
          <a:prstGeom prst="roundRect">
            <a:avLst>
              <a:gd name="adj" fmla="val 6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7919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60903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 Semibold"/>
              </a:rPr>
              <a:t>Turn on free Chat for everyone eligible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08375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F"/>
                </a:solidFill>
                <a:latin typeface="Segoe UI"/>
              </a:rPr>
              <a:t>It is already included. Handle the web-search path for PHI-heavy groups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75303"/>
            <a:ext cx="566928" cy="566928"/>
          </a:xfrm>
          <a:prstGeom prst="roundRect">
            <a:avLst>
              <a:gd name="adj" fmla="val 6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7530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57015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 Semibold"/>
              </a:rPr>
              <a:t>Buy a focused block of paid seats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904487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F"/>
                </a:solidFill>
                <a:latin typeface="Segoe UI"/>
              </a:rPr>
              <a:t>Dozens, not thousands. Leaders, managers, analysts.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71416"/>
            <a:ext cx="566928" cy="566928"/>
          </a:xfrm>
          <a:prstGeom prst="roundRect">
            <a:avLst>
              <a:gd name="adj" fmla="val 6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7141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45312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 Semibold"/>
              </a:rPr>
              <a:t>Do the oversharing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0060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F"/>
                </a:solidFill>
                <a:latin typeface="Segoe UI"/>
              </a:rPr>
              <a:t>SharePoint Advanced Management, and stand up the Agent Registry before you scale agents.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367527"/>
            <a:ext cx="566928" cy="566928"/>
          </a:xfrm>
          <a:prstGeom prst="roundRect">
            <a:avLst>
              <a:gd name="adj" fmla="val 6000"/>
            </a:avLst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67527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34924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 Semibold"/>
              </a:rPr>
              <a:t>Handle the three dated compliance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6967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7F4EF"/>
                </a:solidFill>
                <a:latin typeface="Segoe UI"/>
              </a:rPr>
              <a:t>The July 24 one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1554480" cy="91440"/>
          </a:xfrm>
          <a:prstGeom prst="rect">
            <a:avLst/>
          </a:prstGeom>
          <a:solidFill>
            <a:srgbClr val="B1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Free Copilot for everyone. Paid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seats where the work is heavy.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Agents with a governed on-switch.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F7F4EF"/>
                </a:solidFill>
                <a:latin typeface="Segoe UI"/>
              </a:rPr>
              <a:t>We expand on what the data shows, not what people ask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F6F6F"/>
                </a:solidFill>
                <a:latin typeface="Segoe UI"/>
              </a:rPr>
              <a:t>The full interactive guide:  </a:t>
            </a:r>
            <a:r>
              <a:rPr sz="1250" b="1" i="0">
                <a:solidFill>
                  <a:srgbClr val="FD8EA1"/>
                </a:solidFill>
                <a:latin typeface="Segoe UI"/>
              </a:rPr>
              <a:t>heyitsgoad.github.io/copilot-playground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