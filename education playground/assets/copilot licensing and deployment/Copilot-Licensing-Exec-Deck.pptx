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 spc="300">
                <a:solidFill>
                  <a:srgbClr val="FD8EA1"/>
                </a:solidFill>
                <a:latin typeface="Segoe UI Semibold"/>
              </a:rPr>
              <a:t>MICROSOFT 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1828800"/>
            <a:ext cx="10607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Segoe UI Semibold"/>
              </a:rPr>
              <a:t>Copilot, without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Segoe UI Semibold"/>
              </a:rPr>
              <a:t>the guesswork.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F7F4EF"/>
                </a:solidFill>
                <a:latin typeface="Segoe UI"/>
              </a:rPr>
              <a:t>A leadership guide to licensing, cost, and rolling out AI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F7F4EF"/>
                </a:solidFill>
                <a:latin typeface="Segoe UI"/>
              </a:rPr>
              <a:t>without overwhelming your team.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F6F6F"/>
                </a:solidFill>
                <a:latin typeface="Segoe UI"/>
              </a:rPr>
              <a:t>Healthcare-forward, general enough for any knowledge-worker org.  Current July 2026.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Three things stall every Copilot rollout.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342900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1560" y="2606040"/>
            <a:ext cx="502920" cy="91440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862072"/>
            <a:ext cx="2606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50" b="1" i="0">
                <a:solidFill>
                  <a:srgbClr val="242424"/>
                </a:solidFill>
                <a:latin typeface="Segoe UI Semibold"/>
              </a:rPr>
              <a:t>The licensing maze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611880"/>
            <a:ext cx="2606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C5C5C"/>
                </a:solidFill>
                <a:latin typeface="Segoe UI"/>
              </a:rPr>
              <a:t>Chat, Copilot, Premium, Cowork, agents, credits. People buy the wrong thing and lose money and trust.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148840"/>
            <a:ext cx="342900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00600" y="2606040"/>
            <a:ext cx="502920" cy="91440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2862072"/>
            <a:ext cx="2606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50" b="1" i="0">
                <a:solidFill>
                  <a:srgbClr val="242424"/>
                </a:solidFill>
                <a:latin typeface="Segoe UI Semibold"/>
              </a:rPr>
              <a:t>Fear of exposing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3611880"/>
            <a:ext cx="2606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C5C5C"/>
                </a:solidFill>
                <a:latin typeface="Segoe UI"/>
              </a:rPr>
              <a:t>In a health system, one overshared site plus an eager assistant is a compliance conversation nobody wants.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59" y="2148840"/>
            <a:ext cx="342900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49639" y="2606040"/>
            <a:ext cx="502920" cy="91440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39" y="2862072"/>
            <a:ext cx="2606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50" b="1" i="0">
                <a:solidFill>
                  <a:srgbClr val="242424"/>
                </a:solidFill>
                <a:latin typeface="Segoe UI Semibold"/>
              </a:rPr>
              <a:t>Tool overwhelm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39" y="3611880"/>
            <a:ext cx="2606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C5C5C"/>
                </a:solidFill>
                <a:latin typeface="Segoe UI"/>
              </a:rPr>
              <a:t>Drop six new capabilities on a team in a week and adoption dies. The worry is real, and avoidable.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1">
                <a:solidFill>
                  <a:srgbClr val="242424"/>
                </a:solidFill>
                <a:latin typeface="Segoe UI"/>
              </a:rPr>
              <a:t>You already believe Copilot can help. This guide removes what stops you from acting on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Two tiers, one usage layer. That is the whole model.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342900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7" y="2532888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 spc="80">
                <a:solidFill>
                  <a:srgbClr val="6F6F6F"/>
                </a:solidFill>
                <a:latin typeface="Segoe UI Semibold"/>
              </a:rPr>
              <a:t>TIER 1 - THE FRONT DOOR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898648"/>
            <a:ext cx="26609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42424"/>
                </a:solidFill>
                <a:latin typeface="Segoe UI Semibold"/>
              </a:rPr>
              <a:t>Microsoft 365 Copilot Chat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538728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11F4B"/>
                </a:solidFill>
                <a:latin typeface="Segoe UI"/>
              </a:rPr>
              <a:t>Included with your M365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931920"/>
            <a:ext cx="26609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</a:rPr>
              <a:t>Web-grounded AI with enterprise data protection. Safe to give broadly. Builds the habit at no added seat cost.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148840"/>
            <a:ext cx="342900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B11F4B"/>
            </a:solidFill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73168" y="2532888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 spc="80">
                <a:solidFill>
                  <a:srgbClr val="B11F4B"/>
                </a:solidFill>
                <a:latin typeface="Segoe UI Semibold"/>
              </a:rPr>
              <a:t>TIER 2 - THE PAID SEAT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73168" y="2898648"/>
            <a:ext cx="26609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42424"/>
                </a:solidFill>
                <a:latin typeface="Segoe UI Semibold"/>
              </a:rPr>
              <a:t>Microsoft 365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538728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11F4B"/>
                </a:solidFill>
                <a:latin typeface="Segoe UI"/>
              </a:rPr>
              <a:t>Add-on, ~$30/user/mo (confirm live)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3931920"/>
            <a:ext cx="26609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</a:rPr>
              <a:t>Grounds on your own data, edits in the Office apps, adds Researcher and Analyst, and zero-rates most agent use.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59" y="2148840"/>
            <a:ext cx="342900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22207" y="2532888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 spc="80">
                <a:solidFill>
                  <a:srgbClr val="6F6F6F"/>
                </a:solidFill>
                <a:latin typeface="Segoe UI Semibold"/>
              </a:rPr>
              <a:t>USAGE LAYER - ON A PAID SEAT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22207" y="2898648"/>
            <a:ext cx="26609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42424"/>
                </a:solidFill>
                <a:latin typeface="Segoe UI Semibold"/>
              </a:rPr>
              <a:t>Cowork &amp; agents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22207" y="3538728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11F4B"/>
                </a:solidFill>
                <a:latin typeface="Segoe UI"/>
              </a:rPr>
              <a:t>Billed by usage in Copilot Credits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7" y="3931920"/>
            <a:ext cx="26609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</a:rPr>
              <a:t>Cowork runs multi-step work on its own. Agents run across both tiers. Off until an admin turns them 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806440"/>
            <a:ext cx="10908792" cy="566928"/>
          </a:xfrm>
          <a:prstGeom prst="roundRect">
            <a:avLst>
              <a:gd name="adj" fmla="val 60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815584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There is no “Copilot Premium” to buy. It is an in-app label for the paid seat. Use two names: Chat (free) and Microsoft 365 Copilot (paid).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CENTERPIECE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Who gets what, by role.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78308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60">
                <a:solidFill>
                  <a:srgbClr val="FFFFFF"/>
                </a:solidFill>
                <a:latin typeface="Segoe UI Semibold"/>
              </a:rPr>
              <a:t>ROLE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78308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60">
                <a:solidFill>
                  <a:srgbClr val="FFFFFF"/>
                </a:solidFill>
                <a:latin typeface="Segoe UI Semibold"/>
              </a:rPr>
              <a:t>RECOMMENDED 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783080"/>
            <a:ext cx="35021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60">
                <a:solidFill>
                  <a:srgbClr val="FFFFFF"/>
                </a:solidFill>
                <a:latin typeface="Segoe UI Semibold"/>
              </a:rPr>
              <a:t>COMES WITH THE SEAT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0072" y="178308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60">
                <a:solidFill>
                  <a:srgbClr val="FFFFFF"/>
                </a:solidFill>
                <a:latin typeface="Segoe UI Semibold"/>
              </a:rPr>
              <a:t>PAYS EXTRA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10908792" cy="566928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24028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Director / Exec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240280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Paid seat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240280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Meeting + email synthesis, Researcher, Analyst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20072" y="2240280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Cowork usage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807208"/>
            <a:ext cx="10908792" cy="566928"/>
          </a:xfrm>
          <a:prstGeom prst="rect">
            <a:avLst/>
          </a:prstGeom>
          <a:solidFill>
            <a:srgbClr val="F1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2807208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Manager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807208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Paid seat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807208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Recaps, team roll-ups, coordination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0072" y="2807208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Cowork usage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374136"/>
            <a:ext cx="10908792" cy="566928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3374136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Analyst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374136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Paid seat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3374136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Excel + Analyst, data-to-deck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0072" y="3374136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Cowork, Studio, Azure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941064"/>
            <a:ext cx="10908792" cy="566928"/>
          </a:xfrm>
          <a:prstGeom prst="rect">
            <a:avLst/>
          </a:prstGeom>
          <a:solidFill>
            <a:srgbClr val="F1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59" y="3941064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Knowledge worker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3941064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Start free, graduate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3941064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Web chat, file upload, approved agents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3941064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Paid seat when engaged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507992"/>
            <a:ext cx="10908792" cy="566928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59" y="4507992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Engineer / Dev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4507992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GitHub Copilot + seat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507992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Code assist, collab, doc drafting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20072" y="4507992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Studio license, Azure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5074920"/>
            <a:ext cx="10908792" cy="566928"/>
          </a:xfrm>
          <a:prstGeom prst="rect">
            <a:avLst/>
          </a:prstGeom>
          <a:solidFill>
            <a:srgbClr val="F1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59" y="507492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Frontline (F-plan)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5074920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Free Chat if eligible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5074920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Web chat on eligible plans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20072" y="5074920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Paid add-on on F1/F3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5641848"/>
            <a:ext cx="10908792" cy="566928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59" y="5641848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Security / Compliance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5641848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Security Copilot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5641848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SOC workflows, governance tooling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20072" y="5641848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Per product terms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FD8EA1"/>
                </a:solidFill>
                <a:latin typeface="Segoe UI Semibold"/>
              </a:rPr>
              <a:t>START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FFFFFF"/>
                </a:solidFill>
                <a:latin typeface="Segoe UI Semibold"/>
              </a:rPr>
              <a:t>Governance is step zero, not step eight.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7F4EF"/>
                </a:solidFill>
                <a:latin typeface="Segoe UI"/>
              </a:rPr>
              <a:t>Decide who owns AI, what data is in bounds, and where the guardrails are before you buy a seat. Start with the people side.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84831"/>
            <a:ext cx="5349240" cy="1572768"/>
          </a:xfrm>
          <a:prstGeom prst="roundRect">
            <a:avLst>
              <a:gd name="adj" fmla="val 6000"/>
            </a:avLst>
          </a:prstGeom>
          <a:solidFill>
            <a:srgbClr val="34312E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0119" y="2377439"/>
            <a:ext cx="457200" cy="82296"/>
          </a:xfrm>
          <a:prstGeom prst="rect">
            <a:avLst/>
          </a:prstGeom>
          <a:solidFill>
            <a:srgbClr val="FD8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2542032"/>
            <a:ext cx="47091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Stand up an AI governance committee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2926079"/>
            <a:ext cx="47091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7F4EF"/>
                </a:solidFill>
                <a:latin typeface="Segoe UI"/>
              </a:rPr>
              <a:t>One group owns the AI decisions: exec sponsor, IT, security, compliance, a business voice, HR. It owns acceptable use, data boundaries, and agent approval.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2084831"/>
            <a:ext cx="5349240" cy="1572768"/>
          </a:xfrm>
          <a:prstGeom prst="roundRect">
            <a:avLst>
              <a:gd name="adj" fmla="val 6000"/>
            </a:avLst>
          </a:prstGeom>
          <a:solidFill>
            <a:srgbClr val="34312E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9672" y="2377439"/>
            <a:ext cx="457200" cy="82296"/>
          </a:xfrm>
          <a:prstGeom prst="rect">
            <a:avLst/>
          </a:prstGeom>
          <a:solidFill>
            <a:srgbClr val="FD8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2542032"/>
            <a:ext cx="47091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Put AI in your mission and strategy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926079"/>
            <a:ext cx="47091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7F4EF"/>
                </a:solidFill>
                <a:latin typeface="Segoe UI"/>
              </a:rPr>
              <a:t>Leadership frames Copilot as how you work now, not a tool IT bought. Tie it to outcomes leaders already care about: time back, lower cost, better care.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67911"/>
            <a:ext cx="5349240" cy="1572768"/>
          </a:xfrm>
          <a:prstGeom prst="roundRect">
            <a:avLst>
              <a:gd name="adj" fmla="val 6000"/>
            </a:avLst>
          </a:prstGeom>
          <a:solidFill>
            <a:srgbClr val="34312E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0119" y="4160520"/>
            <a:ext cx="457200" cy="82296"/>
          </a:xfrm>
          <a:prstGeom prst="rect">
            <a:avLst/>
          </a:prstGeom>
          <a:solidFill>
            <a:srgbClr val="FD8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19" y="4325112"/>
            <a:ext cx="47091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Drive culture from the top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19" y="4709159"/>
            <a:ext cx="47091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7F4EF"/>
                </a:solidFill>
                <a:latin typeface="Segoe UI"/>
              </a:rPr>
              <a:t>Change management is a leadership job, not a training deck. Executives model the behavior and give people time to build the habit.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3867911"/>
            <a:ext cx="5349240" cy="1572768"/>
          </a:xfrm>
          <a:prstGeom prst="roundRect">
            <a:avLst>
              <a:gd name="adj" fmla="val 6000"/>
            </a:avLst>
          </a:prstGeom>
          <a:solidFill>
            <a:srgbClr val="34312E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9672" y="4160520"/>
            <a:ext cx="457200" cy="82296"/>
          </a:xfrm>
          <a:prstGeom prst="rect">
            <a:avLst/>
          </a:prstGeom>
          <a:solidFill>
            <a:srgbClr val="FD8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9672" y="4325112"/>
            <a:ext cx="47091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Build a champion network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4709159"/>
            <a:ext cx="47091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7F4EF"/>
                </a:solidFill>
                <a:latin typeface="Segoe UI"/>
              </a:rPr>
              <a:t>A few enthusiastic peers per department move adoption further than any mandate. The Copilot Success Kit and Academy arm them.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669279"/>
            <a:ext cx="10908792" cy="603504"/>
          </a:xfrm>
          <a:prstGeom prst="roundRect">
            <a:avLst>
              <a:gd name="adj" fmla="val 60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669279"/>
            <a:ext cx="104241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Then the platform side:  </a:t>
            </a:r>
            <a:r>
              <a:rPr sz="1150" b="0" i="0">
                <a:solidFill>
                  <a:srgbClr val="FD8EA1"/>
                </a:solidFill>
                <a:latin typeface="Segoe UI"/>
              </a:rPr>
              <a:t>SharePoint Advanced Management (included) + RCD  ·  Purview  ·  Agent Registry / Agent 365  ·  AI Administrator, least privilege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MONEY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The one fact that drives your budget.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623560" cy="1828800"/>
          </a:xfrm>
          <a:prstGeom prst="roundRect">
            <a:avLst>
              <a:gd name="adj" fmla="val 6000"/>
            </a:avLst>
          </a:prstGeom>
          <a:solidFill>
            <a:srgbClr val="B11F4B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5029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Paid seats zero-rate most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employee-facing agent use.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F7F4EF"/>
                </a:solidFill>
                <a:latin typeface="Segoe UI"/>
              </a:rPr>
              <a:t>Free-Chat users pay per interaction.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03320"/>
            <a:ext cx="562356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91363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 spc="50">
                <a:solidFill>
                  <a:srgbClr val="6F6F6F"/>
                </a:solidFill>
                <a:latin typeface="Segoe UI Semibold"/>
              </a:rPr>
              <a:t>WHAT AN ACTION COSTS (PAY-AS-YOU-GO, ~$0.01/CREDIT)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3159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Classic 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315968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1 credit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672583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Generative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4672583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2 credits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02919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Agent 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5029199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5 credits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385815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Grounding on your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5385815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10 credits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742431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Grounded generative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5742431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12 credits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1737360"/>
            <a:ext cx="5056632" cy="4480560"/>
          </a:xfrm>
          <a:prstGeom prst="roundRect">
            <a:avLst>
              <a:gd name="adj" fmla="val 6000"/>
            </a:avLst>
          </a:prstGeom>
          <a:solidFill>
            <a:srgbClr val="FCFBF8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0" y="201168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100">
                <a:solidFill>
                  <a:srgbClr val="B11F4B"/>
                </a:solidFill>
                <a:latin typeface="Segoe UI Semibold"/>
              </a:rPr>
              <a:t>YOUR COST CONTROLS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0" y="2560320"/>
            <a:ext cx="118872" cy="118872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86600" y="2514600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 Semibold"/>
              </a:rPr>
              <a:t>Copilot Credits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2807208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Renamed from “messages” in 2025, same rate. PAYG bills through Azure.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3474720"/>
            <a:ext cx="118872" cy="118872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86600" y="3429000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 Semibold"/>
              </a:rPr>
              <a:t>Prepaid = a hard ceiling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721608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Agent flows stop at 100% of capacity; custom agents disable at 125%.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4389120"/>
            <a:ext cx="118872" cy="118872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86600" y="4343400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 Semibold"/>
              </a:rPr>
              <a:t>Pay-as-you-go = alerts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4636008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Keeps billing past your alerts, so set per-agent caps on purpose.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0" y="5303520"/>
            <a:ext cx="118872" cy="118872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86600" y="5257800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 Semibold"/>
              </a:rPr>
              <a:t>Cowork spend limits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5550408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Tenant, group, and per-user caps with usage alerts.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PART PEOPLE FEAR MOST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Agents: build, use, govern.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6118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3611880" cy="5029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611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80">
                <a:solidFill>
                  <a:srgbClr val="FFFFFF"/>
                </a:solidFill>
                <a:latin typeface="Segoe UI Semibold"/>
              </a:rPr>
              <a:t>WHO CAN 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487168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Agent Builder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2798064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Business users, on a paid seat. Simple declarative agents.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3749039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Copilot Studio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19" y="4059935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IT and power makers. Full agents, governed environments.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5010912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Azure AI Foundry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19" y="5321807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Developers. Code-first, Azure RBAC and billing.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2544" y="1783080"/>
            <a:ext cx="36118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2544" y="1783080"/>
            <a:ext cx="3611880" cy="5029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2544" y="1783080"/>
            <a:ext cx="3611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80">
                <a:solidFill>
                  <a:srgbClr val="FFFFFF"/>
                </a:solidFill>
                <a:latin typeface="Segoe UI Semibold"/>
              </a:rPr>
              <a:t>WHO CAN 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4" y="2487168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Paid seat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2584" y="2798064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Full Agent Store, Researcher and Analyst, most use free.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2584" y="3749039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Free Chat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72584" y="4059935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Approved pay-as-you-go agents, metered per use.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5010912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Shared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72584" y="5321807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Consumers need no Studio license. Usage bills the tenant.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1783080"/>
            <a:ext cx="36118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65008" y="1783080"/>
            <a:ext cx="3611880" cy="5029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65008" y="1783080"/>
            <a:ext cx="3611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80">
                <a:solidFill>
                  <a:srgbClr val="FFFFFF"/>
                </a:solidFill>
                <a:latin typeface="Segoe UI Semibold"/>
              </a:rPr>
              <a:t>WHO GOVERNS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5048" y="2487168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Agent Registry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5048" y="2798064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One inventory. Block, allow, approve. AI Administrator role.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5048" y="3749039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Power Platform DLP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5048" y="4059935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Force sign-in, block risky connectors, route makers.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5048" y="5010912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Agent 365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5048" y="5321807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The control plane as agents scale: observe, govern, secure.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NON-NEGOTIABLE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Healthcare and compliance.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623560" cy="1965960"/>
          </a:xfrm>
          <a:prstGeom prst="roundRect">
            <a:avLst>
              <a:gd name="adj" fmla="val 6000"/>
            </a:avLst>
          </a:prstGeom>
          <a:solidFill>
            <a:srgbClr val="E5F2E9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spc="80">
                <a:solidFill>
                  <a:srgbClr val="15803D"/>
                </a:solidFill>
                <a:latin typeface="Segoe UI Semibold"/>
              </a:rPr>
              <a:t>COVERED UNDER YOUR BAA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5029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42424"/>
                </a:solidFill>
                <a:latin typeface="Segoe UI"/>
              </a:rPr>
              <a:t>Microsoft 365 Copilot and Copilot Chat are HIPAA in-scope, with the BAA auto-included.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Web-search queries are the exception: keep PHI out of web-grounded prompts.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840480"/>
            <a:ext cx="562356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4164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spc="80">
                <a:solidFill>
                  <a:srgbClr val="B11F4B"/>
                </a:solidFill>
                <a:latin typeface="Segoe UI Semibold"/>
              </a:rPr>
              <a:t>THE PRODUCT BOUNDARY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434840"/>
            <a:ext cx="50292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"/>
              </a:rPr>
              <a:t>Microsoft 365 Copilot</a:t>
            </a:r>
            <a:r>
              <a:rPr sz="1300" b="0" i="0">
                <a:solidFill>
                  <a:srgbClr val="5C5C5C"/>
                </a:solidFill>
                <a:latin typeface="Segoe UI"/>
              </a:rPr>
              <a:t> is for knowledge and admin workers.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"/>
              </a:rPr>
              <a:t>Dragon Copilot</a:t>
            </a:r>
            <a:r>
              <a:rPr sz="1300" b="0" i="0">
                <a:solidFill>
                  <a:srgbClr val="5C5C5C"/>
                </a:solidFill>
                <a:latin typeface="Segoe UI"/>
              </a:rPr>
              <a:t> is the separate product for clinicians doing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</a:rPr>
              <a:t>ambient documentation. Different license. Neither is a medical device.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737360"/>
            <a:ext cx="5056632" cy="4480560"/>
          </a:xfrm>
          <a:prstGeom prst="roundRect">
            <a:avLst>
              <a:gd name="adj" fmla="val 6000"/>
            </a:avLst>
          </a:prstGeom>
          <a:solidFill>
            <a:srgbClr val="FBF0DD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96596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spc="80">
                <a:solidFill>
                  <a:srgbClr val="B96A12"/>
                </a:solidFill>
                <a:latin typeface="Segoe UI Semibold"/>
              </a:rPr>
              <a:t>COMPLIANCE GUARDRAILS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2450592"/>
            <a:ext cx="1234440" cy="384048"/>
          </a:xfrm>
          <a:prstGeom prst="roundRect">
            <a:avLst>
              <a:gd name="adj" fmla="val 6000"/>
            </a:avLst>
          </a:prstGeom>
          <a:solidFill>
            <a:srgbClr val="B9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2450592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Week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404872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2424"/>
                </a:solidFill>
                <a:latin typeface="Segoe UI"/>
              </a:rPr>
              <a:t>Disable OpenAI-operated models if you require HITRUST, SOC 1, or FedRAMP High.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0" y="3730752"/>
            <a:ext cx="1234440" cy="384048"/>
          </a:xfrm>
          <a:prstGeom prst="roundRect">
            <a:avLst>
              <a:gd name="adj" fmla="val 6000"/>
            </a:avLst>
          </a:prstGeom>
          <a:solidFill>
            <a:srgbClr val="B9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730752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Weeks 1-4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685032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2424"/>
                </a:solidFill>
                <a:latin typeface="Segoe UI"/>
              </a:rPr>
              <a:t>Move oversharing control to Restricted Content Discovery as legacy search retires.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0" y="5010912"/>
            <a:ext cx="1234440" cy="384048"/>
          </a:xfrm>
          <a:prstGeom prst="roundRect">
            <a:avLst>
              <a:gd name="adj" fmla="val 6000"/>
            </a:avLst>
          </a:prstGeom>
          <a:solidFill>
            <a:srgbClr val="B9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0" y="5010912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Ongoing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965192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2424"/>
                </a:solidFill>
                <a:latin typeface="Segoe UI"/>
              </a:rPr>
              <a:t>Confirm Anthropic / EU Data Boundary BAA coverage before PHI-adjacent Cowork or Researcher use.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MAKE IT STICK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Roll it out without overwhelming the team.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1">
                <a:solidFill>
                  <a:srgbClr val="5C5C5C"/>
                </a:solidFill>
                <a:latin typeface="Segoe UI"/>
              </a:rPr>
              <a:t>Adoption is a habit you build in waves. Governance stands before Phase 1, not inside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361188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0119" y="2377440"/>
            <a:ext cx="502920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260604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60">
                <a:solidFill>
                  <a:srgbClr val="B11F4B"/>
                </a:solidFill>
                <a:latin typeface="Segoe UI Semibold"/>
              </a:rPr>
              <a:t>PHASE 1 -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294436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42424"/>
                </a:solidFill>
                <a:latin typeface="Segoe UI Semibold"/>
              </a:rPr>
              <a:t>Weeks 1-4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3456432"/>
            <a:ext cx="2971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Free Chat to a broad group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Paid seats to a small high-ROI cohort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Name 3-5 champions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Teach one or two daily habits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2544" y="2103120"/>
            <a:ext cx="361188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72584" y="2377440"/>
            <a:ext cx="502920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72584" y="260604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60">
                <a:solidFill>
                  <a:srgbClr val="B11F4B"/>
                </a:solidFill>
                <a:latin typeface="Segoe UI Semibold"/>
              </a:rPr>
              <a:t>PHASE 2 - EXPAND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2584" y="294436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42424"/>
                </a:solidFill>
                <a:latin typeface="Segoe UI Semibold"/>
              </a:rPr>
              <a:t>Weeks 5-10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4" y="3456432"/>
            <a:ext cx="2971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Graduate engaged Chat users to seats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Ship one governed 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Share modeled assisted-hours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Turn on Cowork for a few, with a cap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5008" y="2103120"/>
            <a:ext cx="361188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85048" y="2377440"/>
            <a:ext cx="502920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85048" y="260604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60">
                <a:solidFill>
                  <a:srgbClr val="B11F4B"/>
                </a:solidFill>
                <a:latin typeface="Segoe UI Semibold"/>
              </a:rPr>
              <a:t>PHASE 3 - SCALE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294436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42424"/>
                </a:solidFill>
                <a:latin typeface="Segoe UI Semibold"/>
              </a:rPr>
              <a:t>Weeks 11+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5048" y="3456432"/>
            <a:ext cx="2971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Expand department by department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Open building to governed makers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Roll Cowork to roles that earn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Review usage and spend monthly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FD8EA1"/>
                </a:solidFill>
                <a:latin typeface="Segoe UI Semibold"/>
              </a:rPr>
              <a:t>DO THIS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FFFFFF"/>
                </a:solidFill>
                <a:latin typeface="Segoe UI Semibold"/>
              </a:rPr>
              <a:t>Where to start this quarter.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566928" cy="566928"/>
          </a:xfrm>
          <a:prstGeom prst="roundRect">
            <a:avLst>
              <a:gd name="adj" fmla="val 60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764792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Segoe UI Semibold"/>
              </a:rPr>
              <a:t>Stand up your AI governance committee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112264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7F4EF"/>
                </a:solidFill>
                <a:latin typeface="Segoe UI"/>
              </a:rPr>
              <a:t>Name the executive sponsor. This is step zero, before any spend.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79191"/>
            <a:ext cx="566928" cy="566928"/>
          </a:xfrm>
          <a:prstGeom prst="roundRect">
            <a:avLst>
              <a:gd name="adj" fmla="val 60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679191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660903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Segoe UI Semibold"/>
              </a:rPr>
              <a:t>Turn on free Chat for everyone eligible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008375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7F4EF"/>
                </a:solidFill>
                <a:latin typeface="Segoe UI"/>
              </a:rPr>
              <a:t>It is already included. Handle the web-search path for PHI-heavy groups first.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575303"/>
            <a:ext cx="566928" cy="566928"/>
          </a:xfrm>
          <a:prstGeom prst="roundRect">
            <a:avLst>
              <a:gd name="adj" fmla="val 60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575303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557015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Segoe UI Semibold"/>
              </a:rPr>
              <a:t>Buy a focused block of paid seats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904487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7F4EF"/>
                </a:solidFill>
                <a:latin typeface="Segoe UI"/>
              </a:rPr>
              <a:t>Dozens, not thousands. Leaders, managers, analysts.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471416"/>
            <a:ext cx="566928" cy="566928"/>
          </a:xfrm>
          <a:prstGeom prst="roundRect">
            <a:avLst>
              <a:gd name="adj" fmla="val 60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7141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45312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Segoe UI Semibold"/>
              </a:rPr>
              <a:t>Do the oversharing 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80060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7F4EF"/>
                </a:solidFill>
                <a:latin typeface="Segoe UI"/>
              </a:rPr>
              <a:t>SharePoint Advanced Management, and stand up the Agent Registry before you scale agents.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367527"/>
            <a:ext cx="566928" cy="566928"/>
          </a:xfrm>
          <a:prstGeom prst="roundRect">
            <a:avLst>
              <a:gd name="adj" fmla="val 60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367527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534924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Segoe UI Semibold"/>
              </a:rPr>
              <a:t>Handle the compliance guardrails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5696712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7F4EF"/>
                </a:solidFill>
                <a:latin typeface="Segoe UI"/>
              </a:rPr>
              <a:t>The OpenAI subprocessor decision first.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965960"/>
            <a:ext cx="1554480" cy="91440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 Semibold"/>
              </a:rPr>
              <a:t>Free Copilot for everyone. Paid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 Semibold"/>
              </a:rPr>
              <a:t>seats where the work is heavy.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 Semibold"/>
              </a:rPr>
              <a:t>Agents with a governed on-switch.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8056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F7F4EF"/>
                </a:solidFill>
                <a:latin typeface="Segoe UI"/>
              </a:rPr>
              <a:t>We expand on what the data shows, not what people ask for.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F6F6F"/>
                </a:solidFill>
                <a:latin typeface="Segoe UI"/>
              </a:rPr>
              <a:t>The full interactive guide:  </a:t>
            </a:r>
            <a:r>
              <a:rPr sz="1250" b="1" i="0">
                <a:solidFill>
                  <a:srgbClr val="FD8EA1"/>
                </a:solidFill>
                <a:latin typeface="Segoe UI"/>
              </a:rPr>
              <a:t>heyitsgoad.github.io/copilot-playground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