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A27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1024128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spc="50">
                <a:solidFill>
                  <a:srgbClr val="FFFFFF"/>
                </a:solidFill>
                <a:latin typeface="Segoe UI Semibold"/>
              </a:rPr>
              <a:t>COPILOT LICENSING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85216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D8EA1"/>
                </a:solidFill>
                <a:latin typeface="Segoe UI"/>
              </a:rPr>
              <a:t>Field cheat sheet: who gets what, what it costs, and how to roll out without overwhelming the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828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7F4EF"/>
                </a:solidFill>
                <a:latin typeface="Segoe UI"/>
              </a:rPr>
              <a:t>Healthcare-forward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F6F6F"/>
                </a:solidFill>
                <a:latin typeface="Segoe UI"/>
              </a:rPr>
              <a:t>Current July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274320" cy="64008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22529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20">
                <a:solidFill>
                  <a:srgbClr val="B11F4B"/>
                </a:solidFill>
                <a:latin typeface="Segoe UI Semibold"/>
              </a:rPr>
              <a:t>THE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356616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6479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42424"/>
                </a:solidFill>
                <a:latin typeface="Segoe UI Semibold"/>
              </a:rPr>
              <a:t>Copilot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2996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5454"/>
                </a:solidFill>
                <a:latin typeface="Segoe UI"/>
              </a:rPr>
              <a:t>Web-grounded, safe to give broadly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76479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11F4B"/>
                </a:solidFill>
                <a:latin typeface="Segoe UI"/>
              </a:rPr>
              <a:t>Free, included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59152"/>
            <a:ext cx="356616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43230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42424"/>
                </a:solidFill>
                <a:latin typeface="Segoe UI Semibold"/>
              </a:rPr>
              <a:t>Microsoft 365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9748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5454"/>
                </a:solidFill>
                <a:latin typeface="Segoe UI"/>
              </a:rPr>
              <a:t>Grounds on your data, zero-rates most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432304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11F4B"/>
                </a:solidFill>
                <a:latin typeface="Segoe UI"/>
              </a:rPr>
              <a:t>~$30/user/mo*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26664"/>
            <a:ext cx="356616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9981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42424"/>
                </a:solidFill>
                <a:latin typeface="Segoe UI Semibold"/>
              </a:rPr>
              <a:t>Cowork &amp;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364992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5454"/>
                </a:solidFill>
                <a:latin typeface="Segoe UI"/>
              </a:rPr>
              <a:t>On a paid seat, admin turns it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09981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11F4B"/>
                </a:solidFill>
                <a:latin typeface="Segoe UI"/>
              </a:rPr>
              <a:t>Usage-billed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7588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F6F6F"/>
                </a:solidFill>
                <a:latin typeface="Segoe UI"/>
              </a:rPr>
              <a:t>No “Premium” SKU: it is a label for the paid seat.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50208"/>
            <a:ext cx="3566160" cy="932688"/>
          </a:xfrm>
          <a:prstGeom prst="roundRect">
            <a:avLst>
              <a:gd name="adj" fmla="val 8000"/>
            </a:avLst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4078224"/>
            <a:ext cx="31638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80">
                <a:solidFill>
                  <a:srgbClr val="FD8EA1"/>
                </a:solidFill>
                <a:latin typeface="Segoe UI Semibold"/>
              </a:rPr>
              <a:t>THE ONE BUDGET FACT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Paid seats make most employee-facing agent use free. Free-Chat users pay per interaction (~$0.01/credit).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65776"/>
            <a:ext cx="274320" cy="64008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496519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20">
                <a:solidFill>
                  <a:srgbClr val="B11F4B"/>
                </a:solidFill>
                <a:latin typeface="Segoe UI Semibold"/>
              </a:rPr>
              <a:t>GOVERN FIRST (STEP ZERO)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94960"/>
            <a:ext cx="3566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11F4B"/>
                </a:solidFill>
                <a:latin typeface="Segoe UI"/>
              </a:rPr>
              <a:t>People:</a:t>
            </a:r>
            <a:r>
              <a:rPr sz="1000" b="0" i="0">
                <a:solidFill>
                  <a:srgbClr val="545454"/>
                </a:solidFill>
                <a:latin typeface="Segoe UI"/>
              </a:rPr>
              <a:t> committee, exec sponsor, champions, culture from the top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760720"/>
            <a:ext cx="3566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11F4B"/>
                </a:solidFill>
                <a:latin typeface="Segoe UI"/>
              </a:rPr>
              <a:t>Platform:</a:t>
            </a:r>
            <a:r>
              <a:rPr sz="1000" b="0" i="0">
                <a:solidFill>
                  <a:srgbClr val="545454"/>
                </a:solidFill>
                <a:latin typeface="Segoe UI"/>
              </a:rPr>
              <a:t> SharePoint Advanced Mgmt (included) + RCD, Purview, Agent Registry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126480"/>
            <a:ext cx="3566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11F4B"/>
                </a:solidFill>
                <a:latin typeface="Segoe UI"/>
              </a:rPr>
              <a:t>Rule:</a:t>
            </a:r>
            <a:r>
              <a:rPr sz="1000" b="0" i="0">
                <a:solidFill>
                  <a:srgbClr val="545454"/>
                </a:solidFill>
                <a:latin typeface="Segoe UI"/>
              </a:rPr>
              <a:t> let a governed few build, let everyone use approved agents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1325880"/>
            <a:ext cx="274320" cy="64008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27448" y="1225295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20">
                <a:solidFill>
                  <a:srgbClr val="B11F4B"/>
                </a:solidFill>
                <a:latin typeface="Segoe UI Semibold"/>
              </a:rPr>
              <a:t>WHO GETS WHAT, BY ROLE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1709928"/>
            <a:ext cx="4160520" cy="36576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3128" y="1709928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FFFFFF"/>
                </a:solidFill>
                <a:latin typeface="Segoe UI Semibold"/>
              </a:rPr>
              <a:t>ROLE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170992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FFFFFF"/>
                </a:solidFill>
                <a:latin typeface="Segoe UI Semibold"/>
              </a:rPr>
              <a:t>TIER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7" y="1709928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FFFFFF"/>
                </a:solidFill>
                <a:latin typeface="Segoe UI Semibold"/>
              </a:rPr>
              <a:t>EXTRA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2075688"/>
            <a:ext cx="4160520" cy="40233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53128" y="2075688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42424"/>
                </a:solidFill>
                <a:latin typeface="Segoe UI"/>
              </a:rPr>
              <a:t>Director / Exec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6208" y="2075688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11F4B"/>
                </a:solidFill>
                <a:latin typeface="Segoe UI"/>
              </a:rPr>
              <a:t>Paid seat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6407" y="2075688"/>
            <a:ext cx="640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5454"/>
                </a:solidFill>
                <a:latin typeface="Segoe UI"/>
              </a:rPr>
              <a:t>Cowork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43400" y="2478024"/>
            <a:ext cx="4160520" cy="402336"/>
          </a:xfrm>
          <a:prstGeom prst="rect">
            <a:avLst/>
          </a:prstGeom>
          <a:solidFill>
            <a:srgbClr val="F1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53128" y="2478024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42424"/>
                </a:solidFill>
                <a:latin typeface="Segoe UI"/>
              </a:rPr>
              <a:t>Manager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2478024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11F4B"/>
                </a:solidFill>
                <a:latin typeface="Segoe UI"/>
              </a:rPr>
              <a:t>Paid seat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36407" y="2478024"/>
            <a:ext cx="640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5454"/>
                </a:solidFill>
                <a:latin typeface="Segoe UI"/>
              </a:rPr>
              <a:t>Cowork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2880360"/>
            <a:ext cx="4160520" cy="40233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53128" y="2880360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42424"/>
                </a:solidFill>
                <a:latin typeface="Segoe UI"/>
              </a:rPr>
              <a:t>Analyst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6208" y="2880360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11F4B"/>
                </a:solidFill>
                <a:latin typeface="Segoe UI"/>
              </a:rPr>
              <a:t>Paid seat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36407" y="2880360"/>
            <a:ext cx="640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5454"/>
                </a:solidFill>
                <a:latin typeface="Segoe UI"/>
              </a:rPr>
              <a:t>Cowork, Studio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43400" y="3282696"/>
            <a:ext cx="4160520" cy="402336"/>
          </a:xfrm>
          <a:prstGeom prst="rect">
            <a:avLst/>
          </a:prstGeom>
          <a:solidFill>
            <a:srgbClr val="F1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53128" y="3282696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42424"/>
                </a:solidFill>
                <a:latin typeface="Segoe UI"/>
              </a:rPr>
              <a:t>Knowledge worker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3282696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11F4B"/>
                </a:solidFill>
                <a:latin typeface="Segoe UI"/>
              </a:rPr>
              <a:t>Start free → paid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36407" y="3282696"/>
            <a:ext cx="640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5454"/>
                </a:solidFill>
                <a:latin typeface="Segoe UI"/>
              </a:rPr>
              <a:t>Paid seat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3685032"/>
            <a:ext cx="4160520" cy="40233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53128" y="3685032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42424"/>
                </a:solidFill>
                <a:latin typeface="Segoe UI"/>
              </a:rPr>
              <a:t>Engineer / Dev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36208" y="3685032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11F4B"/>
                </a:solidFill>
                <a:latin typeface="Segoe UI"/>
              </a:rPr>
              <a:t>GitHub Copilot +seat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36407" y="3685032"/>
            <a:ext cx="640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5454"/>
                </a:solidFill>
                <a:latin typeface="Segoe UI"/>
              </a:rPr>
              <a:t>Studio, Azure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43400" y="4087368"/>
            <a:ext cx="4160520" cy="402336"/>
          </a:xfrm>
          <a:prstGeom prst="rect">
            <a:avLst/>
          </a:prstGeom>
          <a:solidFill>
            <a:srgbClr val="F1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53128" y="4087368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42424"/>
                </a:solidFill>
                <a:latin typeface="Segoe UI"/>
              </a:rPr>
              <a:t>Frontline (F-plan)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36208" y="4087368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11F4B"/>
                </a:solidFill>
                <a:latin typeface="Segoe UI"/>
              </a:rPr>
              <a:t>Free Chat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36407" y="4087368"/>
            <a:ext cx="640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5454"/>
                </a:solidFill>
                <a:latin typeface="Segoe UI"/>
              </a:rPr>
              <a:t>Add-on F1/F3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43400" y="4489704"/>
            <a:ext cx="4160520" cy="40233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53128" y="4489704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42424"/>
                </a:solidFill>
                <a:latin typeface="Segoe UI"/>
              </a:rPr>
              <a:t>Security / Compliance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36208" y="4489704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11F4B"/>
                </a:solidFill>
                <a:latin typeface="Segoe UI"/>
              </a:rPr>
              <a:t>Security Copilot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36407" y="4489704"/>
            <a:ext cx="640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5454"/>
                </a:solidFill>
                <a:latin typeface="Segoe UI"/>
              </a:rPr>
              <a:t>Per terms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43400" y="5020056"/>
            <a:ext cx="274320" cy="64008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27448" y="491947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20">
                <a:solidFill>
                  <a:srgbClr val="B11F4B"/>
                </a:solidFill>
                <a:latin typeface="Segoe UI Semibold"/>
              </a:rPr>
              <a:t>AGENTS: BUILD → USE → GOVERN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43400" y="534924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11F4B"/>
                </a:solidFill>
                <a:latin typeface="Segoe UI"/>
              </a:rPr>
              <a:t>Build:</a:t>
            </a:r>
            <a:r>
              <a:rPr sz="1000" b="0" i="0">
                <a:solidFill>
                  <a:srgbClr val="545454"/>
                </a:solidFill>
                <a:latin typeface="Segoe UI"/>
              </a:rPr>
              <a:t> Agent Builder (biz), Copilot Studio (IT), Foundry (dev)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43400" y="571500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11F4B"/>
                </a:solidFill>
                <a:latin typeface="Segoe UI"/>
              </a:rPr>
              <a:t>Use:</a:t>
            </a:r>
            <a:r>
              <a:rPr sz="1000" b="0" i="0">
                <a:solidFill>
                  <a:srgbClr val="545454"/>
                </a:solidFill>
                <a:latin typeface="Segoe UI"/>
              </a:rPr>
              <a:t> paid seat = full &amp; mostly free; free Chat = metered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43400" y="60807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11F4B"/>
                </a:solidFill>
                <a:latin typeface="Segoe UI"/>
              </a:rPr>
              <a:t>Govern:</a:t>
            </a:r>
            <a:r>
              <a:rPr sz="1000" b="0" i="0">
                <a:solidFill>
                  <a:srgbClr val="545454"/>
                </a:solidFill>
                <a:latin typeface="Segoe UI"/>
              </a:rPr>
              <a:t> Agent Registry + DLP + Purview, Agent 365 as you scale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778240" y="1325880"/>
            <a:ext cx="274320" cy="64008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62288" y="1225295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20">
                <a:solidFill>
                  <a:srgbClr val="B11F4B"/>
                </a:solidFill>
                <a:latin typeface="Segoe UI Semibold"/>
              </a:rPr>
              <a:t>THREE DATED ITEMS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778240" y="1691640"/>
            <a:ext cx="777240" cy="310896"/>
          </a:xfrm>
          <a:prstGeom prst="roundRect">
            <a:avLst>
              <a:gd name="adj" fmla="val 8000"/>
            </a:avLst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78240" y="1691640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Segoe UI Semibold"/>
              </a:rPr>
              <a:t>Jul 24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74352" y="1655064"/>
            <a:ext cx="2029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42424"/>
                </a:solidFill>
                <a:latin typeface="Segoe UI"/>
              </a:rPr>
              <a:t>OpenAI models on by default; lack HITRUST/SOC1/FedRAMP High — disable if needed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778240" y="2350008"/>
            <a:ext cx="777240" cy="310896"/>
          </a:xfrm>
          <a:prstGeom prst="roundRect">
            <a:avLst>
              <a:gd name="adj" fmla="val 8000"/>
            </a:avLst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78240" y="2350008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Segoe UI Semibold"/>
              </a:rPr>
              <a:t>Jul 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74352" y="2313432"/>
            <a:ext cx="2029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42424"/>
                </a:solidFill>
                <a:latin typeface="Segoe UI"/>
              </a:rPr>
              <a:t>Restricted SharePoint Search blocked; move to RCD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778240" y="3008376"/>
            <a:ext cx="777240" cy="310896"/>
          </a:xfrm>
          <a:prstGeom prst="roundRect">
            <a:avLst>
              <a:gd name="adj" fmla="val 8000"/>
            </a:avLst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78240" y="3008376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Segoe UI Semibold"/>
              </a:rPr>
              <a:t>Now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74352" y="2971800"/>
            <a:ext cx="2029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42424"/>
                </a:solidFill>
                <a:latin typeface="Segoe UI"/>
              </a:rPr>
              <a:t>Anthropic (Cowork/Researcher) outside EU boundary; confirm BAA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78240" y="3666744"/>
            <a:ext cx="2926080" cy="530352"/>
          </a:xfrm>
          <a:prstGeom prst="roundRect">
            <a:avLst>
              <a:gd name="adj" fmla="val 8000"/>
            </a:avLst>
          </a:prstGeom>
          <a:solidFill>
            <a:srgbClr val="E5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42832" y="3739896"/>
            <a:ext cx="2596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803D"/>
                </a:solidFill>
                <a:latin typeface="Segoe UI"/>
              </a:rPr>
              <a:t>BAA covers Copilot + Chat. </a:t>
            </a:r>
            <a:r>
              <a:rPr sz="950" b="0" i="0">
                <a:solidFill>
                  <a:srgbClr val="242424"/>
                </a:solidFill>
                <a:latin typeface="Segoe UI"/>
              </a:rPr>
              <a:t>Web search is the exception — keep PHI out.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778240" y="4343400"/>
            <a:ext cx="274320" cy="64008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62288" y="424281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20">
                <a:solidFill>
                  <a:srgbClr val="B11F4B"/>
                </a:solidFill>
                <a:latin typeface="Segoe UI Semibold"/>
              </a:rPr>
              <a:t>DO THIS NEXT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778240" y="4690872"/>
            <a:ext cx="237744" cy="237744"/>
          </a:xfrm>
          <a:prstGeom prst="roundRect">
            <a:avLst>
              <a:gd name="adj" fmla="val 8000"/>
            </a:avLst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778240" y="46908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44000" y="46725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2424"/>
                </a:solidFill>
                <a:latin typeface="Segoe UI"/>
              </a:rPr>
              <a:t>Stand up the AI governance committee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778240" y="5056632"/>
            <a:ext cx="237744" cy="237744"/>
          </a:xfrm>
          <a:prstGeom prst="roundRect">
            <a:avLst>
              <a:gd name="adj" fmla="val 8000"/>
            </a:avLst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78240" y="50566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0" y="503834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2424"/>
                </a:solidFill>
                <a:latin typeface="Segoe UI"/>
              </a:rPr>
              <a:t>Turn on free Chat (handle web search for PHI groups)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778240" y="5422392"/>
            <a:ext cx="237744" cy="237744"/>
          </a:xfrm>
          <a:prstGeom prst="roundRect">
            <a:avLst>
              <a:gd name="adj" fmla="val 8000"/>
            </a:avLst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778240" y="542239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44000" y="540410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2424"/>
                </a:solidFill>
                <a:latin typeface="Segoe UI"/>
              </a:rPr>
              <a:t>Buy a focused block of paid seats (dozens)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778240" y="5788152"/>
            <a:ext cx="237744" cy="237744"/>
          </a:xfrm>
          <a:prstGeom prst="roundRect">
            <a:avLst>
              <a:gd name="adj" fmla="val 8000"/>
            </a:avLst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778240" y="57881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00" y="576986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2424"/>
                </a:solidFill>
                <a:latin typeface="Segoe UI"/>
              </a:rPr>
              <a:t>Fix oversharing + stand up the Agent Registry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778240" y="6153912"/>
            <a:ext cx="237744" cy="237744"/>
          </a:xfrm>
          <a:prstGeom prst="roundRect">
            <a:avLst>
              <a:gd name="adj" fmla="val 8000"/>
            </a:avLst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778240" y="61539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44000" y="613562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2424"/>
                </a:solidFill>
                <a:latin typeface="Segoe UI"/>
              </a:rPr>
              <a:t>Handle the three dated items (Jul 24 first)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2A27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2920" y="6483096"/>
            <a:ext cx="7772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F6F6F"/>
                </a:solidFill>
                <a:latin typeface="Segoe UI"/>
              </a:rPr>
              <a:t>Full interactive guide:  </a:t>
            </a:r>
            <a:r>
              <a:rPr sz="950" b="1" i="0">
                <a:solidFill>
                  <a:srgbClr val="FD8EA1"/>
                </a:solidFill>
                <a:latin typeface="Segoe UI"/>
              </a:rPr>
              <a:t>heyitsgoad.github.io/copilot-playground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46720" y="6483096"/>
            <a:ext cx="3657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F6F6F"/>
                </a:solidFill>
                <a:latin typeface="Segoe UI"/>
              </a:rPr>
              <a:t>*Confirm dynamically priced items with Microsoft.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